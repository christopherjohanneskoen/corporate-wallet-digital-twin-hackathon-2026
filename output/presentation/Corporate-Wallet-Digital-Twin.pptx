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4b42b644a746bc" /><Relationship Type="http://schemas.openxmlformats.org/officeDocument/2006/relationships/extended-properties" Target="/docProps/app.xml" Id="R0e9163bedb944499" /><Relationship Type="http://schemas.openxmlformats.org/officeDocument/2006/relationships/officeDocument" Target="/ppt/presentation.xml" Id="R3cedfca524e94c36" /></Relationships>
</file>

<file path=ppt/presentation.xml><?xml version="1.0" encoding="utf-8"?>
<p:presentation xmlns:p="http://schemas.openxmlformats.org/presentationml/2006/main">
  <p:sldMasterIdLst>
    <p:sldMasterId xmlns:r="http://schemas.openxmlformats.org/officeDocument/2006/relationships" id="2147483648" r:id="R82732dccf6424cda"/>
  </p:sldMasterIdLst>
  <p:notesMasterIdLst>
    <p:notesMasterId xmlns:r="http://schemas.openxmlformats.org/officeDocument/2006/relationships" r:id="Rd0b20c0051544ab5"/>
  </p:notesMasterIdLst>
  <p:sldIdLst>
    <p:sldId xmlns:r="http://schemas.openxmlformats.org/officeDocument/2006/relationships" id="256" r:id="Ra577374cd3a74aff"/>
    <p:sldId xmlns:r="http://schemas.openxmlformats.org/officeDocument/2006/relationships" id="257" r:id="Ra4d140331edd420a"/>
    <p:sldId xmlns:r="http://schemas.openxmlformats.org/officeDocument/2006/relationships" id="258" r:id="Rf16ed209dae64cb0"/>
    <p:sldId xmlns:r="http://schemas.openxmlformats.org/officeDocument/2006/relationships" id="259" r:id="Raf3d489d64454e8e"/>
    <p:sldId xmlns:r="http://schemas.openxmlformats.org/officeDocument/2006/relationships" id="260" r:id="Rd28acddfc6a241de"/>
    <p:sldId xmlns:r="http://schemas.openxmlformats.org/officeDocument/2006/relationships" id="261" r:id="R216f3802d09449af"/>
    <p:sldId xmlns:r="http://schemas.openxmlformats.org/officeDocument/2006/relationships" id="262" r:id="R48c5ecbf9ee1434e"/>
    <p:sldId xmlns:r="http://schemas.openxmlformats.org/officeDocument/2006/relationships" id="263" r:id="R764cd42fda91495a"/>
    <p:sldId xmlns:r="http://schemas.openxmlformats.org/officeDocument/2006/relationships" id="264" r:id="Rea4b518840e246a7"/>
    <p:sldId xmlns:r="http://schemas.openxmlformats.org/officeDocument/2006/relationships" id="265" r:id="R481498fba67a42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b89235a65404596" /><Relationship Type="http://schemas.openxmlformats.org/officeDocument/2006/relationships/slideMaster" Target="/ppt/slideMasters/slideMaster1.xml" Id="R82732dccf6424cda" /><Relationship Type="http://schemas.openxmlformats.org/officeDocument/2006/relationships/notesMaster" Target="/ppt/notesMasters/notesMaster1.xml" Id="Rd0b20c0051544ab5" /><Relationship Type="http://schemas.openxmlformats.org/officeDocument/2006/relationships/presProps" Target="/ppt/presProps.xml" Id="Rabe36ca53a554dad" /><Relationship Type="http://schemas.openxmlformats.org/officeDocument/2006/relationships/tableStyles" Target="/ppt/tableStyles.xml" Id="Rbc252c56b93a40d6" /><Relationship Type="http://schemas.openxmlformats.org/officeDocument/2006/relationships/slide" Target="/ppt/slides/slide1.xml" Id="Ra577374cd3a74aff" /><Relationship Type="http://schemas.openxmlformats.org/officeDocument/2006/relationships/slide" Target="/ppt/slides/slide2.xml" Id="Ra4d140331edd420a" /><Relationship Type="http://schemas.openxmlformats.org/officeDocument/2006/relationships/slide" Target="/ppt/slides/slide3.xml" Id="Rf16ed209dae64cb0" /><Relationship Type="http://schemas.openxmlformats.org/officeDocument/2006/relationships/slide" Target="/ppt/slides/slide4.xml" Id="Raf3d489d64454e8e" /><Relationship Type="http://schemas.openxmlformats.org/officeDocument/2006/relationships/slide" Target="/ppt/slides/slide5.xml" Id="Rd28acddfc6a241de" /><Relationship Type="http://schemas.openxmlformats.org/officeDocument/2006/relationships/slide" Target="/ppt/slides/slide6.xml" Id="R216f3802d09449af" /><Relationship Type="http://schemas.openxmlformats.org/officeDocument/2006/relationships/slide" Target="/ppt/slides/slide7.xml" Id="R48c5ecbf9ee1434e" /><Relationship Type="http://schemas.openxmlformats.org/officeDocument/2006/relationships/slide" Target="/ppt/slides/slide8.xml" Id="R764cd42fda91495a" /><Relationship Type="http://schemas.openxmlformats.org/officeDocument/2006/relationships/slide" Target="/ppt/slides/slide9.xml" Id="Rea4b518840e246a7" /><Relationship Type="http://schemas.openxmlformats.org/officeDocument/2006/relationships/slide" Target="/ppt/slides/slide10.xml" Id="R481498fba67a42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28c4323e3446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fe26a8bec94a3a" /><Relationship Type="http://schemas.openxmlformats.org/officeDocument/2006/relationships/notesMaster" Target="/ppt/notesMasters/notesMaster1.xml" Id="R5227be617df541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bb3c02966b4881" /><Relationship Type="http://schemas.openxmlformats.org/officeDocument/2006/relationships/notesMaster" Target="/ppt/notesMasters/notesMaster1.xml" Id="Re0d0a0fc46d646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2b5f398e813347a7" /><Relationship Type="http://schemas.openxmlformats.org/officeDocument/2006/relationships/notesMaster" Target="/ppt/notesMasters/notesMaster1.xml" Id="Re24db2382c9240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519bd277544b24" /><Relationship Type="http://schemas.openxmlformats.org/officeDocument/2006/relationships/notesMaster" Target="/ppt/notesMasters/notesMaster1.xml" Id="R576cae8c171c49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a63b7a454a4527" /><Relationship Type="http://schemas.openxmlformats.org/officeDocument/2006/relationships/notesMaster" Target="/ppt/notesMasters/notesMaster1.xml" Id="Rd0e04951e6ec4a06"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91d108d42c4ff8" /><Relationship Type="http://schemas.openxmlformats.org/officeDocument/2006/relationships/notesMaster" Target="/ppt/notesMasters/notesMaster1.xml" Id="R79f9f0f0e93c46bd"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6e2465ad344b28" /><Relationship Type="http://schemas.openxmlformats.org/officeDocument/2006/relationships/notesMaster" Target="/ppt/notesMasters/notesMaster1.xml" Id="Rc572c4fecebb46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fa94d775e0413b" /><Relationship Type="http://schemas.openxmlformats.org/officeDocument/2006/relationships/notesMaster" Target="/ppt/notesMasters/notesMaster1.xml" Id="Rca08fbe11caf44e2" /></Relationships>
</file>

<file path=ppt/notesSlides/_rels/notesSlide9.xml.rels>&#65279;<?xml version="1.0" encoding="utf-8"?><Relationships xmlns="http://schemas.openxmlformats.org/package/2006/relationships"><Relationship Type="http://schemas.openxmlformats.org/officeDocument/2006/relationships/slide" Target="/ppt/slides/slide9.xml" Id="R67a40a36eaee416a" /><Relationship Type="http://schemas.openxmlformats.org/officeDocument/2006/relationships/notesMaster" Target="/ppt/notesMasters/notesMaster1.xml" Id="R228385f94efe469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6070ae10114e13" /><Relationship Type="http://schemas.openxmlformats.org/officeDocument/2006/relationships/notesMaster" Target="/ppt/notesMasters/notesMaster1.xml" Id="R8ec9e8b4f95a4c9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portfolio-wide contestable scenario contribution. A, T, q and G views use relative intensity within each product column. The leading opportunities are Glencore Trade finance R17.02m; BHP Group Trade finance R7.37m; Glencore Cross-border FX R6.45m; BHP Group Cross-border FX R5.18m; Glencore Liquidity R4.26m.</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outputs/audit/Public-Facts-Anchor-Register-V3.2.0.xlsx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For BHP, 106 bank-observed trade events include a dated 14 August event. With a 45-day preparation lead, the engagement window opens on 30 June. The 36% 90-day seasonal baseline stays visible as an uncalibrated challenger, not the sole urgency claim. Missing feasibility converts the action into discovery.</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Eight of nine genuine provider outputs passed every critical validator, covering OpenAI, Anthropic, Google and all three showcase clients. The ninth output was generated but rejected by the claim compiler before publication, which demonstrates fail-closed control rather than a hidden failure. Deterministic fallback remains beside every accepted brief. This is hackathon evaluation, not bank provider approval.</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data/v2/submission_truth_v3.2.0.json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Trade Finance is first-ranked in all 10,000 global sensitivity draws and majority-dominant in 87.8%, but its absolute economics vary and the top-eight portfolio is not invariant across E1 pooling weights. Coverage and CRPS are known-truth rehearsal metrics only. The compact permission boundary is equally explicit: real state OFFLINE_CANDIDATE; rehearsal only to SHADOW_READY; PMR 100%, BER 0%, and zero elapsed bank shadow days.</a:t>
            </a:r>
          </a:p>
          <a:p xmlns:a="http://schemas.openxmlformats.org/drawingml/2006/main">
            <a:r>
              <a:t/>
            </a:r>
          </a:p>
          <a:p xmlns:a="http://schemas.openxmlformats.org/drawingml/2006/main">
            <a:r>
              <a:t>[Sources]</a:t>
            </a:r>
          </a:p>
          <a:p xmlns:a="http://schemas.openxmlformats.org/drawingml/2006/main">
            <a:r>
              <a:t>- dashboard/app/data/shadow-fixture.json — sensitivity.product_summary.Trade finance</a:t>
            </a:r>
          </a:p>
          <a:p xmlns:a="http://schemas.openxmlformats.org/drawingml/2006/main">
            <a:r>
              <a:t>- outputs/v2_validation/measurement_policy_sensitivity.json</a:t>
            </a:r>
          </a:p>
          <a:p xmlns:a="http://schemas.openxmlformats.org/drawingml/2006/main">
            <a:r>
              <a:t>- data/v2/submission_truth_v3.2.0.json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commercial decision. The ranked surface begins with Glencore Trade Finance at R17.0m representative scenario contribution, followed by BHP Trade Finance at R7.37m. The relationship manager receives eight priority discovery conversations, not a generic model score. Governance is the final boundary, not the central pitch: hackathon ready; bank production NOT_PROMOTABLE.</a:t>
            </a:r>
          </a:p>
          <a:p xmlns:a="http://schemas.openxmlformats.org/drawingml/2006/main">
            <a:r>
              <a:t/>
            </a:r>
          </a:p>
          <a:p xmlns:a="http://schemas.openxmlformats.org/drawingml/2006/main">
            <a:r>
              <a:t>[Sources]</a:t>
            </a:r>
          </a:p>
          <a:p xmlns:a="http://schemas.openxmlformats.org/drawingml/2006/main">
            <a:r>
              <a:t>- data/v2/submission_truth_v3.2.0.json</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outputs/judging_manifest_v3.2.0.json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c3114c48a6643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f3beeeded44c36" /><Relationship Type="http://schemas.openxmlformats.org/officeDocument/2006/relationships/slideLayout" Target="/ppt/slideLayouts/slideLayout1.xml" Id="Rb3a8422ea58248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a8422ea58248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a2d87741ac04284" /><Relationship Type="http://schemas.openxmlformats.org/officeDocument/2006/relationships/image" Target="/ppt/media/image.png" Id="R8de8d40740a94c6e" /><Relationship Type="http://schemas.openxmlformats.org/officeDocument/2006/relationships/notesSlide" Target="/ppt/notesSlides/notesSlide1.xml" Id="Rd8f8866df15641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3ef6d74daca48f3" /><Relationship Type="http://schemas.openxmlformats.org/officeDocument/2006/relationships/notesSlide" Target="/ppt/notesSlides/notesSlide2.xml" Id="R1a4457003c3841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c0f0fbc8644514" /><Relationship Type="http://schemas.openxmlformats.org/officeDocument/2006/relationships/notesSlide" Target="/ppt/notesSlides/notesSlide3.xml" Id="R74faa8be34ca4a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eb58bd6e2484e51" /><Relationship Type="http://schemas.openxmlformats.org/officeDocument/2006/relationships/chart" Target="/ppt/slides/charts/chart1.xml" Id="R04187bd6f24b4cd4" /><Relationship Type="http://schemas.openxmlformats.org/officeDocument/2006/relationships/notesSlide" Target="/ppt/notesSlides/notesSlide4.xml" Id="Ra4f7d13626c84a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17e2c1e0cb94e9c" /><Relationship Type="http://schemas.openxmlformats.org/officeDocument/2006/relationships/image" Target="/ppt/media/image2.png" Id="R42dd32943a8e47c5" /><Relationship Type="http://schemas.openxmlformats.org/officeDocument/2006/relationships/notesSlide" Target="/ppt/notesSlides/notesSlide5.xml" Id="R24d4cfd8d07d432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51844e7ed3e402e" /><Relationship Type="http://schemas.openxmlformats.org/officeDocument/2006/relationships/notesSlide" Target="/ppt/notesSlides/notesSlide6.xml" Id="R14bcb25ba68645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4c7cf628f9c4a41" /><Relationship Type="http://schemas.openxmlformats.org/officeDocument/2006/relationships/notesSlide" Target="/ppt/notesSlides/notesSlide7.xml" Id="Rdef5ce277801415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8f95ee17776469c" /><Relationship Type="http://schemas.openxmlformats.org/officeDocument/2006/relationships/notesSlide" Target="/ppt/notesSlides/notesSlide8.xml" Id="Rf48a17c513c64e5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dd6fe197bfe49f7" /><Relationship Type="http://schemas.openxmlformats.org/officeDocument/2006/relationships/notesSlide" Target="/ppt/notesSlides/notesSlide9.xml" Id="R1a48241b6e964e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332f16594844a14" /><Relationship Type="http://schemas.openxmlformats.org/officeDocument/2006/relationships/notesSlide" Target="/ppt/notesSlides/notesSlide10.xml" Id="R243add8798ce4478"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de8d40740a94c6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V3.2.0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V3.2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04187bd6f24b4cd4"/>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 · TOP FIVE R 40,3M</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Start with Glencore Trade Finance—then BHP</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8F529834-8FB2-4B28-859C-EA76E90858B0}"/>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42dd32943a8e47c5"/>
          <a:stretch xmlns:a="http://schemas.openxmlformats.org/drawingml/2006/main"/>
        </p:blipFill>
        <p:spPr>
          <a:xfrm xmlns:a="http://schemas.openxmlformats.org/drawingml/2006/main">
            <a:off x="2832472" y="1524000"/>
            <a:ext cx="6527056"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DATED EVENT + PREPARATION WINDOW</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14 AUG</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dated trade event</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106 bank-observed trade events inside 90 days</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45d</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preparation lead</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Engagement window opens 30 June</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accepted outputs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9 targets · all three showcase clients covered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providers accepted</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exact pinned models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unsafe output blocked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Claim compiler rejected before publication; fallback retained</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BHP · OpenAI gpt-5.6-sol · accepted</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Glencore · Anthropic claude-sonnet-5 · accepted</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Shoprite · Google gemini-3.6-flash · accepted</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One Anthropic/BHP output blocked; deterministic fallback retained</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950" b="1">
                <a:solidFill>
                  <a:srgbClr val="0F1F33"/>
                </a:solidFill>
                <a:latin typeface="Arial"/>
                <a:ea typeface="Arial"/>
                <a:cs typeface="Arial"/>
              </a:defRPr>
            </a:pPr>
            <a:r>
              <a:rPr sz="1950" b="1">
                <a:solidFill>
                  <a:srgbClr val="0F1F33"/>
                </a:solidFill>
                <a:latin typeface="Arial"/>
                <a:ea typeface="Arial"/>
                <a:cs typeface="Arial"/>
              </a:rPr>
              <a:t>8 accepted;</a:t>
            </a:r>
          </a:p>
          <a:p xmlns:a="http://schemas.openxmlformats.org/drawingml/2006/main">
            <a:pPr algn="l">
              <a:buNone/>
              <a:defRPr sz="1950" b="1">
                <a:solidFill>
                  <a:srgbClr val="0F1F33"/>
                </a:solidFill>
                <a:latin typeface="Arial"/>
                <a:ea typeface="Arial"/>
                <a:cs typeface="Arial"/>
              </a:defRPr>
            </a:pPr>
            <a:r>
              <a:rPr sz="1950" b="1">
                <a:solidFill>
                  <a:srgbClr val="0F1F33"/>
                </a:solidFill>
                <a:latin typeface="Arial"/>
                <a:ea typeface="Arial"/>
                <a:cs typeface="Arial"/>
              </a:rPr>
              <a:t>one blocked safely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Every accepted output passed schema, number, sign, currency, citation, abstention and unsupported-claim checks. This is hackathon external-provider evaluation—not bank-authorized LIVE_GENAI.</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ANALYTICAL TRUST + PROMOTION BOUNDARY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stays first; the portfolio mix still moves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Stress</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10,000 correlated scenario draws</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Prior</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E1 weight 0.20 / 0.35 / 0.50</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Coverage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Known-truth only; no E3 claim</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Selection</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072"/>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Top-eight composition is not invariant</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Permission</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1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Real: OFFLINE
Rehearsal: SHADOW</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10k</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scenario draws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Rates, wallet, share and commercial inputs</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first-ranked</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Global sensitivity—not a hard-coded winner</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87.8%</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majority dominance</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Absolute economics still varies materially</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elapsed bank days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PMR 100% · BER 0% · rehearsed only to SHADOW_READY</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9388"/>
          </a:bodyPr>
          <a:lstStyle xmlns:a="http://schemas.openxmlformats.org/drawingml/2006/main"/>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See the wallet.</a:t>
            </a:r>
          </a:p>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Size the gap.</a:t>
            </a:r>
          </a:p>
          <a:p xmlns:a="http://schemas.openxmlformats.org/drawingml/2006/main">
            <a:pPr algn="l">
              <a:buNone/>
              <a:defRPr sz="3675" b="1">
                <a:solidFill>
                  <a:srgbClr val="FFFFFF"/>
                </a:solidFill>
                <a:latin typeface="Arial"/>
                <a:ea typeface="Arial"/>
                <a:cs typeface="Arial"/>
              </a:defRPr>
            </a:pPr>
            <a:r>
              <a:rPr sz="3675" b="1">
                <a:solidFill>
                  <a:srgbClr val="FFFFFF"/>
                </a:solidFill>
                <a:latin typeface="Arial"/>
                <a:ea typeface="Arial"/>
                <a:cs typeface="Arial"/>
              </a:rPr>
              <a:t>Choose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517"/>
          </a:bodyPr>
          <a:lstStyle xmlns:a="http://schemas.openxmlformats.org/drawingml/2006/main"/>
          <a:p xmlns:a="http://schemas.openxmlformats.org/drawingml/2006/main">
            <a:pPr algn="l">
              <a:buNone/>
              <a:defRPr sz="1725" b="0">
                <a:solidFill>
                  <a:srgbClr val="C7D5E8"/>
                </a:solidFill>
                <a:latin typeface="Arial"/>
                <a:ea typeface="Arial"/>
                <a:cs typeface="Arial"/>
              </a:defRPr>
            </a:pPr>
            <a:r>
              <a:rPr sz="1725" b="0">
                <a:solidFill>
                  <a:srgbClr val="C7D5E8"/>
                </a:solidFill>
                <a:latin typeface="Arial"/>
                <a:ea typeface="Arial"/>
                <a:cs typeface="Arial"/>
              </a:rPr>
              <a:t>The highest-value discovery starts with Glencore Trade Finance, then BHP. Eight priority conversations turn governed wallet intervals into a focused coverage plan.</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See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reveal where observed activity sits below a governed total-wallet interval.</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Size the gap</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Target-share scenarios convert the interval into contestable activity and transparent commercial value.</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Choose the conversation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Stakeholder, issue, bundle, dated trigger, feasibility and the next-best question make the gap actionable.</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Hackathon ready. Real state OFFLINE_CANDIDATE; rehearsal SHADOW_READY; bank production NOT_PROMOTABLE.</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V3.2.0</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2026-08-15T14:27:44.9170000Z</dcterms:created>
  <dcterms:modified xsi:type="dcterms:W3CDTF">2026-08-15T14:27:44.9170000Z</dcterms:modified>
</coreProperties>
</file>