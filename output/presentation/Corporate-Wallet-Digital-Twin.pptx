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7d52aa02c5417e" /><Relationship Type="http://schemas.openxmlformats.org/officeDocument/2006/relationships/extended-properties" Target="/docProps/app.xml" Id="R898f14e215384f69" /><Relationship Type="http://schemas.openxmlformats.org/officeDocument/2006/relationships/officeDocument" Target="/ppt/presentation.xml" Id="R1b8a74cdb3e84224" /></Relationships>
</file>

<file path=ppt/presentation.xml><?xml version="1.0" encoding="utf-8"?>
<p:presentation xmlns:p="http://schemas.openxmlformats.org/presentationml/2006/main">
  <p:sldMasterIdLst>
    <p:sldMasterId xmlns:r="http://schemas.openxmlformats.org/officeDocument/2006/relationships" id="2147483648" r:id="Rfba6974e4c4c4fa4"/>
  </p:sldMasterIdLst>
  <p:notesMasterIdLst>
    <p:notesMasterId xmlns:r="http://schemas.openxmlformats.org/officeDocument/2006/relationships" r:id="Rbf9eb69e0a834496"/>
  </p:notesMasterIdLst>
  <p:sldIdLst>
    <p:sldId xmlns:r="http://schemas.openxmlformats.org/officeDocument/2006/relationships" id="256" r:id="R3f1580f4819b452a"/>
    <p:sldId xmlns:r="http://schemas.openxmlformats.org/officeDocument/2006/relationships" id="257" r:id="R55cdc9389674471e"/>
    <p:sldId xmlns:r="http://schemas.openxmlformats.org/officeDocument/2006/relationships" id="258" r:id="Rb36e15e577374d5a"/>
    <p:sldId xmlns:r="http://schemas.openxmlformats.org/officeDocument/2006/relationships" id="259" r:id="R7610d25a9bf64339"/>
    <p:sldId xmlns:r="http://schemas.openxmlformats.org/officeDocument/2006/relationships" id="260" r:id="R670cd8c516514b41"/>
    <p:sldId xmlns:r="http://schemas.openxmlformats.org/officeDocument/2006/relationships" id="261" r:id="Re487e91c44f04069"/>
    <p:sldId xmlns:r="http://schemas.openxmlformats.org/officeDocument/2006/relationships" id="262" r:id="Rc88afbe28bf4489c"/>
    <p:sldId xmlns:r="http://schemas.openxmlformats.org/officeDocument/2006/relationships" id="263" r:id="R8b40d1a1c6ef4a3e"/>
    <p:sldId xmlns:r="http://schemas.openxmlformats.org/officeDocument/2006/relationships" id="264" r:id="Ra3073549928f4262"/>
    <p:sldId xmlns:r="http://schemas.openxmlformats.org/officeDocument/2006/relationships" id="265" r:id="R42bcae98151b44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b1adc9295244ec" /><Relationship Type="http://schemas.openxmlformats.org/officeDocument/2006/relationships/slideMaster" Target="/ppt/slideMasters/slideMaster1.xml" Id="Rfba6974e4c4c4fa4" /><Relationship Type="http://schemas.openxmlformats.org/officeDocument/2006/relationships/notesMaster" Target="/ppt/notesMasters/notesMaster1.xml" Id="Rbf9eb69e0a834496" /><Relationship Type="http://schemas.openxmlformats.org/officeDocument/2006/relationships/presProps" Target="/ppt/presProps.xml" Id="R5c6e55b1b3624895" /><Relationship Type="http://schemas.openxmlformats.org/officeDocument/2006/relationships/tableStyles" Target="/ppt/tableStyles.xml" Id="Rff730a8f414f4e52" /><Relationship Type="http://schemas.openxmlformats.org/officeDocument/2006/relationships/slide" Target="/ppt/slides/slide1.xml" Id="R3f1580f4819b452a" /><Relationship Type="http://schemas.openxmlformats.org/officeDocument/2006/relationships/slide" Target="/ppt/slides/slide2.xml" Id="R55cdc9389674471e" /><Relationship Type="http://schemas.openxmlformats.org/officeDocument/2006/relationships/slide" Target="/ppt/slides/slide3.xml" Id="Rb36e15e577374d5a" /><Relationship Type="http://schemas.openxmlformats.org/officeDocument/2006/relationships/slide" Target="/ppt/slides/slide4.xml" Id="R7610d25a9bf64339" /><Relationship Type="http://schemas.openxmlformats.org/officeDocument/2006/relationships/slide" Target="/ppt/slides/slide5.xml" Id="R670cd8c516514b41" /><Relationship Type="http://schemas.openxmlformats.org/officeDocument/2006/relationships/slide" Target="/ppt/slides/slide6.xml" Id="Re487e91c44f04069" /><Relationship Type="http://schemas.openxmlformats.org/officeDocument/2006/relationships/slide" Target="/ppt/slides/slide7.xml" Id="Rc88afbe28bf4489c" /><Relationship Type="http://schemas.openxmlformats.org/officeDocument/2006/relationships/slide" Target="/ppt/slides/slide8.xml" Id="R8b40d1a1c6ef4a3e" /><Relationship Type="http://schemas.openxmlformats.org/officeDocument/2006/relationships/slide" Target="/ppt/slides/slide9.xml" Id="Ra3073549928f4262" /><Relationship Type="http://schemas.openxmlformats.org/officeDocument/2006/relationships/slide" Target="/ppt/slides/slide10.xml" Id="R42bcae98151b44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1ad238dea544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c5f97ec2ae4154" /><Relationship Type="http://schemas.openxmlformats.org/officeDocument/2006/relationships/notesMaster" Target="/ppt/notesMasters/notesMaster1.xml" Id="Ra67afab353f946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e064cee991454e" /><Relationship Type="http://schemas.openxmlformats.org/officeDocument/2006/relationships/notesMaster" Target="/ppt/notesMasters/notesMaster1.xml" Id="R8a6e721fd04e46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28d0e210b894c8e" /><Relationship Type="http://schemas.openxmlformats.org/officeDocument/2006/relationships/notesMaster" Target="/ppt/notesMasters/notesMaster1.xml" Id="R19fbf33d08ae46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355d040da84b9c" /><Relationship Type="http://schemas.openxmlformats.org/officeDocument/2006/relationships/notesMaster" Target="/ppt/notesMasters/notesMaster1.xml" Id="R90df9741dd5c4a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006b7b66f543bc" /><Relationship Type="http://schemas.openxmlformats.org/officeDocument/2006/relationships/notesMaster" Target="/ppt/notesMasters/notesMaster1.xml" Id="R7b49da296a5a4f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e22e04f6154036" /><Relationship Type="http://schemas.openxmlformats.org/officeDocument/2006/relationships/notesMaster" Target="/ppt/notesMasters/notesMaster1.xml" Id="R882d0d67235040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01a5aeee7f451f" /><Relationship Type="http://schemas.openxmlformats.org/officeDocument/2006/relationships/notesMaster" Target="/ppt/notesMasters/notesMaster1.xml" Id="R5484ed5cd87949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d7d164e59a4b8b" /><Relationship Type="http://schemas.openxmlformats.org/officeDocument/2006/relationships/notesMaster" Target="/ppt/notesMasters/notesMaster1.xml" Id="Rcaf8f542ebab4a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559ab7881a480b" /><Relationship Type="http://schemas.openxmlformats.org/officeDocument/2006/relationships/notesMaster" Target="/ppt/notesMasters/notesMaster1.xml" Id="R4014a87d91a144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14ff323774c44ad" /><Relationship Type="http://schemas.openxmlformats.org/officeDocument/2006/relationships/notesMaster" Target="/ppt/notesMasters/notesMaster1.xml" Id="Rd2183a248ec845a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commercial answer: Syn Bank observes only its own activity. The solution estimates an interval for total client wallet and bank share, sizes the contestable gap, then turns it into an evidence-backed relationship-manager conversation.</a:t>
            </a:r>
          </a:p>
          <a:p xmlns:a="http://schemas.openxmlformats.org/drawingml/2006/main">
            <a:r>
              <a:t/>
            </a:r>
          </a:p>
          <a:p xmlns:a="http://schemas.openxmlformats.org/drawingml/2006/main">
            <a:r>
              <a:t>[Sources]</a:t>
            </a:r>
          </a:p>
          <a:p xmlns:a="http://schemas.openxmlformats.org/drawingml/2006/main">
            <a:r>
              <a:t>- dashboard/app/data/wallet-v311-fixture.json</a:t>
            </a:r>
          </a:p>
          <a:p xmlns:a="http://schemas.openxmlformats.org/drawingml/2006/main">
            <a:r>
              <a:t>- outputs/v2_validation/measurement_policy_sensitivity.json</a:t>
            </a:r>
          </a:p>
          <a:p xmlns:a="http://schemas.openxmlformats.org/drawingml/2006/main">
            <a:r>
              <a:t>- https://github.com/ChristopherJohannesKoen/corporate-wallet-digital-twin-hackathon-2026-public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core identification problem using A=qT. A is observed in supplied Syn Bank activity; T and q are not. Approved public anchors can narrow plausible T, while governed priors form a posterior interval. Nothing in this chain directly observes competitor transactions.</a:t>
            </a:r>
          </a:p>
          <a:p xmlns:a="http://schemas.openxmlformats.org/drawingml/2006/main">
            <a:r>
              <a:t/>
            </a:r>
          </a:p>
          <a:p xmlns:a="http://schemas.openxmlformats.org/drawingml/2006/main">
            <a:r>
              <a:t>[Sources]</a:t>
            </a:r>
          </a:p>
          <a:p xmlns:a="http://schemas.openxmlformats.org/drawingml/2006/main">
            <a:r>
              <a:t>- src/wallet_twin_v2/wallet_model.py</a:t>
            </a:r>
          </a:p>
          <a:p xmlns:a="http://schemas.openxmlformats.org/drawingml/2006/main">
            <a:r>
              <a:t>- src/wallet_twin_v2/measurement_policy.py</a:t>
            </a:r>
          </a:p>
          <a:p xmlns:a="http://schemas.openxmlformats.org/drawingml/2006/main">
            <a:r>
              <a:t>-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supplied-data chain. Transaction legs produce Collections, Payments and a liquidity-flow opportunity proxy. Cross-border activity provides an FX exposure proxy; instruments provide Trade Finance activity. The conceptual problem statement mentions fifty clients, while the supplied archive contains twenty relationships; all twenty are modelled.</a:t>
            </a:r>
          </a:p>
          <a:p xmlns:a="http://schemas.openxmlformats.org/drawingml/2006/main">
            <a:r>
              <a:t/>
            </a:r>
          </a:p>
          <a:p xmlns:a="http://schemas.openxmlformats.org/drawingml/2006/main">
            <a:r>
              <a:t>[Sources]</a:t>
            </a:r>
          </a:p>
          <a:p xmlns:a="http://schemas.openxmlformats.org/drawingml/2006/main">
            <a:r>
              <a:t>- notebooks/01_wallet_twin_demo.ipynb</a:t>
            </a:r>
          </a:p>
          <a:p xmlns:a="http://schemas.openxmlformats.org/drawingml/2006/main">
            <a:r>
              <a:t>- output/notebook/01_wallet_twin_demo.html</a:t>
            </a:r>
          </a:p>
          <a:p xmlns:a="http://schemas.openxmlformats.org/drawingml/2006/main">
            <a:r>
              <a:t>- dashboard/app/data/wallet-v311-fixture.json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Approval is authoritative. Thirty-one approved facts activate fifteen client–product anchors for BHP, Glencore and Shoprite; fifty-one candidates remain pending and cannot alter estimation. The active E1 pooling weight is 0.35, with 0.20 and 0.50 evaluated as sensitivity arms.</a:t>
            </a:r>
          </a:p>
          <a:p xmlns:a="http://schemas.openxmlformats.org/drawingml/2006/main">
            <a:r>
              <a:t/>
            </a:r>
          </a:p>
          <a:p xmlns:a="http://schemas.openxmlformats.org/drawingml/2006/main">
            <a:r>
              <a:t>[Sources]</a:t>
            </a:r>
          </a:p>
          <a:p xmlns:a="http://schemas.openxmlformats.org/drawingml/2006/main">
            <a:r>
              <a:t>- outputs/v2_validation/public_evidence_qa.json</a:t>
            </a:r>
          </a:p>
          <a:p xmlns:a="http://schemas.openxmlformats.org/drawingml/2006/main">
            <a:r>
              <a:t>- outputs/v2_validation/measurement_policy_sensitivity.json</a:t>
            </a:r>
          </a:p>
          <a:p xmlns:a="http://schemas.openxmlformats.org/drawingml/2006/main">
            <a:r>
              <a:t>- src/wallet_twin_v2/measurement_policy.py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actual rendered Wallet Portfolio view. The default colour encodes portfolio-wide contestable scenario contribution. A, T, q and G views use relative intensity within each product column. The leading opportunities are Glencore Trade finance R17.02m; BHP Group Trade finance R7.37m; Glencore Cross-border FX R6.45m; BHP Group Cross-border FX R5.18m; Glencore Liquidity R4.26m.</a:t>
            </a:r>
          </a:p>
          <a:p xmlns:a="http://schemas.openxmlformats.org/drawingml/2006/main">
            <a:r>
              <a:t/>
            </a:r>
          </a:p>
          <a:p xmlns:a="http://schemas.openxmlformats.org/drawingml/2006/main">
            <a:r>
              <a:t>[Sources]</a:t>
            </a:r>
          </a:p>
          <a:p xmlns:a="http://schemas.openxmlformats.org/drawingml/2006/main">
            <a:r>
              <a:t>- dashboard/app/Dashboard.tsx</a:t>
            </a:r>
          </a:p>
          <a:p xmlns:a="http://schemas.openxmlformats.org/drawingml/2006/main">
            <a:r>
              <a:t>- dashboard/app/data/wallet-v311-fixture.json</a:t>
            </a:r>
          </a:p>
          <a:p xmlns:a="http://schemas.openxmlformats.org/drawingml/2006/main">
            <a:r>
              <a:t>- src/wallet_twin_v31/wallet_portfolio.py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BHP Trade Finance cell. Syn Bank observes A=R1.445bn. Approved issuer accounting anchors constrain the total-wallet measurement; the posterior T spans R5.15bn–R22.08bn, implying q=6.5%–28.0%. A 40% target-share scenario creates a median contestable activity gap of R2.126bn and R7.367m representative scenario contribution.</a:t>
            </a:r>
          </a:p>
          <a:p xmlns:a="http://schemas.openxmlformats.org/drawingml/2006/main">
            <a:r>
              <a:t/>
            </a:r>
          </a:p>
          <a:p xmlns:a="http://schemas.openxmlformats.org/drawingml/2006/main">
            <a:r>
              <a:t>[Sources]</a:t>
            </a:r>
          </a:p>
          <a:p xmlns:a="http://schemas.openxmlformats.org/drawingml/2006/main">
            <a:r>
              <a:t>- dashboard/app/data/wallet-v311-fixture.json — E01-trade-finance</a:t>
            </a:r>
          </a:p>
          <a:p xmlns:a="http://schemas.openxmlformats.org/drawingml/2006/main">
            <a:r>
              <a:t>- BHP Annual Report 2025 — approved facts BHP-2025-COST, INV and AP</a:t>
            </a:r>
          </a:p>
          <a:p xmlns:a="http://schemas.openxmlformats.org/drawingml/2006/main">
            <a:r>
              <a:t>- outputs/audit/Public-Facts-Anchor-Register-V3.2.0.xlsx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Decision Twin remains the action layer, not a replacement for share-of-wallet estimation. For BHP, 106 bank-observed trade events include a dated 14 August event. With a 45-day preparation lead, the engagement window opens on 30 June. The 36% 90-day seasonal baseline stays visible as an uncalibrated challenger, not the sole urgency claim. Missing feasibility converts the action into discovery.</a:t>
            </a:r>
          </a:p>
          <a:p xmlns:a="http://schemas.openxmlformats.org/drawingml/2006/main">
            <a:r>
              <a:t/>
            </a:r>
          </a:p>
          <a:p xmlns:a="http://schemas.openxmlformats.org/drawingml/2006/main">
            <a:r>
              <a:t>[Sources]</a:t>
            </a:r>
          </a:p>
          <a:p xmlns:a="http://schemas.openxmlformats.org/drawingml/2006/main">
            <a:r>
              <a:t>- outputs/v31/v31_coverage_plan.json</a:t>
            </a:r>
          </a:p>
          <a:p xmlns:a="http://schemas.openxmlformats.org/drawingml/2006/main">
            <a:r>
              <a:t>- src/wallet_twin_v31/conversations.py</a:t>
            </a:r>
          </a:p>
          <a:p xmlns:a="http://schemas.openxmlformats.org/drawingml/2006/main">
            <a:r>
              <a:t>- src/wallet_twin_v31/questions.py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GenAI is a bounded narrator. Eight of nine genuine provider outputs passed every critical validator, covering OpenAI, Anthropic, Google and all three showcase clients. The ninth output was generated but rejected by the claim compiler before publication, which demonstrates fail-closed control rather than a hidden failure. Deterministic fallback remains beside every accepted brief. This is hackathon evaluation, not bank provider approval.</a:t>
            </a:r>
          </a:p>
          <a:p xmlns:a="http://schemas.openxmlformats.org/drawingml/2006/main">
            <a:r>
              <a:t/>
            </a:r>
          </a:p>
          <a:p xmlns:a="http://schemas.openxmlformats.org/drawingml/2006/main">
            <a:r>
              <a:t>[Sources]</a:t>
            </a:r>
          </a:p>
          <a:p xmlns:a="http://schemas.openxmlformats.org/drawingml/2006/main">
            <a:r>
              <a:t>- outputs/v2_validation/live_provider_comparison.json</a:t>
            </a:r>
          </a:p>
          <a:p xmlns:a="http://schemas.openxmlformats.org/drawingml/2006/main">
            <a:r>
              <a:t>- data/v2/submission_truth_v3.2.0.json</a:t>
            </a:r>
          </a:p>
          <a:p xmlns:a="http://schemas.openxmlformats.org/drawingml/2006/main">
            <a:r>
              <a:t>- outputs/v2_validation/genai_golden_eval.json</a:t>
            </a:r>
          </a:p>
          <a:p xmlns:a="http://schemas.openxmlformats.org/drawingml/2006/main">
            <a:r>
              <a:t>- src/wallet_twin_v2/live_provider_eval.py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Trade Finance is first-ranked in all 10,000 global sensitivity draws and majority-dominant in 87.8%, but its absolute economics vary and the top-eight portfolio is not invariant across E1 pooling weights. Coverage and CRPS are known-truth rehearsal metrics only. The compact permission boundary is equally explicit: real state OFFLINE_CANDIDATE; rehearsal only to SHADOW_READY; PMR 100%, BER 0%, and zero elapsed bank shadow days.</a:t>
            </a:r>
          </a:p>
          <a:p xmlns:a="http://schemas.openxmlformats.org/drawingml/2006/main">
            <a:r>
              <a:t/>
            </a:r>
          </a:p>
          <a:p xmlns:a="http://schemas.openxmlformats.org/drawingml/2006/main">
            <a:r>
              <a:t>[Sources]</a:t>
            </a:r>
          </a:p>
          <a:p xmlns:a="http://schemas.openxmlformats.org/drawingml/2006/main">
            <a:r>
              <a:t>- dashboard/app/data/shadow-fixture.json — sensitivity.product_summary.Trade finance</a:t>
            </a:r>
          </a:p>
          <a:p xmlns:a="http://schemas.openxmlformats.org/drawingml/2006/main">
            <a:r>
              <a:t>- outputs/v2_validation/measurement_policy_sensitivity.json</a:t>
            </a:r>
          </a:p>
          <a:p xmlns:a="http://schemas.openxmlformats.org/drawingml/2006/main">
            <a:r>
              <a:t>- data/v2/submission_truth_v3.2.0.json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commercial decision. The ranked surface begins with Glencore Trade Finance at R17.0m representative scenario contribution, followed by BHP Trade Finance at R7.37m. The relationship manager receives eight priority discovery conversations, not a generic model score. Governance is the final boundary, not the central pitch: hackathon ready; bank production NOT_PROMOTABLE.</a:t>
            </a:r>
          </a:p>
          <a:p xmlns:a="http://schemas.openxmlformats.org/drawingml/2006/main">
            <a:r>
              <a:t/>
            </a:r>
          </a:p>
          <a:p xmlns:a="http://schemas.openxmlformats.org/drawingml/2006/main">
            <a:r>
              <a:t>[Sources]</a:t>
            </a:r>
          </a:p>
          <a:p xmlns:a="http://schemas.openxmlformats.org/drawingml/2006/main">
            <a:r>
              <a:t>- data/v2/submission_truth_v3.2.0.json</a:t>
            </a:r>
          </a:p>
          <a:p xmlns:a="http://schemas.openxmlformats.org/drawingml/2006/main">
            <a:r>
              <a:t>- outputs/v2_validation/production_candidate_scorecard.json</a:t>
            </a:r>
          </a:p>
          <a:p xmlns:a="http://schemas.openxmlformats.org/drawingml/2006/main">
            <a:r>
              <a:t>- notebooks/01_wallet_twin_demo.ipynb</a:t>
            </a:r>
          </a:p>
          <a:p xmlns:a="http://schemas.openxmlformats.org/drawingml/2006/main">
            <a:r>
              <a:t>- output/pdf/Corporate-Wallet-Digital-Twin-One-Pager.pdf</a:t>
            </a:r>
          </a:p>
          <a:p xmlns:a="http://schemas.openxmlformats.org/drawingml/2006/main">
            <a:r>
              <a:t>- outputs/judging_manifest_v3.2.0.json</a:t>
            </a:r>
          </a:p>
          <a:p xmlns:a="http://schemas.openxmlformats.org/drawingml/2006/main">
            <a:r>
              <a:t>- https://github.com/ChristopherJohannesKoen/corporate-wallet-digital-twin-hackathon-2026-public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0080b26c6d4d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582ef94dada48ca" /><Relationship Type="http://schemas.openxmlformats.org/officeDocument/2006/relationships/slideLayout" Target="/ppt/slideLayouts/slideLayout1.xml" Id="R74baee2083ca41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baee2083ca41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c8204cec06470f" /><Relationship Type="http://schemas.openxmlformats.org/officeDocument/2006/relationships/image" Target="/ppt/media/image.png" Id="Rb17b50a56e7e4e6b" /><Relationship Type="http://schemas.openxmlformats.org/officeDocument/2006/relationships/notesSlide" Target="/ppt/notesSlides/notesSlide1.xml" Id="R0fefddca4d3b44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80dfe3a49c4c94" /><Relationship Type="http://schemas.openxmlformats.org/officeDocument/2006/relationships/notesSlide" Target="/ppt/notesSlides/notesSlide2.xml" Id="Rdece633b0d5e47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47aa289904c474f" /><Relationship Type="http://schemas.openxmlformats.org/officeDocument/2006/relationships/notesSlide" Target="/ppt/notesSlides/notesSlide3.xml" Id="R8b817f7892d142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8e0dc40c744e8e" /><Relationship Type="http://schemas.openxmlformats.org/officeDocument/2006/relationships/chart" Target="/ppt/slides/charts/chart1.xml" Id="R3088939d94ae417c" /><Relationship Type="http://schemas.openxmlformats.org/officeDocument/2006/relationships/notesSlide" Target="/ppt/notesSlides/notesSlide4.xml" Id="R83db762b23a145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0fd42b0bca4107" /><Relationship Type="http://schemas.openxmlformats.org/officeDocument/2006/relationships/image" Target="/ppt/media/image2.png" Id="Rcf9140ade0984810" /><Relationship Type="http://schemas.openxmlformats.org/officeDocument/2006/relationships/notesSlide" Target="/ppt/notesSlides/notesSlide5.xml" Id="R0db3a5114a4744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63f8f216d545b3" /><Relationship Type="http://schemas.openxmlformats.org/officeDocument/2006/relationships/notesSlide" Target="/ppt/notesSlides/notesSlide6.xml" Id="R5dae27abd38843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9d9c6e13d341d6" /><Relationship Type="http://schemas.openxmlformats.org/officeDocument/2006/relationships/notesSlide" Target="/ppt/notesSlides/notesSlide7.xml" Id="R9c9ffa28a25245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c1aa930bbdb499f" /><Relationship Type="http://schemas.openxmlformats.org/officeDocument/2006/relationships/notesSlide" Target="/ppt/notesSlides/notesSlide8.xml" Id="R26e541675e6a49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4515bdc10d4717" /><Relationship Type="http://schemas.openxmlformats.org/officeDocument/2006/relationships/notesSlide" Target="/ppt/notesSlides/notesSlide9.xml" Id="R5ca908852a7744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a3f606814f74c58" /><Relationship Type="http://schemas.openxmlformats.org/officeDocument/2006/relationships/notesSlide" Target="/ppt/notesSlides/notesSlide10.xml" Id="Radd2007f0399436b" /></Relationships>
</file>

<file path=ppt/slides/charts/chart1.xml><?xml version="1.0" encoding="utf-8"?>
<c:chartSpace xmlns:c="http://schemas.openxmlformats.org/drawingml/2006/chart">
  <c:lang val="en-US"/>
  <c:chart>
    <c:plotArea>
      <c:barChart>
        <c:barDir val="col"/>
        <c:varyColors val="0"/>
        <c:ser>
          <c:idx val="0"/>
          <c:order val="0"/>
          <c:tx>
            <c:v>Scenario gap (R m)</c:v>
          </c:tx>
          <c:spPr>
            <a:solidFill xmlns:a="http://schemas.openxmlformats.org/drawingml/2006/main">
              <a:srgbClr val="0B63E5"/>
            </a:solidFill>
          </c:spPr>
          <c:cat>
            <c:strLit>
              <c:ptCount val="3"/>
              <c:pt idx="0">
                <c:v>E1 weight 0.20</c:v>
              </c:pt>
              <c:pt idx="1">
                <c:v>E1 weight 0.35</c:v>
              </c:pt>
              <c:pt idx="2">
                <c:v>E1 weight 0.50</c:v>
              </c:pt>
            </c:strLit>
          </c:cat>
          <c:val>
            <c:numLit>
              <c:formatCode>General</c:formatCode>
              <c:ptCount val="3"/>
              <c:pt idx="0">
                <c:v>5.826</c:v>
              </c:pt>
              <c:pt idx="1">
                <c:v>4.374</c:v>
              </c:pt>
              <c:pt idx="2">
                <c:v>3.293</c:v>
              </c:pt>
            </c:numLit>
          </c:val>
        </c:ser>
        <c:dLbls>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majorGridlines>
          <c:spPr>
            <a:ln xmlns:a="http://schemas.openxmlformats.org/drawingml/2006/main" w="9525">
              <a:solidFill>
                <a:srgbClr val="D7DEE8"/>
              </a:solidFill>
              <a:prstDash val="solid"/>
            </a:ln>
          </c:spPr>
        </c:majorGridlines>
        <c:title>
          <c:tx>
            <c:rich>
              <a:bodyPr xmlns:a="http://schemas.openxmlformats.org/drawingml/2006/main"/>
              <a:lstStyle xmlns:a="http://schemas.openxmlformats.org/drawingml/2006/main"/>
              <a:p xmlns:a="http://schemas.openxmlformats.org/drawingml/2006/main">
                <a:r>
                  <a:t>Known-truth interval width (ZAR bn)</a:t>
                </a:r>
              </a:p>
            </c:rich>
          </c:tx>
          <c:overlay val="0"/>
        </c:title>
        <c:numFmt formatCode="0.0&quot;bn&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b17b50a56e7e4e6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field">
            <a:extLst xmlns:a="http://schemas.openxmlformats.org/drawingml/2006/main">
              <a:ext uri="{FF2B5EF4-FFF2-40B4-BE49-F238E27FC236}">
                <a16:creationId xmlns:a16="http://schemas.microsoft.com/office/drawing/2014/main" id="{68C8AA9C-AEB7-4971-B74F-C200797AC470}"/>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71321"/>
          </a:solidFill>
          <a:ln xmlns:a="http://schemas.openxmlformats.org/drawingml/2006/main" w="0">
            <a:noFill/>
            <a:prstDash val="solid"/>
          </a:ln>
        </p:spPr>
      </p:sp>
      <p:sp>
        <p:nvSpPr>
          <p:cNvPr id="3" name="cover-kicker">
            <a:extLst xmlns:a="http://schemas.openxmlformats.org/drawingml/2006/main">
              <a:ext uri="{FF2B5EF4-FFF2-40B4-BE49-F238E27FC236}">
                <a16:creationId xmlns:a16="http://schemas.microsoft.com/office/drawing/2014/main" id="{0482CACE-AFF8-4494-B6B3-1A297802CE75}"/>
              </a:ext>
            </a:extLst>
          </p:cNvPr>
          <p:cNvSpPr>
            <a:spLocks xmlns:a="http://schemas.openxmlformats.org/drawingml/2006/main" noGrp="1"/>
          </p:cNvSpPr>
          <p:nvPr/>
        </p:nvSpPr>
        <p:spPr>
          <a:xfrm xmlns:a="http://schemas.openxmlformats.org/drawingml/2006/main">
            <a:off x="609600" y="5143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7CB6FF"/>
                </a:solidFill>
                <a:latin typeface="Arial"/>
                <a:ea typeface="Arial"/>
                <a:cs typeface="Arial"/>
              </a:defRPr>
            </a:pPr>
            <a:r>
              <a:rPr sz="1050" b="1">
                <a:solidFill>
                  <a:srgbClr val="7CB6FF"/>
                </a:solidFill>
                <a:latin typeface="Arial"/>
                <a:ea typeface="Arial"/>
                <a:cs typeface="Arial"/>
              </a:rPr>
              <a:t>STANDARD BANK HACKATHON 2026</a:t>
            </a:r>
          </a:p>
        </p:txBody>
      </p:sp>
      <p:sp>
        <p:nvSpPr>
          <p:cNvPr id="4" name="cover-title">
            <a:extLst xmlns:a="http://schemas.openxmlformats.org/drawingml/2006/main">
              <a:ext uri="{FF2B5EF4-FFF2-40B4-BE49-F238E27FC236}">
                <a16:creationId xmlns:a16="http://schemas.microsoft.com/office/drawing/2014/main" id="{BF267839-2091-4047-8C68-12657E06E8A6}"/>
              </a:ext>
            </a:extLst>
          </p:cNvPr>
          <p:cNvSpPr>
            <a:spLocks xmlns:a="http://schemas.openxmlformats.org/drawingml/2006/main" noGrp="1"/>
          </p:cNvSpPr>
          <p:nvPr/>
        </p:nvSpPr>
        <p:spPr>
          <a:xfrm xmlns:a="http://schemas.openxmlformats.org/drawingml/2006/main">
            <a:off x="609600" y="1314450"/>
            <a:ext cx="5334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4800" b="1">
                <a:solidFill>
                  <a:srgbClr val="FFFFFF"/>
                </a:solidFill>
                <a:latin typeface="Arial"/>
                <a:ea typeface="Arial"/>
                <a:cs typeface="Arial"/>
              </a:defRPr>
            </a:pPr>
            <a:r>
              <a:rPr sz="4800" b="1">
                <a:solidFill>
                  <a:srgbClr val="FFFFFF"/>
                </a:solidFill>
                <a:latin typeface="Arial"/>
                <a:ea typeface="Arial"/>
                <a:cs typeface="Arial"/>
              </a:rPr>
              <a:t>Corporate Wallet</a:t>
            </a:r>
          </a:p>
          <a:p xmlns:a="http://schemas.openxmlformats.org/drawingml/2006/main">
            <a:pPr algn="l">
              <a:buNone/>
              <a:defRPr sz="4800" b="1">
                <a:solidFill>
                  <a:srgbClr val="FFFFFF"/>
                </a:solidFill>
                <a:latin typeface="Arial"/>
                <a:ea typeface="Arial"/>
                <a:cs typeface="Arial"/>
              </a:defRPr>
            </a:pPr>
            <a:r>
              <a:rPr sz="4800" b="1">
                <a:solidFill>
                  <a:srgbClr val="FFFFFF"/>
                </a:solidFill>
                <a:latin typeface="Arial"/>
                <a:ea typeface="Arial"/>
                <a:cs typeface="Arial"/>
              </a:rPr>
              <a:t>Digital Twin</a:t>
            </a:r>
          </a:p>
        </p:txBody>
      </p:sp>
      <p:sp>
        <p:nvSpPr>
          <p:cNvPr id="5" name="cover-subtitle">
            <a:extLst xmlns:a="http://schemas.openxmlformats.org/drawingml/2006/main">
              <a:ext uri="{FF2B5EF4-FFF2-40B4-BE49-F238E27FC236}">
                <a16:creationId xmlns:a16="http://schemas.microsoft.com/office/drawing/2014/main" id="{14BDC36F-6AF3-4A72-91B7-07252A281942}"/>
              </a:ext>
            </a:extLst>
          </p:cNvPr>
          <p:cNvSpPr>
            <a:spLocks xmlns:a="http://schemas.openxmlformats.org/drawingml/2006/main" noGrp="1"/>
          </p:cNvSpPr>
          <p:nvPr/>
        </p:nvSpPr>
        <p:spPr>
          <a:xfrm xmlns:a="http://schemas.openxmlformats.org/drawingml/2006/main">
            <a:off x="609600" y="3371850"/>
            <a:ext cx="5143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0">
                <a:solidFill>
                  <a:srgbClr val="C7D5E8"/>
                </a:solidFill>
                <a:latin typeface="Arial"/>
                <a:ea typeface="Arial"/>
                <a:cs typeface="Arial"/>
              </a:defRPr>
            </a:pPr>
            <a:r>
              <a:rPr sz="2175" b="0">
                <a:solidFill>
                  <a:srgbClr val="C7D5E8"/>
                </a:solidFill>
                <a:latin typeface="Arial"/>
                <a:ea typeface="Arial"/>
                <a:cs typeface="Arial"/>
              </a:rPr>
              <a:t>See the wallet. Size the gap.</a:t>
            </a:r>
          </a:p>
          <a:p xmlns:a="http://schemas.openxmlformats.org/drawingml/2006/main">
            <a:pPr algn="l">
              <a:buNone/>
              <a:defRPr sz="2175" b="0">
                <a:solidFill>
                  <a:srgbClr val="C7D5E8"/>
                </a:solidFill>
                <a:latin typeface="Arial"/>
                <a:ea typeface="Arial"/>
                <a:cs typeface="Arial"/>
              </a:defRPr>
            </a:pPr>
            <a:r>
              <a:rPr sz="2175" b="0">
                <a:solidFill>
                  <a:srgbClr val="C7D5E8"/>
                </a:solidFill>
                <a:latin typeface="Arial"/>
                <a:ea typeface="Arial"/>
                <a:cs typeface="Arial"/>
              </a:rPr>
              <a:t>Choose the conversation.</a:t>
            </a:r>
          </a:p>
        </p:txBody>
      </p:sp>
      <p:cxnSp>
        <p:nvCxnSpPr>
          <p:cNvPr id="37" name="cover-rule"/>
          <p:cNvCxnSpPr/>
          <p:nvPr/>
        </p:nvCxnSpPr>
        <p:spPr>
          <a:xfrm xmlns:a="http://schemas.openxmlformats.org/drawingml/2006/main">
            <a:off x="609600" y="4629150"/>
            <a:ext cx="4191000" cy="0"/>
          </a:xfrm>
          <a:prstGeom xmlns:a="http://schemas.openxmlformats.org/drawingml/2006/main" prst="straightConnector1">
            <a:avLst/>
          </a:prstGeom>
          <a:ln xmlns:a="http://schemas.openxmlformats.org/drawingml/2006/main" w="9525">
            <a:solidFill>
              <a:srgbClr val="2D4C6D"/>
            </a:solidFill>
            <a:prstDash val="solid"/>
          </a:ln>
        </p:spPr>
      </p:cxnSp>
      <p:sp>
        <p:nvSpPr>
          <p:cNvPr id="7" name="cover-proof">
            <a:extLst xmlns:a="http://schemas.openxmlformats.org/drawingml/2006/main">
              <a:ext uri="{FF2B5EF4-FFF2-40B4-BE49-F238E27FC236}">
                <a16:creationId xmlns:a16="http://schemas.microsoft.com/office/drawing/2014/main" id="{1F20B026-FBCA-419F-9DA6-E4DE130F897B}"/>
              </a:ext>
            </a:extLst>
          </p:cNvPr>
          <p:cNvSpPr>
            <a:spLocks xmlns:a="http://schemas.openxmlformats.org/drawingml/2006/main" noGrp="1"/>
          </p:cNvSpPr>
          <p:nvPr/>
        </p:nvSpPr>
        <p:spPr>
          <a:xfrm xmlns:a="http://schemas.openxmlformats.org/drawingml/2006/main">
            <a:off x="609600" y="4857750"/>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FFFFFF"/>
                </a:solidFill>
                <a:latin typeface="Arial"/>
                <a:ea typeface="Arial"/>
                <a:cs typeface="Arial"/>
              </a:defRPr>
            </a:pPr>
            <a:r>
              <a:rPr sz="1425" b="0">
                <a:solidFill>
                  <a:srgbClr val="FFFFFF"/>
                </a:solidFill>
                <a:latin typeface="Arial"/>
                <a:ea typeface="Arial"/>
                <a:cs typeface="Arial"/>
              </a:rPr>
              <a:t>Find the latent wallet. Quantify the gap. Plan the governed conversation.</a:t>
            </a:r>
          </a:p>
        </p:txBody>
      </p:sp>
      <p:sp>
        <p:nvSpPr>
          <p:cNvPr id="8" name="cover-team">
            <a:extLst xmlns:a="http://schemas.openxmlformats.org/drawingml/2006/main">
              <a:ext uri="{FF2B5EF4-FFF2-40B4-BE49-F238E27FC236}">
                <a16:creationId xmlns:a16="http://schemas.microsoft.com/office/drawing/2014/main" id="{781DA9D0-B4FF-42F0-B2AF-FD855C1DA9C0}"/>
              </a:ext>
            </a:extLst>
          </p:cNvPr>
          <p:cNvSpPr>
            <a:spLocks xmlns:a="http://schemas.openxmlformats.org/drawingml/2006/main" noGrp="1"/>
          </p:cNvSpPr>
          <p:nvPr/>
        </p:nvSpPr>
        <p:spPr>
          <a:xfrm xmlns:a="http://schemas.openxmlformats.org/drawingml/2006/main">
            <a:off x="609600" y="576262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FFFFFF"/>
                </a:solidFill>
                <a:latin typeface="Arial"/>
                <a:ea typeface="Arial"/>
                <a:cs typeface="Arial"/>
              </a:defRPr>
            </a:pPr>
            <a:r>
              <a:rPr sz="1050" b="1">
                <a:solidFill>
                  <a:srgbClr val="FFFFFF"/>
                </a:solidFill>
                <a:latin typeface="Arial"/>
                <a:ea typeface="Arial"/>
                <a:cs typeface="Arial"/>
              </a:rPr>
              <a:t>TEAM: Corporate Wallet Digital Twin</a:t>
            </a:r>
          </a:p>
        </p:txBody>
      </p:sp>
      <p:sp>
        <p:nvSpPr>
          <p:cNvPr id="9" name="cover-member">
            <a:extLst xmlns:a="http://schemas.openxmlformats.org/drawingml/2006/main">
              <a:ext uri="{FF2B5EF4-FFF2-40B4-BE49-F238E27FC236}">
                <a16:creationId xmlns:a16="http://schemas.microsoft.com/office/drawing/2014/main" id="{8DA43589-A7B1-44F5-8519-473675CB9868}"/>
              </a:ext>
            </a:extLst>
          </p:cNvPr>
          <p:cNvSpPr>
            <a:spLocks xmlns:a="http://schemas.openxmlformats.org/drawingml/2006/main" noGrp="1"/>
          </p:cNvSpPr>
          <p:nvPr/>
        </p:nvSpPr>
        <p:spPr>
          <a:xfrm xmlns:a="http://schemas.openxmlformats.org/drawingml/2006/main">
            <a:off x="609600" y="60483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0">
                <a:solidFill>
                  <a:srgbClr val="B9C8D9"/>
                </a:solidFill>
                <a:latin typeface="Arial"/>
                <a:ea typeface="Arial"/>
                <a:cs typeface="Arial"/>
              </a:defRPr>
            </a:pPr>
            <a:r>
              <a:rPr sz="975" b="0">
                <a:solidFill>
                  <a:srgbClr val="B9C8D9"/>
                </a:solidFill>
                <a:latin typeface="Arial"/>
                <a:ea typeface="Arial"/>
                <a:cs typeface="Arial"/>
              </a:rPr>
              <a:t>MEMBER: Christopher Koen</a:t>
            </a:r>
          </a:p>
        </p:txBody>
      </p:sp>
      <p:sp>
        <p:nvSpPr>
          <p:cNvPr id="10" name="cover-version">
            <a:extLst xmlns:a="http://schemas.openxmlformats.org/drawingml/2006/main">
              <a:ext uri="{FF2B5EF4-FFF2-40B4-BE49-F238E27FC236}">
                <a16:creationId xmlns:a16="http://schemas.microsoft.com/office/drawing/2014/main" id="{67B73F45-8DD8-46B1-85E0-CD0EBE29ACCE}"/>
              </a:ext>
            </a:extLst>
          </p:cNvPr>
          <p:cNvSpPr>
            <a:spLocks xmlns:a="http://schemas.openxmlformats.org/drawingml/2006/main" noGrp="1"/>
          </p:cNvSpPr>
          <p:nvPr/>
        </p:nvSpPr>
        <p:spPr>
          <a:xfrm xmlns:a="http://schemas.openxmlformats.org/drawingml/2006/main">
            <a:off x="609600" y="64389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8FA5BD"/>
                </a:solidFill>
                <a:latin typeface="Arial"/>
                <a:ea typeface="Arial"/>
                <a:cs typeface="Arial"/>
              </a:defRPr>
            </a:pPr>
            <a:r>
              <a:rPr sz="825" b="1">
                <a:solidFill>
                  <a:srgbClr val="8FA5BD"/>
                </a:solidFill>
                <a:latin typeface="Arial"/>
                <a:ea typeface="Arial"/>
                <a:cs typeface="Arial"/>
              </a:rPr>
              <a:t>V3.2.0 | AS OF 30 JUNE 2026 | HACKATHON SUBMISSION</a:t>
            </a:r>
          </a:p>
        </p:txBody>
      </p:sp>
    </p:spTree>
    <p:extLst>
      <p:ext uri="{BB962C8B-B14F-4D97-AF65-F5344CB8AC3E}">
        <p14:creationId xmlns:p14="http://schemas.microsoft.com/office/powerpoint/2010/main" val="27710657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5" name="eyebrow-2">
            <a:extLst xmlns:a="http://schemas.openxmlformats.org/drawingml/2006/main">
              <a:ext uri="{FF2B5EF4-FFF2-40B4-BE49-F238E27FC236}">
                <a16:creationId xmlns:a16="http://schemas.microsoft.com/office/drawing/2014/main" id="{59EB8F26-C843-4F13-BC46-7AEAE8DC0E54}"/>
              </a:ext>
            </a:extLst>
          </p:cNvPr>
          <p:cNvSpPr>
            <a:spLocks xmlns:a="http://schemas.openxmlformats.org/drawingml/2006/main" noGrp="1"/>
          </p:cNvSpPr>
          <p:nvPr/>
        </p:nvSpPr>
        <p:spPr>
          <a:xfrm xmlns:a="http://schemas.openxmlformats.org/drawingml/2006/main">
            <a:off x="609600" y="3238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B63E5"/>
                </a:solidFill>
                <a:latin typeface="Arial"/>
                <a:ea typeface="Arial"/>
                <a:cs typeface="Arial"/>
              </a:defRPr>
            </a:pPr>
            <a:r>
              <a:rPr sz="975" b="1">
                <a:solidFill>
                  <a:srgbClr val="0B63E5"/>
                </a:solidFill>
                <a:latin typeface="Arial"/>
                <a:ea typeface="Arial"/>
                <a:cs typeface="Arial"/>
              </a:rPr>
              <a:t>THE LATENT-WALLET PROBLEM</a:t>
            </a:r>
          </a:p>
        </p:txBody>
      </p:sp>
      <p:sp>
        <p:nvSpPr>
          <p:cNvPr id="2" name="title-2">
            <a:extLst xmlns:a="http://schemas.openxmlformats.org/drawingml/2006/main">
              <a:ext uri="{FF2B5EF4-FFF2-40B4-BE49-F238E27FC236}">
                <a16:creationId xmlns:a16="http://schemas.microsoft.com/office/drawing/2014/main" id="{53F67D3C-33A0-4E57-966F-A952522B0659}"/>
              </a:ext>
            </a:extLst>
          </p:cNvPr>
          <p:cNvSpPr>
            <a:spLocks xmlns:a="http://schemas.openxmlformats.org/drawingml/2006/main" noGrp="1"/>
          </p:cNvSpPr>
          <p:nvPr/>
        </p:nvSpPr>
        <p:spPr>
          <a:xfrm xmlns:a="http://schemas.openxmlformats.org/drawingml/2006/main">
            <a:off x="609600" y="6572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buNone/>
              <a:defRPr sz="3150" b="1">
                <a:solidFill>
                  <a:srgbClr val="0C1728"/>
                </a:solidFill>
                <a:latin typeface="Arial"/>
                <a:ea typeface="Arial"/>
                <a:cs typeface="Arial"/>
              </a:defRPr>
            </a:pPr>
            <a:r>
              <a:rPr sz="3150" b="1">
                <a:solidFill>
                  <a:srgbClr val="0C1728"/>
                </a:solidFill>
                <a:latin typeface="Arial"/>
                <a:ea typeface="Arial"/>
                <a:cs typeface="Arial"/>
              </a:rPr>
              <a:t>One observed number cannot identify the full wallet</a:t>
            </a:r>
          </a:p>
        </p:txBody>
      </p:sp>
      <p:cxnSp>
        <p:nvCxnSpPr>
          <p:cNvPr id="127" name="title-rule-2"/>
          <p:cNvCxnSpPr/>
          <p:nvPr/>
        </p:nvCxnSpPr>
        <p:spPr>
          <a:xfrm xmlns:a="http://schemas.openxmlformats.org/drawingml/2006/main">
            <a:off x="609600" y="1381125"/>
            <a:ext cx="10972800" cy="0"/>
          </a:xfrm>
          <a:prstGeom xmlns:a="http://schemas.openxmlformats.org/drawingml/2006/main" prst="straightConnector1">
            <a:avLst/>
          </a:prstGeom>
          <a:ln xmlns:a="http://schemas.openxmlformats.org/drawingml/2006/main" w="9525">
            <a:solidFill>
              <a:srgbClr val="D7DEE8"/>
            </a:solidFill>
            <a:prstDash val="solid"/>
          </a:ln>
        </p:spPr>
      </p:cxnSp>
      <p:sp>
        <p:nvSpPr>
          <p:cNvPr id="4" name="footer-team-2">
            <a:extLst xmlns:a="http://schemas.openxmlformats.org/drawingml/2006/main">
              <a:ext uri="{FF2B5EF4-FFF2-40B4-BE49-F238E27FC236}">
                <a16:creationId xmlns:a16="http://schemas.microsoft.com/office/drawing/2014/main" id="{C0DFBA77-A1D3-4A65-A2A5-E8593B96CF10}"/>
              </a:ext>
            </a:extLst>
          </p:cNvPr>
          <p:cNvSpPr>
            <a:spLocks xmlns:a="http://schemas.openxmlformats.org/drawingml/2006/main" noGrp="1"/>
          </p:cNvSpPr>
          <p:nvPr/>
        </p:nvSpPr>
        <p:spPr>
          <a:xfrm xmlns:a="http://schemas.openxmlformats.org/drawingml/2006/main">
            <a:off x="609600" y="64865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27086"/>
                </a:solidFill>
                <a:latin typeface="Arial"/>
                <a:ea typeface="Arial"/>
                <a:cs typeface="Arial"/>
              </a:defRPr>
            </a:pPr>
            <a:r>
              <a:rPr sz="825" b="1">
                <a:solidFill>
                  <a:srgbClr val="627086"/>
                </a:solidFill>
                <a:latin typeface="Arial"/>
                <a:ea typeface="Arial"/>
                <a:cs typeface="Arial"/>
              </a:rPr>
              <a:t>TEAM: Corporate Wallet Digital Twin | Christopher Koen | V3.2.0</a:t>
            </a:r>
          </a:p>
        </p:txBody>
      </p:sp>
      <p:sp>
        <p:nvSpPr>
          <p:cNvPr id="5" name="footer-data-2">
            <a:extLst xmlns:a="http://schemas.openxmlformats.org/drawingml/2006/main">
              <a:ext uri="{FF2B5EF4-FFF2-40B4-BE49-F238E27FC236}">
                <a16:creationId xmlns:a16="http://schemas.microsoft.com/office/drawing/2014/main" id="{E393BC11-AC05-492C-B803-F78875103C70}"/>
              </a:ext>
            </a:extLst>
          </p:cNvPr>
          <p:cNvSpPr>
            <a:spLocks xmlns:a="http://schemas.openxmlformats.org/drawingml/2006/main" noGrp="1"/>
          </p:cNvSpPr>
          <p:nvPr/>
        </p:nvSpPr>
        <p:spPr>
          <a:xfrm xmlns:a="http://schemas.openxmlformats.org/drawingml/2006/main">
            <a:off x="748665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r">
              <a:buNone/>
              <a:defRPr sz="750" b="1">
                <a:solidFill>
                  <a:srgbClr val="627086"/>
                </a:solidFill>
                <a:latin typeface="Arial"/>
                <a:ea typeface="Arial"/>
                <a:cs typeface="Arial"/>
              </a:defRPr>
            </a:pPr>
            <a:r>
              <a:rPr sz="750" b="1">
                <a:solidFill>
                  <a:srgbClr val="627086"/>
                </a:solidFill>
                <a:latin typeface="Arial"/>
                <a:ea typeface="Arial"/>
                <a:cs typeface="Arial"/>
              </a:rPr>
              <a:t>CONFIDENTIAL SYN BANK ACTIVITY + APPROVED PUBLIC E1 + GOVERNED PRIORS</a:t>
            </a:r>
          </a:p>
        </p:txBody>
      </p:sp>
      <p:sp>
        <p:nvSpPr>
          <p:cNvPr id="6" name="footer-page-2">
            <a:extLst xmlns:a="http://schemas.openxmlformats.org/drawingml/2006/main">
              <a:ext uri="{FF2B5EF4-FFF2-40B4-BE49-F238E27FC236}">
                <a16:creationId xmlns:a16="http://schemas.microsoft.com/office/drawing/2014/main" id="{A07A547B-4E8C-44EF-AE09-2FFE72F9A2FB}"/>
              </a:ext>
            </a:extLst>
          </p:cNvPr>
          <p:cNvSpPr>
            <a:spLocks xmlns:a="http://schemas.openxmlformats.org/drawingml/2006/main" noGrp="1"/>
          </p:cNvSpPr>
          <p:nvPr/>
        </p:nvSpPr>
        <p:spPr>
          <a:xfrm xmlns:a="http://schemas.openxmlformats.org/drawingml/2006/main">
            <a:off x="11287125" y="6486525"/>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buNone/>
              <a:defRPr sz="825" b="1">
                <a:solidFill>
                  <a:srgbClr val="627086"/>
                </a:solidFill>
                <a:latin typeface="Arial"/>
                <a:ea typeface="Arial"/>
                <a:cs typeface="Arial"/>
              </a:defRPr>
            </a:pPr>
            <a:r>
              <a:rPr sz="825" b="1">
                <a:solidFill>
                  <a:srgbClr val="627086"/>
                </a:solidFill>
                <a:latin typeface="Arial"/>
                <a:ea typeface="Arial"/>
                <a:cs typeface="Arial"/>
              </a:rPr>
              <a:t>02</a:t>
            </a:r>
          </a:p>
        </p:txBody>
      </p:sp>
      <p:sp>
        <p:nvSpPr>
          <p:cNvPr id="7" name="s2-thesis">
            <a:extLst xmlns:a="http://schemas.openxmlformats.org/drawingml/2006/main">
              <a:ext uri="{FF2B5EF4-FFF2-40B4-BE49-F238E27FC236}">
                <a16:creationId xmlns:a16="http://schemas.microsoft.com/office/drawing/2014/main" id="{47D43FC0-08B4-40E1-888D-855DA2F4632F}"/>
              </a:ext>
            </a:extLst>
          </p:cNvPr>
          <p:cNvSpPr>
            <a:spLocks xmlns:a="http://schemas.openxmlformats.org/drawingml/2006/main" noGrp="1"/>
          </p:cNvSpPr>
          <p:nvPr/>
        </p:nvSpPr>
        <p:spPr>
          <a:xfrm xmlns:a="http://schemas.openxmlformats.org/drawingml/2006/main">
            <a:off x="609600" y="1724025"/>
            <a:ext cx="461962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260"/>
          </a:bodyPr>
          <a:lstStyle xmlns:a="http://schemas.openxmlformats.org/drawingml/2006/main"/>
          <a:p xmlns:a="http://schemas.openxmlformats.org/drawingml/2006/main">
            <a:pPr algn="l">
              <a:buNone/>
              <a:defRPr sz="1800" b="0">
                <a:solidFill>
                  <a:srgbClr val="0C1728"/>
                </a:solidFill>
                <a:latin typeface="Arial"/>
                <a:ea typeface="Arial"/>
                <a:cs typeface="Arial"/>
              </a:defRPr>
            </a:pPr>
            <a:r>
              <a:rPr sz="1800" b="0">
                <a:solidFill>
                  <a:srgbClr val="0C1728"/>
                </a:solidFill>
                <a:latin typeface="Arial"/>
                <a:ea typeface="Arial"/>
                <a:cs typeface="Arial"/>
              </a:rPr>
              <a:t>Syn Bank observes A—its own client–product activity. Total wallet T and bank share q remain latent. The identity A=qT admits many answers, so V3.2 reports bounds and posterior intervals rather than false precision.</a:t>
            </a:r>
          </a:p>
        </p:txBody>
      </p:sp>
      <p:sp>
        <p:nvSpPr>
          <p:cNvPr id="8" name="s2-equation">
            <a:extLst xmlns:a="http://schemas.openxmlformats.org/drawingml/2006/main">
              <a:ext uri="{FF2B5EF4-FFF2-40B4-BE49-F238E27FC236}">
                <a16:creationId xmlns:a16="http://schemas.microsoft.com/office/drawing/2014/main" id="{6F9F0706-B21E-4CDA-A239-1EE444A076A9}"/>
              </a:ext>
            </a:extLst>
          </p:cNvPr>
          <p:cNvSpPr>
            <a:spLocks xmlns:a="http://schemas.openxmlformats.org/drawingml/2006/main" noGrp="1"/>
          </p:cNvSpPr>
          <p:nvPr/>
        </p:nvSpPr>
        <p:spPr>
          <a:xfrm xmlns:a="http://schemas.openxmlformats.org/drawingml/2006/main">
            <a:off x="5791200" y="1676400"/>
            <a:ext cx="5791200" cy="2133600"/>
          </a:xfrm>
          <a:prstGeom xmlns:a="http://schemas.openxmlformats.org/drawingml/2006/main" prst="rect">
            <a:avLst/>
          </a:prstGeom>
          <a:solidFill xmlns:a="http://schemas.openxmlformats.org/drawingml/2006/main">
            <a:srgbClr val="071321"/>
          </a:solidFill>
          <a:ln xmlns:a="http://schemas.openxmlformats.org/drawingml/2006/main" w="0">
            <a:noFill/>
            <a:prstDash val="solid"/>
          </a:ln>
        </p:spPr>
      </p:sp>
      <p:sp>
        <p:nvSpPr>
          <p:cNvPr id="9" name="s2-A">
            <a:extLst xmlns:a="http://schemas.openxmlformats.org/drawingml/2006/main">
              <a:ext uri="{FF2B5EF4-FFF2-40B4-BE49-F238E27FC236}">
                <a16:creationId xmlns:a16="http://schemas.microsoft.com/office/drawing/2014/main" id="{38359821-6270-4872-8540-AA4F2549B9E0}"/>
              </a:ext>
            </a:extLst>
          </p:cNvPr>
          <p:cNvSpPr>
            <a:spLocks xmlns:a="http://schemas.openxmlformats.org/drawingml/2006/main" noGrp="1"/>
          </p:cNvSpPr>
          <p:nvPr/>
        </p:nvSpPr>
        <p:spPr>
          <a:xfrm xmlns:a="http://schemas.openxmlformats.org/drawingml/2006/main">
            <a:off x="6191250" y="2076450"/>
            <a:ext cx="95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24"/>
          </a:bodyPr>
          <a:lstStyle xmlns:a="http://schemas.openxmlformats.org/drawingml/2006/main"/>
          <a:p xmlns:a="http://schemas.openxmlformats.org/drawingml/2006/main">
            <a:pPr algn="ctr">
              <a:buNone/>
              <a:defRPr sz="4650" b="1">
                <a:solidFill>
                  <a:srgbClr val="FFFFFF"/>
                </a:solidFill>
                <a:latin typeface="Arial"/>
                <a:ea typeface="Arial"/>
                <a:cs typeface="Arial"/>
              </a:defRPr>
            </a:pPr>
            <a:r>
              <a:rPr sz="4650" b="1">
                <a:solidFill>
                  <a:srgbClr val="FFFFFF"/>
                </a:solidFill>
                <a:latin typeface="Arial"/>
                <a:ea typeface="Arial"/>
                <a:cs typeface="Arial"/>
              </a:rPr>
              <a:t>A</a:t>
            </a:r>
          </a:p>
        </p:txBody>
      </p:sp>
      <p:sp>
        <p:nvSpPr>
          <p:cNvPr id="10" name="s2-eq">
            <a:extLst xmlns:a="http://schemas.openxmlformats.org/drawingml/2006/main">
              <a:ext uri="{FF2B5EF4-FFF2-40B4-BE49-F238E27FC236}">
                <a16:creationId xmlns:a16="http://schemas.microsoft.com/office/drawing/2014/main" id="{D8AC3B78-AEA0-419D-A794-BC4D82DCBEA7}"/>
              </a:ext>
            </a:extLst>
          </p:cNvPr>
          <p:cNvSpPr>
            <a:spLocks xmlns:a="http://schemas.openxmlformats.org/drawingml/2006/main" noGrp="1"/>
          </p:cNvSpPr>
          <p:nvPr/>
        </p:nvSpPr>
        <p:spPr>
          <a:xfrm xmlns:a="http://schemas.openxmlformats.org/drawingml/2006/main">
            <a:off x="7277100" y="220980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3150" b="1">
                <a:solidFill>
                  <a:srgbClr val="7CB6FF"/>
                </a:solidFill>
                <a:latin typeface="Arial"/>
                <a:ea typeface="Arial"/>
                <a:cs typeface="Arial"/>
              </a:defRPr>
            </a:pPr>
            <a:r>
              <a:rPr sz="3150" b="1">
                <a:solidFill>
                  <a:srgbClr val="7CB6FF"/>
                </a:solidFill>
                <a:latin typeface="Arial"/>
                <a:ea typeface="Arial"/>
                <a:cs typeface="Arial"/>
              </a:rPr>
              <a:t>=</a:t>
            </a:r>
          </a:p>
        </p:txBody>
      </p:sp>
      <p:sp>
        <p:nvSpPr>
          <p:cNvPr id="11" name="s2-q">
            <a:extLst xmlns:a="http://schemas.openxmlformats.org/drawingml/2006/main">
              <a:ext uri="{FF2B5EF4-FFF2-40B4-BE49-F238E27FC236}">
                <a16:creationId xmlns:a16="http://schemas.microsoft.com/office/drawing/2014/main" id="{F13A2AFA-BCB8-42AF-9106-2F3003D763D4}"/>
              </a:ext>
            </a:extLst>
          </p:cNvPr>
          <p:cNvSpPr>
            <a:spLocks xmlns:a="http://schemas.openxmlformats.org/drawingml/2006/main" noGrp="1"/>
          </p:cNvSpPr>
          <p:nvPr/>
        </p:nvSpPr>
        <p:spPr>
          <a:xfrm xmlns:a="http://schemas.openxmlformats.org/drawingml/2006/main">
            <a:off x="7953375" y="2076450"/>
            <a:ext cx="95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24"/>
          </a:bodyPr>
          <a:lstStyle xmlns:a="http://schemas.openxmlformats.org/drawingml/2006/main"/>
          <a:p xmlns:a="http://schemas.openxmlformats.org/drawingml/2006/main">
            <a:pPr algn="ctr">
              <a:buNone/>
              <a:defRPr sz="4650" b="1">
                <a:solidFill>
                  <a:srgbClr val="FFFFFF"/>
                </a:solidFill>
                <a:latin typeface="Arial"/>
                <a:ea typeface="Arial"/>
                <a:cs typeface="Arial"/>
              </a:defRPr>
            </a:pPr>
            <a:r>
              <a:rPr sz="4650" b="1">
                <a:solidFill>
                  <a:srgbClr val="FFFFFF"/>
                </a:solidFill>
                <a:latin typeface="Arial"/>
                <a:ea typeface="Arial"/>
                <a:cs typeface="Arial"/>
              </a:rPr>
              <a:t>q</a:t>
            </a:r>
          </a:p>
        </p:txBody>
      </p:sp>
      <p:sp>
        <p:nvSpPr>
          <p:cNvPr id="12" name="s2-x">
            <a:extLst xmlns:a="http://schemas.openxmlformats.org/drawingml/2006/main">
              <a:ext uri="{FF2B5EF4-FFF2-40B4-BE49-F238E27FC236}">
                <a16:creationId xmlns:a16="http://schemas.microsoft.com/office/drawing/2014/main" id="{518F35E6-C754-4786-9DE4-B5DEF875F909}"/>
              </a:ext>
            </a:extLst>
          </p:cNvPr>
          <p:cNvSpPr>
            <a:spLocks xmlns:a="http://schemas.openxmlformats.org/drawingml/2006/main" noGrp="1"/>
          </p:cNvSpPr>
          <p:nvPr/>
        </p:nvSpPr>
        <p:spPr>
          <a:xfrm xmlns:a="http://schemas.openxmlformats.org/drawingml/2006/main">
            <a:off x="9039225" y="220980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3150" b="1">
                <a:solidFill>
                  <a:srgbClr val="7CB6FF"/>
                </a:solidFill>
                <a:latin typeface="Arial"/>
                <a:ea typeface="Arial"/>
                <a:cs typeface="Arial"/>
              </a:defRPr>
            </a:pPr>
            <a:r>
              <a:rPr sz="3150" b="1">
                <a:solidFill>
                  <a:srgbClr val="7CB6FF"/>
                </a:solidFill>
                <a:latin typeface="Arial"/>
                <a:ea typeface="Arial"/>
                <a:cs typeface="Arial"/>
              </a:rPr>
              <a:t>x</a:t>
            </a:r>
          </a:p>
        </p:txBody>
      </p:sp>
      <p:sp>
        <p:nvSpPr>
          <p:cNvPr id="13" name="s2-T">
            <a:extLst xmlns:a="http://schemas.openxmlformats.org/drawingml/2006/main">
              <a:ext uri="{FF2B5EF4-FFF2-40B4-BE49-F238E27FC236}">
                <a16:creationId xmlns:a16="http://schemas.microsoft.com/office/drawing/2014/main" id="{46CFB887-2BCF-48E6-8A42-B5FF97D79F4C}"/>
              </a:ext>
            </a:extLst>
          </p:cNvPr>
          <p:cNvSpPr>
            <a:spLocks xmlns:a="http://schemas.openxmlformats.org/drawingml/2006/main" noGrp="1"/>
          </p:cNvSpPr>
          <p:nvPr/>
        </p:nvSpPr>
        <p:spPr>
          <a:xfrm xmlns:a="http://schemas.openxmlformats.org/drawingml/2006/main">
            <a:off x="9725025" y="2076450"/>
            <a:ext cx="95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24"/>
          </a:bodyPr>
          <a:lstStyle xmlns:a="http://schemas.openxmlformats.org/drawingml/2006/main"/>
          <a:p xmlns:a="http://schemas.openxmlformats.org/drawingml/2006/main">
            <a:pPr algn="ctr">
              <a:buNone/>
              <a:defRPr sz="4650" b="1">
                <a:solidFill>
                  <a:srgbClr val="FFFFFF"/>
                </a:solidFill>
                <a:latin typeface="Arial"/>
                <a:ea typeface="Arial"/>
                <a:cs typeface="Arial"/>
              </a:defRPr>
            </a:pPr>
            <a:r>
              <a:rPr sz="4650" b="1">
                <a:solidFill>
                  <a:srgbClr val="FFFFFF"/>
                </a:solidFill>
                <a:latin typeface="Arial"/>
                <a:ea typeface="Arial"/>
                <a:cs typeface="Arial"/>
              </a:rPr>
              <a:t>T</a:t>
            </a:r>
          </a:p>
        </p:txBody>
      </p:sp>
      <p:sp>
        <p:nvSpPr>
          <p:cNvPr id="14" name="s2-label-A">
            <a:extLst xmlns:a="http://schemas.openxmlformats.org/drawingml/2006/main">
              <a:ext uri="{FF2B5EF4-FFF2-40B4-BE49-F238E27FC236}">
                <a16:creationId xmlns:a16="http://schemas.microsoft.com/office/drawing/2014/main" id="{9AA4D1F1-D043-4100-9C7F-35BF93A32F13}"/>
              </a:ext>
            </a:extLst>
          </p:cNvPr>
          <p:cNvSpPr>
            <a:spLocks xmlns:a="http://schemas.openxmlformats.org/drawingml/2006/main" noGrp="1"/>
          </p:cNvSpPr>
          <p:nvPr/>
        </p:nvSpPr>
        <p:spPr>
          <a:xfrm xmlns:a="http://schemas.openxmlformats.org/drawingml/2006/main">
            <a:off x="6153150" y="296227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ctr">
              <a:buNone/>
              <a:defRPr sz="1200" b="0">
                <a:solidFill>
                  <a:srgbClr val="AFC0D4"/>
                </a:solidFill>
                <a:latin typeface="Arial"/>
                <a:ea typeface="Arial"/>
                <a:cs typeface="Arial"/>
              </a:defRPr>
            </a:pPr>
            <a:r>
              <a:rPr sz="1200" b="0">
                <a:solidFill>
                  <a:srgbClr val="AFC0D4"/>
                </a:solidFill>
                <a:latin typeface="Arial"/>
                <a:ea typeface="Arial"/>
                <a:cs typeface="Arial"/>
              </a:rPr>
              <a:t>observed</a:t>
            </a:r>
          </a:p>
        </p:txBody>
      </p:sp>
      <p:sp>
        <p:nvSpPr>
          <p:cNvPr id="15" name="s2-label-q">
            <a:extLst xmlns:a="http://schemas.openxmlformats.org/drawingml/2006/main">
              <a:ext uri="{FF2B5EF4-FFF2-40B4-BE49-F238E27FC236}">
                <a16:creationId xmlns:a16="http://schemas.microsoft.com/office/drawing/2014/main" id="{03FB0707-1E0F-4600-AE77-A57526FD0605}"/>
              </a:ext>
            </a:extLst>
          </p:cNvPr>
          <p:cNvSpPr>
            <a:spLocks xmlns:a="http://schemas.openxmlformats.org/drawingml/2006/main" noGrp="1"/>
          </p:cNvSpPr>
          <p:nvPr/>
        </p:nvSpPr>
        <p:spPr>
          <a:xfrm xmlns:a="http://schemas.openxmlformats.org/drawingml/2006/main">
            <a:off x="7858125" y="29622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ctr">
              <a:buNone/>
              <a:defRPr sz="1200" b="0">
                <a:solidFill>
                  <a:srgbClr val="AFC0D4"/>
                </a:solidFill>
                <a:latin typeface="Arial"/>
                <a:ea typeface="Arial"/>
                <a:cs typeface="Arial"/>
              </a:defRPr>
            </a:pPr>
            <a:r>
              <a:rPr sz="1200" b="0">
                <a:solidFill>
                  <a:srgbClr val="AFC0D4"/>
                </a:solidFill>
                <a:latin typeface="Arial"/>
                <a:ea typeface="Arial"/>
                <a:cs typeface="Arial"/>
              </a:rPr>
              <a:t>bank share</a:t>
            </a:r>
          </a:p>
        </p:txBody>
      </p:sp>
      <p:sp>
        <p:nvSpPr>
          <p:cNvPr id="16" name="s2-label-T">
            <a:extLst xmlns:a="http://schemas.openxmlformats.org/drawingml/2006/main">
              <a:ext uri="{FF2B5EF4-FFF2-40B4-BE49-F238E27FC236}">
                <a16:creationId xmlns:a16="http://schemas.microsoft.com/office/drawing/2014/main" id="{99AC1A7C-0579-47AC-8EA2-60DE164E71B6}"/>
              </a:ext>
            </a:extLst>
          </p:cNvPr>
          <p:cNvSpPr>
            <a:spLocks xmlns:a="http://schemas.openxmlformats.org/drawingml/2006/main" noGrp="1"/>
          </p:cNvSpPr>
          <p:nvPr/>
        </p:nvSpPr>
        <p:spPr>
          <a:xfrm xmlns:a="http://schemas.openxmlformats.org/drawingml/2006/main">
            <a:off x="9572625" y="296227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ctr">
              <a:buNone/>
              <a:defRPr sz="1200" b="0">
                <a:solidFill>
                  <a:srgbClr val="AFC0D4"/>
                </a:solidFill>
                <a:latin typeface="Arial"/>
                <a:ea typeface="Arial"/>
                <a:cs typeface="Arial"/>
              </a:defRPr>
            </a:pPr>
            <a:r>
              <a:rPr sz="1200" b="0">
                <a:solidFill>
                  <a:srgbClr val="AFC0D4"/>
                </a:solidFill>
                <a:latin typeface="Arial"/>
                <a:ea typeface="Arial"/>
                <a:cs typeface="Arial"/>
              </a:rPr>
              <a:t>total wallet</a:t>
            </a:r>
          </a:p>
        </p:txBody>
      </p:sp>
      <p:sp>
        <p:nvSpPr>
          <p:cNvPr id="17" name="s2-answer">
            <a:extLst xmlns:a="http://schemas.openxmlformats.org/drawingml/2006/main">
              <a:ext uri="{FF2B5EF4-FFF2-40B4-BE49-F238E27FC236}">
                <a16:creationId xmlns:a16="http://schemas.microsoft.com/office/drawing/2014/main" id="{ABFE57E7-66ED-4A3B-A8D3-E848F2630BD0}"/>
              </a:ext>
            </a:extLst>
          </p:cNvPr>
          <p:cNvSpPr>
            <a:spLocks xmlns:a="http://schemas.openxmlformats.org/drawingml/2006/main" noGrp="1"/>
          </p:cNvSpPr>
          <p:nvPr/>
        </p:nvSpPr>
        <p:spPr>
          <a:xfrm xmlns:a="http://schemas.openxmlformats.org/drawingml/2006/main">
            <a:off x="609600" y="3286125"/>
            <a:ext cx="466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4494"/>
          </a:bodyPr>
          <a:lstStyle xmlns:a="http://schemas.openxmlformats.org/drawingml/2006/main"/>
          <a:p xmlns:a="http://schemas.openxmlformats.org/drawingml/2006/main">
            <a:pPr algn="l">
              <a:buNone/>
              <a:defRPr sz="2025" b="1">
                <a:solidFill>
                  <a:srgbClr val="0C1728"/>
                </a:solidFill>
                <a:latin typeface="Arial"/>
                <a:ea typeface="Arial"/>
                <a:cs typeface="Arial"/>
              </a:defRPr>
            </a:pPr>
            <a:r>
              <a:rPr sz="2025" b="1">
                <a:solidFill>
                  <a:srgbClr val="0C1728"/>
                </a:solidFill>
                <a:latin typeface="Arial"/>
                <a:ea typeface="Arial"/>
                <a:cs typeface="Arial"/>
              </a:rPr>
              <a:t>The claim ladder keeps evidence, inference and economics distinct</a:t>
            </a:r>
          </a:p>
        </p:txBody>
      </p:sp>
      <p:cxnSp>
        <p:nvCxnSpPr>
          <p:cNvPr id="142" name="s2-claim-rule-0"/>
          <p:cNvCxnSpPr/>
          <p:nvPr/>
        </p:nvCxnSpPr>
        <p:spPr>
          <a:xfrm xmlns:a="http://schemas.openxmlformats.org/drawingml/2006/main">
            <a:off x="609600" y="4457700"/>
            <a:ext cx="1866900" cy="0"/>
          </a:xfrm>
          <a:prstGeom xmlns:a="http://schemas.openxmlformats.org/drawingml/2006/main" prst="straightConnector1">
            <a:avLst/>
          </a:prstGeom>
          <a:ln xmlns:a="http://schemas.openxmlformats.org/drawingml/2006/main" w="38100">
            <a:solidFill>
              <a:srgbClr val="008B83"/>
            </a:solidFill>
            <a:prstDash val="solid"/>
          </a:ln>
        </p:spPr>
      </p:cxnSp>
      <p:sp>
        <p:nvSpPr>
          <p:cNvPr id="19" name="s2-claim-0">
            <a:extLst xmlns:a="http://schemas.openxmlformats.org/drawingml/2006/main">
              <a:ext uri="{FF2B5EF4-FFF2-40B4-BE49-F238E27FC236}">
                <a16:creationId xmlns:a16="http://schemas.microsoft.com/office/drawing/2014/main" id="{CFBB6198-18CB-432E-A0C6-8CDE8095ECA2}"/>
              </a:ext>
            </a:extLst>
          </p:cNvPr>
          <p:cNvSpPr>
            <a:spLocks xmlns:a="http://schemas.openxmlformats.org/drawingml/2006/main" noGrp="1"/>
          </p:cNvSpPr>
          <p:nvPr/>
        </p:nvSpPr>
        <p:spPr>
          <a:xfrm xmlns:a="http://schemas.openxmlformats.org/drawingml/2006/main">
            <a:off x="609600" y="4667250"/>
            <a:ext cx="1866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08B83"/>
                </a:solidFill>
                <a:latin typeface="Arial"/>
                <a:ea typeface="Arial"/>
                <a:cs typeface="Arial"/>
              </a:defRPr>
            </a:pPr>
            <a:r>
              <a:rPr sz="975" b="1">
                <a:solidFill>
                  <a:srgbClr val="008B83"/>
                </a:solidFill>
                <a:latin typeface="Arial"/>
                <a:ea typeface="Arial"/>
                <a:cs typeface="Arial"/>
              </a:rPr>
              <a:t>OBSERVED</a:t>
            </a:r>
          </a:p>
        </p:txBody>
      </p:sp>
      <p:sp>
        <p:nvSpPr>
          <p:cNvPr id="20" name="s2-claim-copy-0">
            <a:extLst xmlns:a="http://schemas.openxmlformats.org/drawingml/2006/main">
              <a:ext uri="{FF2B5EF4-FFF2-40B4-BE49-F238E27FC236}">
                <a16:creationId xmlns:a16="http://schemas.microsoft.com/office/drawing/2014/main" id="{4E0EF1F7-780E-4EDA-82FD-9CA53E0A6127}"/>
              </a:ext>
            </a:extLst>
          </p:cNvPr>
          <p:cNvSpPr>
            <a:spLocks xmlns:a="http://schemas.openxmlformats.org/drawingml/2006/main" noGrp="1"/>
          </p:cNvSpPr>
          <p:nvPr/>
        </p:nvSpPr>
        <p:spPr>
          <a:xfrm xmlns:a="http://schemas.openxmlformats.org/drawingml/2006/main">
            <a:off x="609600" y="5010150"/>
            <a:ext cx="1866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0C1728"/>
                </a:solidFill>
                <a:latin typeface="Arial"/>
                <a:ea typeface="Arial"/>
                <a:cs typeface="Arial"/>
              </a:defRPr>
            </a:pPr>
            <a:r>
              <a:rPr sz="1350" b="1">
                <a:solidFill>
                  <a:srgbClr val="0C1728"/>
                </a:solidFill>
                <a:latin typeface="Arial"/>
                <a:ea typeface="Arial"/>
                <a:cs typeface="Arial"/>
              </a:rPr>
              <a:t>Syn Bank activity</a:t>
            </a:r>
          </a:p>
        </p:txBody>
      </p:sp>
      <p:cxnSp>
        <p:nvCxnSpPr>
          <p:cNvPr id="145" name="s2-claim-rule-1"/>
          <p:cNvCxnSpPr/>
          <p:nvPr/>
        </p:nvCxnSpPr>
        <p:spPr>
          <a:xfrm xmlns:a="http://schemas.openxmlformats.org/drawingml/2006/main">
            <a:off x="2800350" y="4457700"/>
            <a:ext cx="1866900" cy="0"/>
          </a:xfrm>
          <a:prstGeom xmlns:a="http://schemas.openxmlformats.org/drawingml/2006/main" prst="straightConnector1">
            <a:avLst/>
          </a:prstGeom>
          <a:ln xmlns:a="http://schemas.openxmlformats.org/drawingml/2006/main" w="38100">
            <a:solidFill>
              <a:srgbClr val="0B63E5"/>
            </a:solidFill>
            <a:prstDash val="solid"/>
          </a:ln>
        </p:spPr>
      </p:cxnSp>
      <p:sp>
        <p:nvSpPr>
          <p:cNvPr id="22" name="s2-claim-1">
            <a:extLst xmlns:a="http://schemas.openxmlformats.org/drawingml/2006/main">
              <a:ext uri="{FF2B5EF4-FFF2-40B4-BE49-F238E27FC236}">
                <a16:creationId xmlns:a16="http://schemas.microsoft.com/office/drawing/2014/main" id="{5477DAEB-1D1D-43B8-BD64-B21B8BCC965E}"/>
              </a:ext>
            </a:extLst>
          </p:cNvPr>
          <p:cNvSpPr>
            <a:spLocks xmlns:a="http://schemas.openxmlformats.org/drawingml/2006/main" noGrp="1"/>
          </p:cNvSpPr>
          <p:nvPr/>
        </p:nvSpPr>
        <p:spPr>
          <a:xfrm xmlns:a="http://schemas.openxmlformats.org/drawingml/2006/main">
            <a:off x="2800350" y="4667250"/>
            <a:ext cx="1866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B63E5"/>
                </a:solidFill>
                <a:latin typeface="Arial"/>
                <a:ea typeface="Arial"/>
                <a:cs typeface="Arial"/>
              </a:defRPr>
            </a:pPr>
            <a:r>
              <a:rPr sz="975" b="1">
                <a:solidFill>
                  <a:srgbClr val="0B63E5"/>
                </a:solidFill>
                <a:latin typeface="Arial"/>
                <a:ea typeface="Arial"/>
                <a:cs typeface="Arial"/>
              </a:rPr>
              <a:t>BOUND</a:t>
            </a:r>
          </a:p>
        </p:txBody>
      </p:sp>
      <p:sp>
        <p:nvSpPr>
          <p:cNvPr id="23" name="s2-claim-copy-1">
            <a:extLst xmlns:a="http://schemas.openxmlformats.org/drawingml/2006/main">
              <a:ext uri="{FF2B5EF4-FFF2-40B4-BE49-F238E27FC236}">
                <a16:creationId xmlns:a16="http://schemas.microsoft.com/office/drawing/2014/main" id="{97728A2D-6367-4E87-9EBA-AC505CD4673A}"/>
              </a:ext>
            </a:extLst>
          </p:cNvPr>
          <p:cNvSpPr>
            <a:spLocks xmlns:a="http://schemas.openxmlformats.org/drawingml/2006/main" noGrp="1"/>
          </p:cNvSpPr>
          <p:nvPr/>
        </p:nvSpPr>
        <p:spPr>
          <a:xfrm xmlns:a="http://schemas.openxmlformats.org/drawingml/2006/main">
            <a:off x="2800350" y="5010150"/>
            <a:ext cx="1866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0C1728"/>
                </a:solidFill>
                <a:latin typeface="Arial"/>
                <a:ea typeface="Arial"/>
                <a:cs typeface="Arial"/>
              </a:defRPr>
            </a:pPr>
            <a:r>
              <a:rPr sz="1350" b="1">
                <a:solidFill>
                  <a:srgbClr val="0C1728"/>
                </a:solidFill>
                <a:latin typeface="Arial"/>
                <a:ea typeface="Arial"/>
                <a:cs typeface="Arial"/>
              </a:rPr>
              <a:t>Identification interval</a:t>
            </a:r>
          </a:p>
        </p:txBody>
      </p:sp>
      <p:cxnSp>
        <p:nvCxnSpPr>
          <p:cNvPr id="148" name="s2-claim-rule-2"/>
          <p:cNvCxnSpPr/>
          <p:nvPr/>
        </p:nvCxnSpPr>
        <p:spPr>
          <a:xfrm xmlns:a="http://schemas.openxmlformats.org/drawingml/2006/main">
            <a:off x="4991100" y="4457700"/>
            <a:ext cx="1866900" cy="0"/>
          </a:xfrm>
          <a:prstGeom xmlns:a="http://schemas.openxmlformats.org/drawingml/2006/main" prst="straightConnector1">
            <a:avLst/>
          </a:prstGeom>
          <a:ln xmlns:a="http://schemas.openxmlformats.org/drawingml/2006/main" w="38100">
            <a:solidFill>
              <a:srgbClr val="7658D6"/>
            </a:solidFill>
            <a:prstDash val="solid"/>
          </a:ln>
        </p:spPr>
      </p:cxnSp>
      <p:sp>
        <p:nvSpPr>
          <p:cNvPr id="25" name="s2-claim-2">
            <a:extLst xmlns:a="http://schemas.openxmlformats.org/drawingml/2006/main">
              <a:ext uri="{FF2B5EF4-FFF2-40B4-BE49-F238E27FC236}">
                <a16:creationId xmlns:a16="http://schemas.microsoft.com/office/drawing/2014/main" id="{29BB9235-B4DB-4989-82C0-33C3C9BD1E11}"/>
              </a:ext>
            </a:extLst>
          </p:cNvPr>
          <p:cNvSpPr>
            <a:spLocks xmlns:a="http://schemas.openxmlformats.org/drawingml/2006/main" noGrp="1"/>
          </p:cNvSpPr>
          <p:nvPr/>
        </p:nvSpPr>
        <p:spPr>
          <a:xfrm xmlns:a="http://schemas.openxmlformats.org/drawingml/2006/main">
            <a:off x="4991100" y="4667250"/>
            <a:ext cx="1866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7658D6"/>
                </a:solidFill>
                <a:latin typeface="Arial"/>
                <a:ea typeface="Arial"/>
                <a:cs typeface="Arial"/>
              </a:defRPr>
            </a:pPr>
            <a:r>
              <a:rPr sz="975" b="1">
                <a:solidFill>
                  <a:srgbClr val="7658D6"/>
                </a:solidFill>
                <a:latin typeface="Arial"/>
                <a:ea typeface="Arial"/>
                <a:cs typeface="Arial"/>
              </a:rPr>
              <a:t>POSTERIOR</a:t>
            </a:r>
          </a:p>
        </p:txBody>
      </p:sp>
      <p:sp>
        <p:nvSpPr>
          <p:cNvPr id="26" name="s2-claim-copy-2">
            <a:extLst xmlns:a="http://schemas.openxmlformats.org/drawingml/2006/main">
              <a:ext uri="{FF2B5EF4-FFF2-40B4-BE49-F238E27FC236}">
                <a16:creationId xmlns:a16="http://schemas.microsoft.com/office/drawing/2014/main" id="{0E4F71E8-86F8-4651-A01C-FF745058CA64}"/>
              </a:ext>
            </a:extLst>
          </p:cNvPr>
          <p:cNvSpPr>
            <a:spLocks xmlns:a="http://schemas.openxmlformats.org/drawingml/2006/main" noGrp="1"/>
          </p:cNvSpPr>
          <p:nvPr/>
        </p:nvSpPr>
        <p:spPr>
          <a:xfrm xmlns:a="http://schemas.openxmlformats.org/drawingml/2006/main">
            <a:off x="4991100" y="5010150"/>
            <a:ext cx="1866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0C1728"/>
                </a:solidFill>
                <a:latin typeface="Arial"/>
                <a:ea typeface="Arial"/>
                <a:cs typeface="Arial"/>
              </a:defRPr>
            </a:pPr>
            <a:r>
              <a:rPr sz="1350" b="1">
                <a:solidFill>
                  <a:srgbClr val="0C1728"/>
                </a:solidFill>
                <a:latin typeface="Arial"/>
                <a:ea typeface="Arial"/>
                <a:cs typeface="Arial"/>
              </a:rPr>
              <a:t>Wallet + share distribution</a:t>
            </a:r>
          </a:p>
        </p:txBody>
      </p:sp>
      <p:cxnSp>
        <p:nvCxnSpPr>
          <p:cNvPr id="151" name="s2-claim-rule-3"/>
          <p:cNvCxnSpPr/>
          <p:nvPr/>
        </p:nvCxnSpPr>
        <p:spPr>
          <a:xfrm xmlns:a="http://schemas.openxmlformats.org/drawingml/2006/main">
            <a:off x="7181850" y="4457700"/>
            <a:ext cx="1866900" cy="0"/>
          </a:xfrm>
          <a:prstGeom xmlns:a="http://schemas.openxmlformats.org/drawingml/2006/main" prst="straightConnector1">
            <a:avLst/>
          </a:prstGeom>
          <a:ln xmlns:a="http://schemas.openxmlformats.org/drawingml/2006/main" w="38100">
            <a:solidFill>
              <a:srgbClr val="E2951C"/>
            </a:solidFill>
            <a:prstDash val="solid"/>
          </a:ln>
        </p:spPr>
      </p:cxnSp>
      <p:sp>
        <p:nvSpPr>
          <p:cNvPr id="28" name="s2-claim-3">
            <a:extLst xmlns:a="http://schemas.openxmlformats.org/drawingml/2006/main">
              <a:ext uri="{FF2B5EF4-FFF2-40B4-BE49-F238E27FC236}">
                <a16:creationId xmlns:a16="http://schemas.microsoft.com/office/drawing/2014/main" id="{2BB61529-5E21-40F7-960E-75551A841156}"/>
              </a:ext>
            </a:extLst>
          </p:cNvPr>
          <p:cNvSpPr>
            <a:spLocks xmlns:a="http://schemas.openxmlformats.org/drawingml/2006/main" noGrp="1"/>
          </p:cNvSpPr>
          <p:nvPr/>
        </p:nvSpPr>
        <p:spPr>
          <a:xfrm xmlns:a="http://schemas.openxmlformats.org/drawingml/2006/main">
            <a:off x="7181850" y="4667250"/>
            <a:ext cx="1866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E2951C"/>
                </a:solidFill>
                <a:latin typeface="Arial"/>
                <a:ea typeface="Arial"/>
                <a:cs typeface="Arial"/>
              </a:defRPr>
            </a:pPr>
            <a:r>
              <a:rPr sz="975" b="1">
                <a:solidFill>
                  <a:srgbClr val="E2951C"/>
                </a:solidFill>
                <a:latin typeface="Arial"/>
                <a:ea typeface="Arial"/>
                <a:cs typeface="Arial"/>
              </a:rPr>
              <a:t>SCENARIO</a:t>
            </a:r>
          </a:p>
        </p:txBody>
      </p:sp>
      <p:sp>
        <p:nvSpPr>
          <p:cNvPr id="29" name="s2-claim-copy-3">
            <a:extLst xmlns:a="http://schemas.openxmlformats.org/drawingml/2006/main">
              <a:ext uri="{FF2B5EF4-FFF2-40B4-BE49-F238E27FC236}">
                <a16:creationId xmlns:a16="http://schemas.microsoft.com/office/drawing/2014/main" id="{B9AFB1A5-90F1-470A-9955-8A626CE5E3CD}"/>
              </a:ext>
            </a:extLst>
          </p:cNvPr>
          <p:cNvSpPr>
            <a:spLocks xmlns:a="http://schemas.openxmlformats.org/drawingml/2006/main" noGrp="1"/>
          </p:cNvSpPr>
          <p:nvPr/>
        </p:nvSpPr>
        <p:spPr>
          <a:xfrm xmlns:a="http://schemas.openxmlformats.org/drawingml/2006/main">
            <a:off x="7181850" y="5010150"/>
            <a:ext cx="1866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0C1728"/>
                </a:solidFill>
                <a:latin typeface="Arial"/>
                <a:ea typeface="Arial"/>
                <a:cs typeface="Arial"/>
              </a:defRPr>
            </a:pPr>
            <a:r>
              <a:rPr sz="1350" b="1">
                <a:solidFill>
                  <a:srgbClr val="0C1728"/>
                </a:solidFill>
                <a:latin typeface="Arial"/>
                <a:ea typeface="Arial"/>
                <a:cs typeface="Arial"/>
              </a:rPr>
              <a:t>Target-share economics</a:t>
            </a:r>
          </a:p>
        </p:txBody>
      </p:sp>
      <p:cxnSp>
        <p:nvCxnSpPr>
          <p:cNvPr id="154" name="s2-claim-rule-4"/>
          <p:cNvCxnSpPr/>
          <p:nvPr/>
        </p:nvCxnSpPr>
        <p:spPr>
          <a:xfrm xmlns:a="http://schemas.openxmlformats.org/drawingml/2006/main">
            <a:off x="9372600" y="4457700"/>
            <a:ext cx="1866900" cy="0"/>
          </a:xfrm>
          <a:prstGeom xmlns:a="http://schemas.openxmlformats.org/drawingml/2006/main" prst="straightConnector1">
            <a:avLst/>
          </a:prstGeom>
          <a:ln xmlns:a="http://schemas.openxmlformats.org/drawingml/2006/main" w="38100">
            <a:solidFill>
              <a:srgbClr val="0C1728"/>
            </a:solidFill>
            <a:prstDash val="solid"/>
          </a:ln>
        </p:spPr>
      </p:cxnSp>
      <p:sp>
        <p:nvSpPr>
          <p:cNvPr id="31" name="s2-claim-4">
            <a:extLst xmlns:a="http://schemas.openxmlformats.org/drawingml/2006/main">
              <a:ext uri="{FF2B5EF4-FFF2-40B4-BE49-F238E27FC236}">
                <a16:creationId xmlns:a16="http://schemas.microsoft.com/office/drawing/2014/main" id="{82F0A2BD-E78C-4ADD-A11E-34E8838B33A1}"/>
              </a:ext>
            </a:extLst>
          </p:cNvPr>
          <p:cNvSpPr>
            <a:spLocks xmlns:a="http://schemas.openxmlformats.org/drawingml/2006/main" noGrp="1"/>
          </p:cNvSpPr>
          <p:nvPr/>
        </p:nvSpPr>
        <p:spPr>
          <a:xfrm xmlns:a="http://schemas.openxmlformats.org/drawingml/2006/main">
            <a:off x="9372600" y="4667250"/>
            <a:ext cx="1866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C1728"/>
                </a:solidFill>
                <a:latin typeface="Arial"/>
                <a:ea typeface="Arial"/>
                <a:cs typeface="Arial"/>
              </a:defRPr>
            </a:pPr>
            <a:r>
              <a:rPr sz="975" b="1">
                <a:solidFill>
                  <a:srgbClr val="0C1728"/>
                </a:solidFill>
                <a:latin typeface="Arial"/>
                <a:ea typeface="Arial"/>
                <a:cs typeface="Arial"/>
              </a:rPr>
              <a:t>CAUSAL</a:t>
            </a:r>
          </a:p>
        </p:txBody>
      </p:sp>
      <p:sp>
        <p:nvSpPr>
          <p:cNvPr id="32" name="s2-claim-copy-4">
            <a:extLst xmlns:a="http://schemas.openxmlformats.org/drawingml/2006/main">
              <a:ext uri="{FF2B5EF4-FFF2-40B4-BE49-F238E27FC236}">
                <a16:creationId xmlns:a16="http://schemas.microsoft.com/office/drawing/2014/main" id="{7FD44F59-515D-41A5-86B0-211979F277E8}"/>
              </a:ext>
            </a:extLst>
          </p:cNvPr>
          <p:cNvSpPr>
            <a:spLocks xmlns:a="http://schemas.openxmlformats.org/drawingml/2006/main" noGrp="1"/>
          </p:cNvSpPr>
          <p:nvPr/>
        </p:nvSpPr>
        <p:spPr>
          <a:xfrm xmlns:a="http://schemas.openxmlformats.org/drawingml/2006/main">
            <a:off x="9372600" y="5010150"/>
            <a:ext cx="1866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1">
                <a:solidFill>
                  <a:srgbClr val="0C1728"/>
                </a:solidFill>
                <a:latin typeface="Arial"/>
                <a:ea typeface="Arial"/>
                <a:cs typeface="Arial"/>
              </a:defRPr>
            </a:pPr>
            <a:r>
              <a:rPr sz="1350" b="1">
                <a:solidFill>
                  <a:srgbClr val="0C1728"/>
                </a:solidFill>
                <a:latin typeface="Arial"/>
                <a:ea typeface="Arial"/>
                <a:cs typeface="Arial"/>
              </a:rPr>
              <a:t>Only after a trial</a:t>
            </a:r>
          </a:p>
        </p:txBody>
      </p:sp>
      <p:sp>
        <p:nvSpPr>
          <p:cNvPr id="33" name="s2-proof">
            <a:extLst xmlns:a="http://schemas.openxmlformats.org/drawingml/2006/main">
              <a:ext uri="{FF2B5EF4-FFF2-40B4-BE49-F238E27FC236}">
                <a16:creationId xmlns:a16="http://schemas.microsoft.com/office/drawing/2014/main" id="{DD7DAA93-F096-44E8-86AE-03B53DA69995}"/>
              </a:ext>
            </a:extLst>
          </p:cNvPr>
          <p:cNvSpPr>
            <a:spLocks xmlns:a="http://schemas.openxmlformats.org/drawingml/2006/main" noGrp="1"/>
          </p:cNvSpPr>
          <p:nvPr/>
        </p:nvSpPr>
        <p:spPr>
          <a:xfrm xmlns:a="http://schemas.openxmlformats.org/drawingml/2006/main">
            <a:off x="609600" y="5791200"/>
            <a:ext cx="10972800" cy="40005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34" name="s2-proof-text">
            <a:extLst xmlns:a="http://schemas.openxmlformats.org/drawingml/2006/main">
              <a:ext uri="{FF2B5EF4-FFF2-40B4-BE49-F238E27FC236}">
                <a16:creationId xmlns:a16="http://schemas.microsoft.com/office/drawing/2014/main" id="{95C5FA8B-5202-408D-8E17-616AD8A81B0D}"/>
              </a:ext>
            </a:extLst>
          </p:cNvPr>
          <p:cNvSpPr>
            <a:spLocks xmlns:a="http://schemas.openxmlformats.org/drawingml/2006/main" noGrp="1"/>
          </p:cNvSpPr>
          <p:nvPr/>
        </p:nvSpPr>
        <p:spPr>
          <a:xfrm xmlns:a="http://schemas.openxmlformats.org/drawingml/2006/main">
            <a:off x="800100" y="5895975"/>
            <a:ext cx="1057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0784"/>
          </a:bodyPr>
          <a:lstStyle xmlns:a="http://schemas.openxmlformats.org/drawingml/2006/main"/>
          <a:p xmlns:a="http://schemas.openxmlformats.org/drawingml/2006/main">
            <a:pPr algn="l">
              <a:buNone/>
              <a:defRPr sz="1275" b="1">
                <a:solidFill>
                  <a:srgbClr val="0B63E5"/>
                </a:solidFill>
                <a:latin typeface="Arial"/>
                <a:ea typeface="Arial"/>
                <a:cs typeface="Arial"/>
              </a:defRPr>
            </a:pPr>
            <a:r>
              <a:rPr sz="1275" b="1">
                <a:solidFill>
                  <a:srgbClr val="0B63E5"/>
                </a:solidFill>
                <a:latin typeface="Arial"/>
                <a:ea typeface="Arial"/>
                <a:cs typeface="Arial"/>
              </a:rPr>
              <a:t>Observed ≠ inferred ≠ scenario ≠ causal. Measured competitor share and causal incremental value remain prohibited without E3 observations and a qualified trial.</a:t>
            </a:r>
          </a:p>
        </p:txBody>
      </p:sp>
    </p:spTree>
    <p:extLst>
      <p:ext uri="{BB962C8B-B14F-4D97-AF65-F5344CB8AC3E}">
        <p14:creationId xmlns:p14="http://schemas.microsoft.com/office/powerpoint/2010/main" val="6606028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2" name="eyebrow-4">
            <a:extLst xmlns:a="http://schemas.openxmlformats.org/drawingml/2006/main">
              <a:ext uri="{FF2B5EF4-FFF2-40B4-BE49-F238E27FC236}">
                <a16:creationId xmlns:a16="http://schemas.microsoft.com/office/drawing/2014/main" id="{64B46C33-7E2D-4B8B-A4D3-B62F85711C1A}"/>
              </a:ext>
            </a:extLst>
          </p:cNvPr>
          <p:cNvSpPr>
            <a:spLocks xmlns:a="http://schemas.openxmlformats.org/drawingml/2006/main" noGrp="1"/>
          </p:cNvSpPr>
          <p:nvPr/>
        </p:nvSpPr>
        <p:spPr>
          <a:xfrm xmlns:a="http://schemas.openxmlformats.org/drawingml/2006/main">
            <a:off x="609600" y="3238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B63E5"/>
                </a:solidFill>
                <a:latin typeface="Arial"/>
                <a:ea typeface="Arial"/>
                <a:cs typeface="Arial"/>
              </a:defRPr>
            </a:pPr>
            <a:r>
              <a:rPr sz="975" b="1">
                <a:solidFill>
                  <a:srgbClr val="0B63E5"/>
                </a:solidFill>
                <a:latin typeface="Arial"/>
                <a:ea typeface="Arial"/>
                <a:cs typeface="Arial"/>
              </a:rPr>
              <a:t>SUPPLIED DATA → FIVE PRODUCT LENSES</a:t>
            </a:r>
          </a:p>
        </p:txBody>
      </p:sp>
      <p:sp>
        <p:nvSpPr>
          <p:cNvPr id="2" name="title-4">
            <a:extLst xmlns:a="http://schemas.openxmlformats.org/drawingml/2006/main">
              <a:ext uri="{FF2B5EF4-FFF2-40B4-BE49-F238E27FC236}">
                <a16:creationId xmlns:a16="http://schemas.microsoft.com/office/drawing/2014/main" id="{F98F7544-F60F-4A45-A9C7-0AF14E4CA758}"/>
              </a:ext>
            </a:extLst>
          </p:cNvPr>
          <p:cNvSpPr>
            <a:spLocks xmlns:a="http://schemas.openxmlformats.org/drawingml/2006/main" noGrp="1"/>
          </p:cNvSpPr>
          <p:nvPr/>
        </p:nvSpPr>
        <p:spPr>
          <a:xfrm xmlns:a="http://schemas.openxmlformats.org/drawingml/2006/main">
            <a:off x="609600" y="6572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buNone/>
              <a:defRPr sz="3150" b="1">
                <a:solidFill>
                  <a:srgbClr val="0C1728"/>
                </a:solidFill>
                <a:latin typeface="Arial"/>
                <a:ea typeface="Arial"/>
                <a:cs typeface="Arial"/>
              </a:defRPr>
            </a:pPr>
            <a:r>
              <a:rPr sz="3150" b="1">
                <a:solidFill>
                  <a:srgbClr val="0C1728"/>
                </a:solidFill>
                <a:latin typeface="Arial"/>
                <a:ea typeface="Arial"/>
                <a:cs typeface="Arial"/>
              </a:rPr>
              <a:t>Every supplied relationship is modelled</a:t>
            </a:r>
          </a:p>
        </p:txBody>
      </p:sp>
      <p:cxnSp>
        <p:nvCxnSpPr>
          <p:cNvPr id="82" name="title-rule-4"/>
          <p:cNvCxnSpPr/>
          <p:nvPr/>
        </p:nvCxnSpPr>
        <p:spPr>
          <a:xfrm xmlns:a="http://schemas.openxmlformats.org/drawingml/2006/main">
            <a:off x="609600" y="1381125"/>
            <a:ext cx="10972800" cy="0"/>
          </a:xfrm>
          <a:prstGeom xmlns:a="http://schemas.openxmlformats.org/drawingml/2006/main" prst="straightConnector1">
            <a:avLst/>
          </a:prstGeom>
          <a:ln xmlns:a="http://schemas.openxmlformats.org/drawingml/2006/main" w="9525">
            <a:solidFill>
              <a:srgbClr val="D7DEE8"/>
            </a:solidFill>
            <a:prstDash val="solid"/>
          </a:ln>
        </p:spPr>
      </p:cxnSp>
      <p:sp>
        <p:nvSpPr>
          <p:cNvPr id="4" name="footer-team-4">
            <a:extLst xmlns:a="http://schemas.openxmlformats.org/drawingml/2006/main">
              <a:ext uri="{FF2B5EF4-FFF2-40B4-BE49-F238E27FC236}">
                <a16:creationId xmlns:a16="http://schemas.microsoft.com/office/drawing/2014/main" id="{77881365-1622-46A1-A7E3-12C1014842B7}"/>
              </a:ext>
            </a:extLst>
          </p:cNvPr>
          <p:cNvSpPr>
            <a:spLocks xmlns:a="http://schemas.openxmlformats.org/drawingml/2006/main" noGrp="1"/>
          </p:cNvSpPr>
          <p:nvPr/>
        </p:nvSpPr>
        <p:spPr>
          <a:xfrm xmlns:a="http://schemas.openxmlformats.org/drawingml/2006/main">
            <a:off x="609600" y="64865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27086"/>
                </a:solidFill>
                <a:latin typeface="Arial"/>
                <a:ea typeface="Arial"/>
                <a:cs typeface="Arial"/>
              </a:defRPr>
            </a:pPr>
            <a:r>
              <a:rPr sz="825" b="1">
                <a:solidFill>
                  <a:srgbClr val="627086"/>
                </a:solidFill>
                <a:latin typeface="Arial"/>
                <a:ea typeface="Arial"/>
                <a:cs typeface="Arial"/>
              </a:rPr>
              <a:t>TEAM: Corporate Wallet Digital Twin | Christopher Koen | V3.2.0</a:t>
            </a:r>
          </a:p>
        </p:txBody>
      </p:sp>
      <p:sp>
        <p:nvSpPr>
          <p:cNvPr id="5" name="footer-data-4">
            <a:extLst xmlns:a="http://schemas.openxmlformats.org/drawingml/2006/main">
              <a:ext uri="{FF2B5EF4-FFF2-40B4-BE49-F238E27FC236}">
                <a16:creationId xmlns:a16="http://schemas.microsoft.com/office/drawing/2014/main" id="{7A6A9EC5-91AC-45CF-BAD2-F226210E1E1F}"/>
              </a:ext>
            </a:extLst>
          </p:cNvPr>
          <p:cNvSpPr>
            <a:spLocks xmlns:a="http://schemas.openxmlformats.org/drawingml/2006/main" noGrp="1"/>
          </p:cNvSpPr>
          <p:nvPr/>
        </p:nvSpPr>
        <p:spPr>
          <a:xfrm xmlns:a="http://schemas.openxmlformats.org/drawingml/2006/main">
            <a:off x="748665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r">
              <a:buNone/>
              <a:defRPr sz="750" b="1">
                <a:solidFill>
                  <a:srgbClr val="627086"/>
                </a:solidFill>
                <a:latin typeface="Arial"/>
                <a:ea typeface="Arial"/>
                <a:cs typeface="Arial"/>
              </a:defRPr>
            </a:pPr>
            <a:r>
              <a:rPr sz="750" b="1">
                <a:solidFill>
                  <a:srgbClr val="627086"/>
                </a:solidFill>
                <a:latin typeface="Arial"/>
                <a:ea typeface="Arial"/>
                <a:cs typeface="Arial"/>
              </a:rPr>
              <a:t>CONFIDENTIAL SYN BANK ACTIVITY + APPROVED PUBLIC E1 + GOVERNED PRIORS</a:t>
            </a:r>
          </a:p>
        </p:txBody>
      </p:sp>
      <p:sp>
        <p:nvSpPr>
          <p:cNvPr id="6" name="footer-page-4">
            <a:extLst xmlns:a="http://schemas.openxmlformats.org/drawingml/2006/main">
              <a:ext uri="{FF2B5EF4-FFF2-40B4-BE49-F238E27FC236}">
                <a16:creationId xmlns:a16="http://schemas.microsoft.com/office/drawing/2014/main" id="{047AFC96-2F0A-489E-BB29-BCE6C9495A46}"/>
              </a:ext>
            </a:extLst>
          </p:cNvPr>
          <p:cNvSpPr>
            <a:spLocks xmlns:a="http://schemas.openxmlformats.org/drawingml/2006/main" noGrp="1"/>
          </p:cNvSpPr>
          <p:nvPr/>
        </p:nvSpPr>
        <p:spPr>
          <a:xfrm xmlns:a="http://schemas.openxmlformats.org/drawingml/2006/main">
            <a:off x="11287125" y="6486525"/>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buNone/>
              <a:defRPr sz="825" b="1">
                <a:solidFill>
                  <a:srgbClr val="627086"/>
                </a:solidFill>
                <a:latin typeface="Arial"/>
                <a:ea typeface="Arial"/>
                <a:cs typeface="Arial"/>
              </a:defRPr>
            </a:pPr>
            <a:r>
              <a:rPr sz="825" b="1">
                <a:solidFill>
                  <a:srgbClr val="627086"/>
                </a:solidFill>
                <a:latin typeface="Arial"/>
                <a:ea typeface="Arial"/>
                <a:cs typeface="Arial"/>
              </a:rPr>
              <a:t>03</a:t>
            </a:r>
          </a:p>
        </p:txBody>
      </p:sp>
      <p:cxnSp>
        <p:nvCxnSpPr>
          <p:cNvPr id="86" name="s4-metric-0-rule"/>
          <p:cNvCxnSpPr/>
          <p:nvPr/>
        </p:nvCxnSpPr>
        <p:spPr>
          <a:xfrm xmlns:a="http://schemas.openxmlformats.org/drawingml/2006/main">
            <a:off x="609600" y="1695450"/>
            <a:ext cx="2286000" cy="0"/>
          </a:xfrm>
          <a:prstGeom xmlns:a="http://schemas.openxmlformats.org/drawingml/2006/main" prst="straightConnector1">
            <a:avLst/>
          </a:prstGeom>
          <a:ln xmlns:a="http://schemas.openxmlformats.org/drawingml/2006/main" w="38100">
            <a:solidFill>
              <a:srgbClr val="008B83"/>
            </a:solidFill>
            <a:prstDash val="solid"/>
          </a:ln>
        </p:spPr>
      </p:cxnSp>
      <p:sp>
        <p:nvSpPr>
          <p:cNvPr id="8" name="s4-metric-0-value">
            <a:extLst xmlns:a="http://schemas.openxmlformats.org/drawingml/2006/main">
              <a:ext uri="{FF2B5EF4-FFF2-40B4-BE49-F238E27FC236}">
                <a16:creationId xmlns:a16="http://schemas.microsoft.com/office/drawing/2014/main" id="{471D7B80-2BE0-4A9C-9653-CB9FEA941CF6}"/>
              </a:ext>
            </a:extLst>
          </p:cNvPr>
          <p:cNvSpPr>
            <a:spLocks xmlns:a="http://schemas.openxmlformats.org/drawingml/2006/main" noGrp="1"/>
          </p:cNvSpPr>
          <p:nvPr/>
        </p:nvSpPr>
        <p:spPr>
          <a:xfrm xmlns:a="http://schemas.openxmlformats.org/drawingml/2006/main">
            <a:off x="609600" y="18669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3.064m</a:t>
            </a:r>
          </a:p>
        </p:txBody>
      </p:sp>
      <p:sp>
        <p:nvSpPr>
          <p:cNvPr id="9" name="s4-metric-0-label">
            <a:extLst xmlns:a="http://schemas.openxmlformats.org/drawingml/2006/main">
              <a:ext uri="{FF2B5EF4-FFF2-40B4-BE49-F238E27FC236}">
                <a16:creationId xmlns:a16="http://schemas.microsoft.com/office/drawing/2014/main" id="{5B267600-FF00-46AF-82C3-28DB5BE7D7C4}"/>
              </a:ext>
            </a:extLst>
          </p:cNvPr>
          <p:cNvSpPr>
            <a:spLocks xmlns:a="http://schemas.openxmlformats.org/drawingml/2006/main" noGrp="1"/>
          </p:cNvSpPr>
          <p:nvPr/>
        </p:nvSpPr>
        <p:spPr>
          <a:xfrm xmlns:a="http://schemas.openxmlformats.org/drawingml/2006/main">
            <a:off x="609600" y="24003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supplied rows</a:t>
            </a:r>
          </a:p>
        </p:txBody>
      </p:sp>
      <p:cxnSp>
        <p:nvCxnSpPr>
          <p:cNvPr id="89" name="s4-metric-1-rule"/>
          <p:cNvCxnSpPr/>
          <p:nvPr/>
        </p:nvCxnSpPr>
        <p:spPr>
          <a:xfrm xmlns:a="http://schemas.openxmlformats.org/drawingml/2006/main">
            <a:off x="3333750" y="1695450"/>
            <a:ext cx="2286000" cy="0"/>
          </a:xfrm>
          <a:prstGeom xmlns:a="http://schemas.openxmlformats.org/drawingml/2006/main" prst="straightConnector1">
            <a:avLst/>
          </a:prstGeom>
          <a:ln xmlns:a="http://schemas.openxmlformats.org/drawingml/2006/main" w="38100">
            <a:solidFill>
              <a:srgbClr val="7658D6"/>
            </a:solidFill>
            <a:prstDash val="solid"/>
          </a:ln>
        </p:spPr>
      </p:cxnSp>
      <p:sp>
        <p:nvSpPr>
          <p:cNvPr id="11" name="s4-metric-1-value">
            <a:extLst xmlns:a="http://schemas.openxmlformats.org/drawingml/2006/main">
              <a:ext uri="{FF2B5EF4-FFF2-40B4-BE49-F238E27FC236}">
                <a16:creationId xmlns:a16="http://schemas.microsoft.com/office/drawing/2014/main" id="{55AD5B8C-D57D-4A27-82FF-44CACD05D58D}"/>
              </a:ext>
            </a:extLst>
          </p:cNvPr>
          <p:cNvSpPr>
            <a:spLocks xmlns:a="http://schemas.openxmlformats.org/drawingml/2006/main" noGrp="1"/>
          </p:cNvSpPr>
          <p:nvPr/>
        </p:nvSpPr>
        <p:spPr>
          <a:xfrm xmlns:a="http://schemas.openxmlformats.org/drawingml/2006/main">
            <a:off x="3333750" y="18669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20</a:t>
            </a:r>
          </a:p>
        </p:txBody>
      </p:sp>
      <p:sp>
        <p:nvSpPr>
          <p:cNvPr id="12" name="s4-metric-1-label">
            <a:extLst xmlns:a="http://schemas.openxmlformats.org/drawingml/2006/main">
              <a:ext uri="{FF2B5EF4-FFF2-40B4-BE49-F238E27FC236}">
                <a16:creationId xmlns:a16="http://schemas.microsoft.com/office/drawing/2014/main" id="{D301783A-C462-4C6E-B904-CE81FDA01F71}"/>
              </a:ext>
            </a:extLst>
          </p:cNvPr>
          <p:cNvSpPr>
            <a:spLocks xmlns:a="http://schemas.openxmlformats.org/drawingml/2006/main" noGrp="1"/>
          </p:cNvSpPr>
          <p:nvPr/>
        </p:nvSpPr>
        <p:spPr>
          <a:xfrm xmlns:a="http://schemas.openxmlformats.org/drawingml/2006/main">
            <a:off x="3333750" y="24003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supplied relationships</a:t>
            </a:r>
          </a:p>
        </p:txBody>
      </p:sp>
      <p:cxnSp>
        <p:nvCxnSpPr>
          <p:cNvPr id="92" name="s4-metric-2-rule"/>
          <p:cNvCxnSpPr/>
          <p:nvPr/>
        </p:nvCxnSpPr>
        <p:spPr>
          <a:xfrm xmlns:a="http://schemas.openxmlformats.org/drawingml/2006/main">
            <a:off x="6057900" y="1695450"/>
            <a:ext cx="2286000" cy="0"/>
          </a:xfrm>
          <a:prstGeom xmlns:a="http://schemas.openxmlformats.org/drawingml/2006/main" prst="straightConnector1">
            <a:avLst/>
          </a:prstGeom>
          <a:ln xmlns:a="http://schemas.openxmlformats.org/drawingml/2006/main" w="38100">
            <a:solidFill>
              <a:srgbClr val="0B63E5"/>
            </a:solidFill>
            <a:prstDash val="solid"/>
          </a:ln>
        </p:spPr>
      </p:cxnSp>
      <p:sp>
        <p:nvSpPr>
          <p:cNvPr id="14" name="s4-metric-2-value">
            <a:extLst xmlns:a="http://schemas.openxmlformats.org/drawingml/2006/main">
              <a:ext uri="{FF2B5EF4-FFF2-40B4-BE49-F238E27FC236}">
                <a16:creationId xmlns:a16="http://schemas.microsoft.com/office/drawing/2014/main" id="{54DA09E9-056B-45AC-9E49-012471EC4874}"/>
              </a:ext>
            </a:extLst>
          </p:cNvPr>
          <p:cNvSpPr>
            <a:spLocks xmlns:a="http://schemas.openxmlformats.org/drawingml/2006/main" noGrp="1"/>
          </p:cNvSpPr>
          <p:nvPr/>
        </p:nvSpPr>
        <p:spPr>
          <a:xfrm xmlns:a="http://schemas.openxmlformats.org/drawingml/2006/main">
            <a:off x="6057900" y="18669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5</a:t>
            </a:r>
          </a:p>
        </p:txBody>
      </p:sp>
      <p:sp>
        <p:nvSpPr>
          <p:cNvPr id="15" name="s4-metric-2-label">
            <a:extLst xmlns:a="http://schemas.openxmlformats.org/drawingml/2006/main">
              <a:ext uri="{FF2B5EF4-FFF2-40B4-BE49-F238E27FC236}">
                <a16:creationId xmlns:a16="http://schemas.microsoft.com/office/drawing/2014/main" id="{B0A49545-6433-474C-A7D4-5895E9E02E75}"/>
              </a:ext>
            </a:extLst>
          </p:cNvPr>
          <p:cNvSpPr>
            <a:spLocks xmlns:a="http://schemas.openxmlformats.org/drawingml/2006/main" noGrp="1"/>
          </p:cNvSpPr>
          <p:nvPr/>
        </p:nvSpPr>
        <p:spPr>
          <a:xfrm xmlns:a="http://schemas.openxmlformats.org/drawingml/2006/main">
            <a:off x="6057900" y="24003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product mappings</a:t>
            </a:r>
          </a:p>
        </p:txBody>
      </p:sp>
      <p:cxnSp>
        <p:nvCxnSpPr>
          <p:cNvPr id="95" name="s4-metric-3-rule"/>
          <p:cNvCxnSpPr/>
          <p:nvPr/>
        </p:nvCxnSpPr>
        <p:spPr>
          <a:xfrm xmlns:a="http://schemas.openxmlformats.org/drawingml/2006/main">
            <a:off x="8991600" y="1695450"/>
            <a:ext cx="2076450" cy="0"/>
          </a:xfrm>
          <a:prstGeom xmlns:a="http://schemas.openxmlformats.org/drawingml/2006/main" prst="straightConnector1">
            <a:avLst/>
          </a:prstGeom>
          <a:ln xmlns:a="http://schemas.openxmlformats.org/drawingml/2006/main" w="38100">
            <a:solidFill>
              <a:srgbClr val="E2951C"/>
            </a:solidFill>
            <a:prstDash val="solid"/>
          </a:ln>
        </p:spPr>
      </p:cxnSp>
      <p:sp>
        <p:nvSpPr>
          <p:cNvPr id="17" name="s4-metric-3-value">
            <a:extLst xmlns:a="http://schemas.openxmlformats.org/drawingml/2006/main">
              <a:ext uri="{FF2B5EF4-FFF2-40B4-BE49-F238E27FC236}">
                <a16:creationId xmlns:a16="http://schemas.microsoft.com/office/drawing/2014/main" id="{17D333A7-8BB8-4EB8-A37A-A9C6852D8078}"/>
              </a:ext>
            </a:extLst>
          </p:cNvPr>
          <p:cNvSpPr>
            <a:spLocks xmlns:a="http://schemas.openxmlformats.org/drawingml/2006/main" noGrp="1"/>
          </p:cNvSpPr>
          <p:nvPr/>
        </p:nvSpPr>
        <p:spPr>
          <a:xfrm xmlns:a="http://schemas.openxmlformats.org/drawingml/2006/main">
            <a:off x="8991600" y="1866900"/>
            <a:ext cx="2076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100</a:t>
            </a:r>
          </a:p>
        </p:txBody>
      </p:sp>
      <p:sp>
        <p:nvSpPr>
          <p:cNvPr id="18" name="s4-metric-3-label">
            <a:extLst xmlns:a="http://schemas.openxmlformats.org/drawingml/2006/main">
              <a:ext uri="{FF2B5EF4-FFF2-40B4-BE49-F238E27FC236}">
                <a16:creationId xmlns:a16="http://schemas.microsoft.com/office/drawing/2014/main" id="{973AA499-4B1A-4371-90AF-61ED6BE39826}"/>
              </a:ext>
            </a:extLst>
          </p:cNvPr>
          <p:cNvSpPr>
            <a:spLocks xmlns:a="http://schemas.openxmlformats.org/drawingml/2006/main" noGrp="1"/>
          </p:cNvSpPr>
          <p:nvPr/>
        </p:nvSpPr>
        <p:spPr>
          <a:xfrm xmlns:a="http://schemas.openxmlformats.org/drawingml/2006/main">
            <a:off x="8991600" y="24003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client × product cells</a:t>
            </a:r>
          </a:p>
        </p:txBody>
      </p:sp>
      <p:sp>
        <p:nvSpPr>
          <p:cNvPr id="19" name="s4-width-title">
            <a:extLst xmlns:a="http://schemas.openxmlformats.org/drawingml/2006/main">
              <a:ext uri="{FF2B5EF4-FFF2-40B4-BE49-F238E27FC236}">
                <a16:creationId xmlns:a16="http://schemas.microsoft.com/office/drawing/2014/main" id="{462CD5B9-592C-43E0-900D-5E1A9EDC095A}"/>
              </a:ext>
            </a:extLst>
          </p:cNvPr>
          <p:cNvSpPr>
            <a:spLocks xmlns:a="http://schemas.openxmlformats.org/drawingml/2006/main" noGrp="1"/>
          </p:cNvSpPr>
          <p:nvPr/>
        </p:nvSpPr>
        <p:spPr>
          <a:xfrm xmlns:a="http://schemas.openxmlformats.org/drawingml/2006/main">
            <a:off x="609600" y="3438525"/>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buNone/>
              <a:defRPr sz="1650" b="1">
                <a:solidFill>
                  <a:srgbClr val="0C1728"/>
                </a:solidFill>
                <a:latin typeface="Arial"/>
                <a:ea typeface="Arial"/>
                <a:cs typeface="Arial"/>
              </a:defRPr>
            </a:pPr>
            <a:r>
              <a:rPr sz="1650" b="1">
                <a:solidFill>
                  <a:srgbClr val="0C1728"/>
                </a:solidFill>
                <a:latin typeface="Arial"/>
                <a:ea typeface="Arial"/>
                <a:cs typeface="Arial"/>
              </a:rPr>
              <a:t>Private evaluator transformation</a:t>
            </a:r>
          </a:p>
        </p:txBody>
      </p:sp>
      <p:sp>
        <p:nvSpPr>
          <p:cNvPr id="20" name="s4-prior-label">
            <a:extLst xmlns:a="http://schemas.openxmlformats.org/drawingml/2006/main">
              <a:ext uri="{FF2B5EF4-FFF2-40B4-BE49-F238E27FC236}">
                <a16:creationId xmlns:a16="http://schemas.microsoft.com/office/drawing/2014/main" id="{729454E5-2EFA-4501-8514-C2DAD97BE8E8}"/>
              </a:ext>
            </a:extLst>
          </p:cNvPr>
          <p:cNvSpPr>
            <a:spLocks xmlns:a="http://schemas.openxmlformats.org/drawingml/2006/main" noGrp="1"/>
          </p:cNvSpPr>
          <p:nvPr/>
        </p:nvSpPr>
        <p:spPr>
          <a:xfrm xmlns:a="http://schemas.openxmlformats.org/drawingml/2006/main">
            <a:off x="609600" y="391477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627086"/>
                </a:solidFill>
                <a:latin typeface="Arial"/>
                <a:ea typeface="Arial"/>
                <a:cs typeface="Arial"/>
              </a:defRPr>
            </a:pPr>
            <a:r>
              <a:rPr sz="1275" b="1">
                <a:solidFill>
                  <a:srgbClr val="627086"/>
                </a:solidFill>
                <a:latin typeface="Arial"/>
                <a:ea typeface="Arial"/>
                <a:cs typeface="Arial"/>
              </a:rPr>
              <a:t>Transaction legs</a:t>
            </a:r>
          </a:p>
        </p:txBody>
      </p:sp>
      <p:sp>
        <p:nvSpPr>
          <p:cNvPr id="21" name="s4-prior-bar">
            <a:extLst xmlns:a="http://schemas.openxmlformats.org/drawingml/2006/main">
              <a:ext uri="{FF2B5EF4-FFF2-40B4-BE49-F238E27FC236}">
                <a16:creationId xmlns:a16="http://schemas.microsoft.com/office/drawing/2014/main" id="{BFF89913-DF3A-444E-B3A3-3A012D25EE02}"/>
              </a:ext>
            </a:extLst>
          </p:cNvPr>
          <p:cNvSpPr>
            <a:spLocks xmlns:a="http://schemas.openxmlformats.org/drawingml/2006/main" noGrp="1"/>
          </p:cNvSpPr>
          <p:nvPr/>
        </p:nvSpPr>
        <p:spPr>
          <a:xfrm xmlns:a="http://schemas.openxmlformats.org/drawingml/2006/main">
            <a:off x="2038350" y="3895725"/>
            <a:ext cx="4008235" cy="257175"/>
          </a:xfrm>
          <a:prstGeom xmlns:a="http://schemas.openxmlformats.org/drawingml/2006/main" prst="rect">
            <a:avLst/>
          </a:prstGeom>
          <a:solidFill xmlns:a="http://schemas.openxmlformats.org/drawingml/2006/main">
            <a:srgbClr val="B7C2D0"/>
          </a:solidFill>
          <a:ln xmlns:a="http://schemas.openxmlformats.org/drawingml/2006/main" w="0">
            <a:noFill/>
            <a:prstDash val="solid"/>
          </a:ln>
        </p:spPr>
      </p:sp>
      <p:sp>
        <p:nvSpPr>
          <p:cNvPr id="22" name="s4-prior-value">
            <a:extLst xmlns:a="http://schemas.openxmlformats.org/drawingml/2006/main">
              <a:ext uri="{FF2B5EF4-FFF2-40B4-BE49-F238E27FC236}">
                <a16:creationId xmlns:a16="http://schemas.microsoft.com/office/drawing/2014/main" id="{86C2AA56-5139-4B01-929B-A847922C999A}"/>
              </a:ext>
            </a:extLst>
          </p:cNvPr>
          <p:cNvSpPr>
            <a:spLocks xmlns:a="http://schemas.openxmlformats.org/drawingml/2006/main" noGrp="1"/>
          </p:cNvSpPr>
          <p:nvPr/>
        </p:nvSpPr>
        <p:spPr>
          <a:xfrm xmlns:a="http://schemas.openxmlformats.org/drawingml/2006/main">
            <a:off x="6160885" y="3914775"/>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C / P / L</a:t>
            </a:r>
          </a:p>
        </p:txBody>
      </p:sp>
      <p:sp>
        <p:nvSpPr>
          <p:cNvPr id="23" name="s4-anchor-label">
            <a:extLst xmlns:a="http://schemas.openxmlformats.org/drawingml/2006/main">
              <a:ext uri="{FF2B5EF4-FFF2-40B4-BE49-F238E27FC236}">
                <a16:creationId xmlns:a16="http://schemas.microsoft.com/office/drawing/2014/main" id="{D367DBF4-489C-47CC-A0E1-E1CFDFED57B5}"/>
              </a:ext>
            </a:extLst>
          </p:cNvPr>
          <p:cNvSpPr>
            <a:spLocks xmlns:a="http://schemas.openxmlformats.org/drawingml/2006/main" noGrp="1"/>
          </p:cNvSpPr>
          <p:nvPr/>
        </p:nvSpPr>
        <p:spPr>
          <a:xfrm xmlns:a="http://schemas.openxmlformats.org/drawingml/2006/main">
            <a:off x="609600" y="44196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627086"/>
                </a:solidFill>
                <a:latin typeface="Arial"/>
                <a:ea typeface="Arial"/>
                <a:cs typeface="Arial"/>
              </a:defRPr>
            </a:pPr>
            <a:r>
              <a:rPr sz="1275" b="1">
                <a:solidFill>
                  <a:srgbClr val="627086"/>
                </a:solidFill>
                <a:latin typeface="Arial"/>
                <a:ea typeface="Arial"/>
                <a:cs typeface="Arial"/>
              </a:rPr>
              <a:t>Specialist feeds</a:t>
            </a:r>
          </a:p>
        </p:txBody>
      </p:sp>
      <p:sp>
        <p:nvSpPr>
          <p:cNvPr id="24" name="s4-anchor-bar">
            <a:extLst xmlns:a="http://schemas.openxmlformats.org/drawingml/2006/main">
              <a:ext uri="{FF2B5EF4-FFF2-40B4-BE49-F238E27FC236}">
                <a16:creationId xmlns:a16="http://schemas.microsoft.com/office/drawing/2014/main" id="{A79DB92D-BA24-4330-BF70-69C2A6C23A4C}"/>
              </a:ext>
            </a:extLst>
          </p:cNvPr>
          <p:cNvSpPr>
            <a:spLocks xmlns:a="http://schemas.openxmlformats.org/drawingml/2006/main" noGrp="1"/>
          </p:cNvSpPr>
          <p:nvPr/>
        </p:nvSpPr>
        <p:spPr>
          <a:xfrm xmlns:a="http://schemas.openxmlformats.org/drawingml/2006/main">
            <a:off x="2038350" y="4400550"/>
            <a:ext cx="2485106" cy="257175"/>
          </a:xfrm>
          <a:prstGeom xmlns:a="http://schemas.openxmlformats.org/drawingml/2006/main" prst="rect">
            <a:avLst/>
          </a:prstGeom>
          <a:solidFill xmlns:a="http://schemas.openxmlformats.org/drawingml/2006/main">
            <a:srgbClr val="008B83"/>
          </a:solidFill>
          <a:ln xmlns:a="http://schemas.openxmlformats.org/drawingml/2006/main" w="0">
            <a:noFill/>
            <a:prstDash val="solid"/>
          </a:ln>
        </p:spPr>
      </p:sp>
      <p:sp>
        <p:nvSpPr>
          <p:cNvPr id="25" name="s4-anchor-value">
            <a:extLst xmlns:a="http://schemas.openxmlformats.org/drawingml/2006/main">
              <a:ext uri="{FF2B5EF4-FFF2-40B4-BE49-F238E27FC236}">
                <a16:creationId xmlns:a16="http://schemas.microsoft.com/office/drawing/2014/main" id="{F904B4D9-50BC-43B4-BDB2-8306BFACD3C1}"/>
              </a:ext>
            </a:extLst>
          </p:cNvPr>
          <p:cNvSpPr>
            <a:spLocks xmlns:a="http://schemas.openxmlformats.org/drawingml/2006/main" noGrp="1"/>
          </p:cNvSpPr>
          <p:nvPr/>
        </p:nvSpPr>
        <p:spPr>
          <a:xfrm xmlns:a="http://schemas.openxmlformats.org/drawingml/2006/main">
            <a:off x="4510061" y="4419600"/>
            <a:ext cx="76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FX / TF</a:t>
            </a:r>
          </a:p>
        </p:txBody>
      </p:sp>
      <p:sp>
        <p:nvSpPr>
          <p:cNvPr id="26" name="s4-reduction">
            <a:extLst xmlns:a="http://schemas.openxmlformats.org/drawingml/2006/main">
              <a:ext uri="{FF2B5EF4-FFF2-40B4-BE49-F238E27FC236}">
                <a16:creationId xmlns:a16="http://schemas.microsoft.com/office/drawing/2014/main" id="{B1FA3B63-F0ED-45C0-850E-8F885B6A821B}"/>
              </a:ext>
            </a:extLst>
          </p:cNvPr>
          <p:cNvSpPr>
            <a:spLocks xmlns:a="http://schemas.openxmlformats.org/drawingml/2006/main" noGrp="1"/>
          </p:cNvSpPr>
          <p:nvPr/>
        </p:nvSpPr>
        <p:spPr>
          <a:xfrm xmlns:a="http://schemas.openxmlformats.org/drawingml/2006/main">
            <a:off x="609600" y="50196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375"/>
          </a:bodyPr>
          <a:lstStyle xmlns:a="http://schemas.openxmlformats.org/drawingml/2006/main"/>
          <a:p xmlns:a="http://schemas.openxmlformats.org/drawingml/2006/main">
            <a:pPr algn="l">
              <a:buNone/>
              <a:defRPr sz="2400" b="1">
                <a:solidFill>
                  <a:srgbClr val="008B83"/>
                </a:solidFill>
                <a:latin typeface="Arial"/>
                <a:ea typeface="Arial"/>
                <a:cs typeface="Arial"/>
              </a:defRPr>
            </a:pPr>
            <a:r>
              <a:rPr sz="2400" b="1">
                <a:solidFill>
                  <a:srgbClr val="008B83"/>
                </a:solidFill>
                <a:latin typeface="Arial"/>
                <a:ea typeface="Arial"/>
                <a:cs typeface="Arial"/>
              </a:rPr>
              <a:t>PIT aggregated</a:t>
            </a:r>
          </a:p>
        </p:txBody>
      </p:sp>
      <p:sp>
        <p:nvSpPr>
          <p:cNvPr id="27" name="s4-confidence">
            <a:extLst xmlns:a="http://schemas.openxmlformats.org/drawingml/2006/main">
              <a:ext uri="{FF2B5EF4-FFF2-40B4-BE49-F238E27FC236}">
                <a16:creationId xmlns:a16="http://schemas.microsoft.com/office/drawing/2014/main" id="{AD71BB58-5451-415C-A65B-7E2B3B632435}"/>
              </a:ext>
            </a:extLst>
          </p:cNvPr>
          <p:cNvSpPr>
            <a:spLocks xmlns:a="http://schemas.openxmlformats.org/drawingml/2006/main" noGrp="1"/>
          </p:cNvSpPr>
          <p:nvPr/>
        </p:nvSpPr>
        <p:spPr>
          <a:xfrm xmlns:a="http://schemas.openxmlformats.org/drawingml/2006/main">
            <a:off x="3333750" y="5019675"/>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923"/>
          </a:bodyPr>
          <a:lstStyle xmlns:a="http://schemas.openxmlformats.org/drawingml/2006/main"/>
          <a:p xmlns:a="http://schemas.openxmlformats.org/drawingml/2006/main">
            <a:pPr algn="l">
              <a:buNone/>
              <a:defRPr sz="2400" b="1">
                <a:solidFill>
                  <a:srgbClr val="0B63E5"/>
                </a:solidFill>
                <a:latin typeface="Arial"/>
                <a:ea typeface="Arial"/>
                <a:cs typeface="Arial"/>
              </a:defRPr>
            </a:pPr>
            <a:r>
              <a:rPr sz="2400" b="1">
                <a:solidFill>
                  <a:srgbClr val="0B63E5"/>
                </a:solidFill>
                <a:latin typeface="Arial"/>
                <a:ea typeface="Arial"/>
                <a:cs typeface="Arial"/>
              </a:rPr>
              <a:t>hash + schema retained</a:t>
            </a:r>
          </a:p>
        </p:txBody>
      </p:sp>
      <p:sp>
        <p:nvSpPr>
          <p:cNvPr id="28" name="s4-source">
            <a:extLst xmlns:a="http://schemas.openxmlformats.org/drawingml/2006/main">
              <a:ext uri="{FF2B5EF4-FFF2-40B4-BE49-F238E27FC236}">
                <a16:creationId xmlns:a16="http://schemas.microsoft.com/office/drawing/2014/main" id="{D55FD589-17F0-44D3-814C-C5BAB73BC731}"/>
              </a:ext>
            </a:extLst>
          </p:cNvPr>
          <p:cNvSpPr>
            <a:spLocks xmlns:a="http://schemas.openxmlformats.org/drawingml/2006/main" noGrp="1"/>
          </p:cNvSpPr>
          <p:nvPr/>
        </p:nvSpPr>
        <p:spPr>
          <a:xfrm xmlns:a="http://schemas.openxmlformats.org/drawingml/2006/main">
            <a:off x="7086600" y="3381375"/>
            <a:ext cx="4210050" cy="238125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29" name="s4-source-label">
            <a:extLst xmlns:a="http://schemas.openxmlformats.org/drawingml/2006/main">
              <a:ext uri="{FF2B5EF4-FFF2-40B4-BE49-F238E27FC236}">
                <a16:creationId xmlns:a16="http://schemas.microsoft.com/office/drawing/2014/main" id="{217A931D-007D-4A0C-95F0-73CED7F3CF2E}"/>
              </a:ext>
            </a:extLst>
          </p:cNvPr>
          <p:cNvSpPr>
            <a:spLocks xmlns:a="http://schemas.openxmlformats.org/drawingml/2006/main" noGrp="1"/>
          </p:cNvSpPr>
          <p:nvPr/>
        </p:nvSpPr>
        <p:spPr>
          <a:xfrm xmlns:a="http://schemas.openxmlformats.org/drawingml/2006/main">
            <a:off x="7372350" y="36576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B63E5"/>
                </a:solidFill>
                <a:latin typeface="Arial"/>
                <a:ea typeface="Arial"/>
                <a:cs typeface="Arial"/>
              </a:defRPr>
            </a:pPr>
            <a:r>
              <a:rPr sz="975" b="1">
                <a:solidFill>
                  <a:srgbClr val="0B63E5"/>
                </a:solidFill>
                <a:latin typeface="Arial"/>
                <a:ea typeface="Arial"/>
                <a:cs typeface="Arial"/>
              </a:rPr>
              <a:t>SCOPE NOTE</a:t>
            </a:r>
          </a:p>
        </p:txBody>
      </p:sp>
      <p:sp>
        <p:nvSpPr>
          <p:cNvPr id="30" name="s4-source-title">
            <a:extLst xmlns:a="http://schemas.openxmlformats.org/drawingml/2006/main">
              <a:ext uri="{FF2B5EF4-FFF2-40B4-BE49-F238E27FC236}">
                <a16:creationId xmlns:a16="http://schemas.microsoft.com/office/drawing/2014/main" id="{717E2732-ABDA-4271-828C-FF41065EF3CD}"/>
              </a:ext>
            </a:extLst>
          </p:cNvPr>
          <p:cNvSpPr>
            <a:spLocks xmlns:a="http://schemas.openxmlformats.org/drawingml/2006/main" noGrp="1"/>
          </p:cNvSpPr>
          <p:nvPr/>
        </p:nvSpPr>
        <p:spPr>
          <a:xfrm xmlns:a="http://schemas.openxmlformats.org/drawingml/2006/main">
            <a:off x="7372350" y="4057650"/>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94"/>
          </a:bodyPr>
          <a:lstStyle xmlns:a="http://schemas.openxmlformats.org/drawingml/2006/main"/>
          <a:p xmlns:a="http://schemas.openxmlformats.org/drawingml/2006/main">
            <a:pPr algn="l">
              <a:buNone/>
              <a:defRPr sz="2025" b="1">
                <a:solidFill>
                  <a:srgbClr val="0C1728"/>
                </a:solidFill>
                <a:latin typeface="Arial"/>
                <a:ea typeface="Arial"/>
                <a:cs typeface="Arial"/>
              </a:defRPr>
            </a:pPr>
            <a:r>
              <a:rPr sz="2025" b="1">
                <a:solidFill>
                  <a:srgbClr val="0C1728"/>
                </a:solidFill>
                <a:latin typeface="Arial"/>
                <a:ea typeface="Arial"/>
                <a:cs typeface="Arial"/>
              </a:rPr>
              <a:t>Brief says 50; supply contains 20</a:t>
            </a:r>
          </a:p>
        </p:txBody>
      </p:sp>
      <p:sp>
        <p:nvSpPr>
          <p:cNvPr id="31" name="s4-source-body">
            <a:extLst xmlns:a="http://schemas.openxmlformats.org/drawingml/2006/main">
              <a:ext uri="{FF2B5EF4-FFF2-40B4-BE49-F238E27FC236}">
                <a16:creationId xmlns:a16="http://schemas.microsoft.com/office/drawing/2014/main" id="{03CA8EDD-6632-477C-9108-94487E5C93DB}"/>
              </a:ext>
            </a:extLst>
          </p:cNvPr>
          <p:cNvSpPr>
            <a:spLocks xmlns:a="http://schemas.openxmlformats.org/drawingml/2006/main" noGrp="1"/>
          </p:cNvSpPr>
          <p:nvPr/>
        </p:nvSpPr>
        <p:spPr>
          <a:xfrm xmlns:a="http://schemas.openxmlformats.org/drawingml/2006/main">
            <a:off x="7372350" y="4724400"/>
            <a:ext cx="333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27086"/>
                </a:solidFill>
                <a:latin typeface="Arial"/>
                <a:ea typeface="Arial"/>
                <a:cs typeface="Arial"/>
              </a:defRPr>
            </a:pPr>
            <a:r>
              <a:rPr sz="1200" b="0">
                <a:solidFill>
                  <a:srgbClr val="627086"/>
                </a:solidFill>
                <a:latin typeface="Arial"/>
                <a:ea typeface="Arial"/>
                <a:cs typeface="Arial"/>
              </a:rPr>
              <a:t>Collections + Payments</a:t>
            </a:r>
          </a:p>
          <a:p xmlns:a="http://schemas.openxmlformats.org/drawingml/2006/main">
            <a:pPr algn="l">
              <a:buNone/>
              <a:defRPr sz="1200" b="0">
                <a:solidFill>
                  <a:srgbClr val="627086"/>
                </a:solidFill>
                <a:latin typeface="Arial"/>
                <a:ea typeface="Arial"/>
                <a:cs typeface="Arial"/>
              </a:defRPr>
            </a:pPr>
            <a:r>
              <a:rPr sz="1200" b="0">
                <a:solidFill>
                  <a:srgbClr val="627086"/>
                </a:solidFill>
                <a:latin typeface="Arial"/>
                <a:ea typeface="Arial"/>
                <a:cs typeface="Arial"/>
              </a:rPr>
              <a:t>Liquidity-flow proxy</a:t>
            </a:r>
          </a:p>
          <a:p xmlns:a="http://schemas.openxmlformats.org/drawingml/2006/main">
            <a:pPr algn="l">
              <a:buNone/>
              <a:defRPr sz="1200" b="0">
                <a:solidFill>
                  <a:srgbClr val="627086"/>
                </a:solidFill>
                <a:latin typeface="Arial"/>
                <a:ea typeface="Arial"/>
                <a:cs typeface="Arial"/>
              </a:defRPr>
            </a:pPr>
            <a:r>
              <a:rPr sz="1200" b="0">
                <a:solidFill>
                  <a:srgbClr val="627086"/>
                </a:solidFill>
                <a:latin typeface="Arial"/>
                <a:ea typeface="Arial"/>
                <a:cs typeface="Arial"/>
              </a:rPr>
              <a:t>Cross-border FX exposure</a:t>
            </a:r>
          </a:p>
          <a:p xmlns:a="http://schemas.openxmlformats.org/drawingml/2006/main">
            <a:pPr algn="l">
              <a:buNone/>
              <a:defRPr sz="1200" b="0">
                <a:solidFill>
                  <a:srgbClr val="627086"/>
                </a:solidFill>
                <a:latin typeface="Arial"/>
                <a:ea typeface="Arial"/>
                <a:cs typeface="Arial"/>
              </a:defRPr>
            </a:pPr>
            <a:r>
              <a:rPr sz="1200" b="0">
                <a:solidFill>
                  <a:srgbClr val="627086"/>
                </a:solidFill>
                <a:latin typeface="Arial"/>
                <a:ea typeface="Arial"/>
                <a:cs typeface="Arial"/>
              </a:rPr>
              <a:t>Trade Finance instruments</a:t>
            </a:r>
          </a:p>
        </p:txBody>
      </p:sp>
    </p:spTree>
    <p:extLst>
      <p:ext uri="{BB962C8B-B14F-4D97-AF65-F5344CB8AC3E}">
        <p14:creationId xmlns:p14="http://schemas.microsoft.com/office/powerpoint/2010/main" val="3063253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9" name="eyebrow-3">
            <a:extLst xmlns:a="http://schemas.openxmlformats.org/drawingml/2006/main">
              <a:ext uri="{FF2B5EF4-FFF2-40B4-BE49-F238E27FC236}">
                <a16:creationId xmlns:a16="http://schemas.microsoft.com/office/drawing/2014/main" id="{DB96CD3A-1E7F-4E39-8563-2A8FCC81736D}"/>
              </a:ext>
            </a:extLst>
          </p:cNvPr>
          <p:cNvSpPr>
            <a:spLocks xmlns:a="http://schemas.openxmlformats.org/drawingml/2006/main" noGrp="1"/>
          </p:cNvSpPr>
          <p:nvPr/>
        </p:nvSpPr>
        <p:spPr>
          <a:xfrm xmlns:a="http://schemas.openxmlformats.org/drawingml/2006/main">
            <a:off x="609600" y="3238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B63E5"/>
                </a:solidFill>
                <a:latin typeface="Arial"/>
                <a:ea typeface="Arial"/>
                <a:cs typeface="Arial"/>
              </a:defRPr>
            </a:pPr>
            <a:r>
              <a:rPr sz="975" b="1">
                <a:solidFill>
                  <a:srgbClr val="0B63E5"/>
                </a:solidFill>
                <a:latin typeface="Arial"/>
                <a:ea typeface="Arial"/>
                <a:cs typeface="Arial"/>
              </a:rPr>
              <a:t>GOVERNED MEASUREMENT</a:t>
            </a:r>
          </a:p>
        </p:txBody>
      </p:sp>
      <p:sp>
        <p:nvSpPr>
          <p:cNvPr id="2" name="title-3">
            <a:extLst xmlns:a="http://schemas.openxmlformats.org/drawingml/2006/main">
              <a:ext uri="{FF2B5EF4-FFF2-40B4-BE49-F238E27FC236}">
                <a16:creationId xmlns:a16="http://schemas.microsoft.com/office/drawing/2014/main" id="{39E2380B-3F18-4D04-8779-0746FA66FBA0}"/>
              </a:ext>
            </a:extLst>
          </p:cNvPr>
          <p:cNvSpPr>
            <a:spLocks xmlns:a="http://schemas.openxmlformats.org/drawingml/2006/main" noGrp="1"/>
          </p:cNvSpPr>
          <p:nvPr/>
        </p:nvSpPr>
        <p:spPr>
          <a:xfrm xmlns:a="http://schemas.openxmlformats.org/drawingml/2006/main">
            <a:off x="609600" y="6572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buNone/>
              <a:defRPr sz="3150" b="1">
                <a:solidFill>
                  <a:srgbClr val="0C1728"/>
                </a:solidFill>
                <a:latin typeface="Arial"/>
                <a:ea typeface="Arial"/>
                <a:cs typeface="Arial"/>
              </a:defRPr>
            </a:pPr>
            <a:r>
              <a:rPr sz="3150" b="1">
                <a:solidFill>
                  <a:srgbClr val="0C1728"/>
                </a:solidFill>
                <a:latin typeface="Arial"/>
                <a:ea typeface="Arial"/>
                <a:cs typeface="Arial"/>
              </a:rPr>
              <a:t>Only approved evidence is allowed to narrow the wallet</a:t>
            </a:r>
          </a:p>
        </p:txBody>
      </p:sp>
      <p:cxnSp>
        <p:nvCxnSpPr>
          <p:cNvPr id="33" name="title-rule-3"/>
          <p:cNvCxnSpPr/>
          <p:nvPr/>
        </p:nvCxnSpPr>
        <p:spPr>
          <a:xfrm xmlns:a="http://schemas.openxmlformats.org/drawingml/2006/main">
            <a:off x="609600" y="1381125"/>
            <a:ext cx="10972800" cy="0"/>
          </a:xfrm>
          <a:prstGeom xmlns:a="http://schemas.openxmlformats.org/drawingml/2006/main" prst="straightConnector1">
            <a:avLst/>
          </a:prstGeom>
          <a:ln xmlns:a="http://schemas.openxmlformats.org/drawingml/2006/main" w="9525">
            <a:solidFill>
              <a:srgbClr val="D7DEE8"/>
            </a:solidFill>
            <a:prstDash val="solid"/>
          </a:ln>
        </p:spPr>
      </p:cxnSp>
      <p:sp>
        <p:nvSpPr>
          <p:cNvPr id="4" name="footer-team-3">
            <a:extLst xmlns:a="http://schemas.openxmlformats.org/drawingml/2006/main">
              <a:ext uri="{FF2B5EF4-FFF2-40B4-BE49-F238E27FC236}">
                <a16:creationId xmlns:a16="http://schemas.microsoft.com/office/drawing/2014/main" id="{FB76B7B5-7A94-4AF1-AC18-2035EA55F656}"/>
              </a:ext>
            </a:extLst>
          </p:cNvPr>
          <p:cNvSpPr>
            <a:spLocks xmlns:a="http://schemas.openxmlformats.org/drawingml/2006/main" noGrp="1"/>
          </p:cNvSpPr>
          <p:nvPr/>
        </p:nvSpPr>
        <p:spPr>
          <a:xfrm xmlns:a="http://schemas.openxmlformats.org/drawingml/2006/main">
            <a:off x="609600" y="64865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27086"/>
                </a:solidFill>
                <a:latin typeface="Arial"/>
                <a:ea typeface="Arial"/>
                <a:cs typeface="Arial"/>
              </a:defRPr>
            </a:pPr>
            <a:r>
              <a:rPr sz="825" b="1">
                <a:solidFill>
                  <a:srgbClr val="627086"/>
                </a:solidFill>
                <a:latin typeface="Arial"/>
                <a:ea typeface="Arial"/>
                <a:cs typeface="Arial"/>
              </a:rPr>
              <a:t>TEAM: Corporate Wallet Digital Twin | Christopher Koen | V3.2.0</a:t>
            </a:r>
          </a:p>
        </p:txBody>
      </p:sp>
      <p:sp>
        <p:nvSpPr>
          <p:cNvPr id="5" name="footer-data-3">
            <a:extLst xmlns:a="http://schemas.openxmlformats.org/drawingml/2006/main">
              <a:ext uri="{FF2B5EF4-FFF2-40B4-BE49-F238E27FC236}">
                <a16:creationId xmlns:a16="http://schemas.microsoft.com/office/drawing/2014/main" id="{47F0181D-B66B-42CD-886C-F10642F39799}"/>
              </a:ext>
            </a:extLst>
          </p:cNvPr>
          <p:cNvSpPr>
            <a:spLocks xmlns:a="http://schemas.openxmlformats.org/drawingml/2006/main" noGrp="1"/>
          </p:cNvSpPr>
          <p:nvPr/>
        </p:nvSpPr>
        <p:spPr>
          <a:xfrm xmlns:a="http://schemas.openxmlformats.org/drawingml/2006/main">
            <a:off x="748665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r">
              <a:buNone/>
              <a:defRPr sz="750" b="1">
                <a:solidFill>
                  <a:srgbClr val="627086"/>
                </a:solidFill>
                <a:latin typeface="Arial"/>
                <a:ea typeface="Arial"/>
                <a:cs typeface="Arial"/>
              </a:defRPr>
            </a:pPr>
            <a:r>
              <a:rPr sz="750" b="1">
                <a:solidFill>
                  <a:srgbClr val="627086"/>
                </a:solidFill>
                <a:latin typeface="Arial"/>
                <a:ea typeface="Arial"/>
                <a:cs typeface="Arial"/>
              </a:rPr>
              <a:t>CONFIDENTIAL SYN BANK ACTIVITY + APPROVED PUBLIC E1 + GOVERNED PRIORS</a:t>
            </a:r>
          </a:p>
        </p:txBody>
      </p:sp>
      <p:sp>
        <p:nvSpPr>
          <p:cNvPr id="6" name="footer-page-3">
            <a:extLst xmlns:a="http://schemas.openxmlformats.org/drawingml/2006/main">
              <a:ext uri="{FF2B5EF4-FFF2-40B4-BE49-F238E27FC236}">
                <a16:creationId xmlns:a16="http://schemas.microsoft.com/office/drawing/2014/main" id="{3755CAB3-69BB-4DDC-B760-2B277FFC02F2}"/>
              </a:ext>
            </a:extLst>
          </p:cNvPr>
          <p:cNvSpPr>
            <a:spLocks xmlns:a="http://schemas.openxmlformats.org/drawingml/2006/main" noGrp="1"/>
          </p:cNvSpPr>
          <p:nvPr/>
        </p:nvSpPr>
        <p:spPr>
          <a:xfrm xmlns:a="http://schemas.openxmlformats.org/drawingml/2006/main">
            <a:off x="11287125" y="6486525"/>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buNone/>
              <a:defRPr sz="825" b="1">
                <a:solidFill>
                  <a:srgbClr val="627086"/>
                </a:solidFill>
                <a:latin typeface="Arial"/>
                <a:ea typeface="Arial"/>
                <a:cs typeface="Arial"/>
              </a:defRPr>
            </a:pPr>
            <a:r>
              <a:rPr sz="825" b="1">
                <a:solidFill>
                  <a:srgbClr val="627086"/>
                </a:solidFill>
                <a:latin typeface="Arial"/>
                <a:ea typeface="Arial"/>
                <a:cs typeface="Arial"/>
              </a:rPr>
              <a:t>04</a:t>
            </a:r>
          </a:p>
        </p:txBody>
      </p:sp>
      <p:sp>
        <p:nvSpPr>
          <p:cNvPr id="7" name="s3-callout">
            <a:extLst xmlns:a="http://schemas.openxmlformats.org/drawingml/2006/main">
              <a:ext uri="{FF2B5EF4-FFF2-40B4-BE49-F238E27FC236}">
                <a16:creationId xmlns:a16="http://schemas.microsoft.com/office/drawing/2014/main" id="{2F6A0AD1-A0C7-4888-BC49-5191B713A634}"/>
              </a:ext>
            </a:extLst>
          </p:cNvPr>
          <p:cNvSpPr>
            <a:spLocks xmlns:a="http://schemas.openxmlformats.org/drawingml/2006/main" noGrp="1"/>
          </p:cNvSpPr>
          <p:nvPr/>
        </p:nvSpPr>
        <p:spPr>
          <a:xfrm xmlns:a="http://schemas.openxmlformats.org/drawingml/2006/main">
            <a:off x="609600" y="1704975"/>
            <a:ext cx="3733800" cy="3924300"/>
          </a:xfrm>
          <a:prstGeom xmlns:a="http://schemas.openxmlformats.org/drawingml/2006/main" prst="rect">
            <a:avLst/>
          </a:prstGeom>
          <a:solidFill xmlns:a="http://schemas.openxmlformats.org/drawingml/2006/main">
            <a:srgbClr val="071321"/>
          </a:solidFill>
          <a:ln xmlns:a="http://schemas.openxmlformats.org/drawingml/2006/main" w="0">
            <a:noFill/>
            <a:prstDash val="solid"/>
          </a:ln>
        </p:spPr>
      </p:sp>
      <p:sp>
        <p:nvSpPr>
          <p:cNvPr id="8" name="s3-call-label">
            <a:extLst xmlns:a="http://schemas.openxmlformats.org/drawingml/2006/main">
              <a:ext uri="{FF2B5EF4-FFF2-40B4-BE49-F238E27FC236}">
                <a16:creationId xmlns:a16="http://schemas.microsoft.com/office/drawing/2014/main" id="{BA89A36E-DEBD-4EBC-BA47-B6F0F9B059AF}"/>
              </a:ext>
            </a:extLst>
          </p:cNvPr>
          <p:cNvSpPr>
            <a:spLocks xmlns:a="http://schemas.openxmlformats.org/drawingml/2006/main" noGrp="1"/>
          </p:cNvSpPr>
          <p:nvPr/>
        </p:nvSpPr>
        <p:spPr>
          <a:xfrm xmlns:a="http://schemas.openxmlformats.org/drawingml/2006/main">
            <a:off x="876300" y="19716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7CB6FF"/>
                </a:solidFill>
                <a:latin typeface="Arial"/>
                <a:ea typeface="Arial"/>
                <a:cs typeface="Arial"/>
              </a:defRPr>
            </a:pPr>
            <a:r>
              <a:rPr sz="975" b="1">
                <a:solidFill>
                  <a:srgbClr val="7CB6FF"/>
                </a:solidFill>
                <a:latin typeface="Arial"/>
                <a:ea typeface="Arial"/>
                <a:cs typeface="Arial"/>
              </a:rPr>
              <a:t>AUTHORITATIVE SOURCE ESTATE</a:t>
            </a:r>
          </a:p>
        </p:txBody>
      </p:sp>
      <p:sp>
        <p:nvSpPr>
          <p:cNvPr id="9" name="s3-call-client">
            <a:extLst xmlns:a="http://schemas.openxmlformats.org/drawingml/2006/main">
              <a:ext uri="{FF2B5EF4-FFF2-40B4-BE49-F238E27FC236}">
                <a16:creationId xmlns:a16="http://schemas.microsoft.com/office/drawing/2014/main" id="{9BCCEBC6-96B5-4B48-AE4B-F50A18AB3A11}"/>
              </a:ext>
            </a:extLst>
          </p:cNvPr>
          <p:cNvSpPr>
            <a:spLocks xmlns:a="http://schemas.openxmlformats.org/drawingml/2006/main" noGrp="1"/>
          </p:cNvSpPr>
          <p:nvPr/>
        </p:nvSpPr>
        <p:spPr>
          <a:xfrm xmlns:a="http://schemas.openxmlformats.org/drawingml/2006/main">
            <a:off x="876300" y="247650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259"/>
          </a:bodyPr>
          <a:lstStyle xmlns:a="http://schemas.openxmlformats.org/drawingml/2006/main"/>
          <a:p xmlns:a="http://schemas.openxmlformats.org/drawingml/2006/main">
            <a:pPr algn="l">
              <a:buNone/>
              <a:defRPr sz="2700" b="1">
                <a:solidFill>
                  <a:srgbClr val="FFFFFF"/>
                </a:solidFill>
                <a:latin typeface="Arial"/>
                <a:ea typeface="Arial"/>
                <a:cs typeface="Arial"/>
              </a:defRPr>
            </a:pPr>
            <a:r>
              <a:rPr sz="2700" b="1">
                <a:solidFill>
                  <a:srgbClr val="FFFFFF"/>
                </a:solidFill>
                <a:latin typeface="Arial"/>
                <a:ea typeface="Arial"/>
                <a:cs typeface="Arial"/>
              </a:rPr>
              <a:t>82 public facts</a:t>
            </a:r>
          </a:p>
        </p:txBody>
      </p:sp>
      <p:sp>
        <p:nvSpPr>
          <p:cNvPr id="10" name="s3-call-product">
            <a:extLst xmlns:a="http://schemas.openxmlformats.org/drawingml/2006/main">
              <a:ext uri="{FF2B5EF4-FFF2-40B4-BE49-F238E27FC236}">
                <a16:creationId xmlns:a16="http://schemas.microsoft.com/office/drawing/2014/main" id="{EA04A63B-AEAF-41AB-8A77-755C38A3BCF2}"/>
              </a:ext>
            </a:extLst>
          </p:cNvPr>
          <p:cNvSpPr>
            <a:spLocks xmlns:a="http://schemas.openxmlformats.org/drawingml/2006/main" noGrp="1"/>
          </p:cNvSpPr>
          <p:nvPr/>
        </p:nvSpPr>
        <p:spPr>
          <a:xfrm xmlns:a="http://schemas.openxmlformats.org/drawingml/2006/main">
            <a:off x="876300" y="29908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495"/>
          </a:bodyPr>
          <a:lstStyle xmlns:a="http://schemas.openxmlformats.org/drawingml/2006/main"/>
          <a:p xmlns:a="http://schemas.openxmlformats.org/drawingml/2006/main">
            <a:pPr algn="l">
              <a:buNone/>
              <a:defRPr sz="2325" b="1">
                <a:solidFill>
                  <a:srgbClr val="FFFFFF"/>
                </a:solidFill>
                <a:latin typeface="Arial"/>
                <a:ea typeface="Arial"/>
                <a:cs typeface="Arial"/>
              </a:defRPr>
            </a:pPr>
            <a:r>
              <a:rPr sz="2325" b="1">
                <a:solidFill>
                  <a:srgbClr val="FFFFFF"/>
                </a:solidFill>
                <a:latin typeface="Arial"/>
                <a:ea typeface="Arial"/>
                <a:cs typeface="Arial"/>
              </a:rPr>
              <a:t>31 approved · 51 pending</a:t>
            </a:r>
          </a:p>
        </p:txBody>
      </p:sp>
      <p:sp>
        <p:nvSpPr>
          <p:cNvPr id="11" name="s3-call-gap">
            <a:extLst xmlns:a="http://schemas.openxmlformats.org/drawingml/2006/main">
              <a:ext uri="{FF2B5EF4-FFF2-40B4-BE49-F238E27FC236}">
                <a16:creationId xmlns:a16="http://schemas.microsoft.com/office/drawing/2014/main" id="{AAE8C7D2-DDA2-48AA-9905-B1AAEF936EA0}"/>
              </a:ext>
            </a:extLst>
          </p:cNvPr>
          <p:cNvSpPr>
            <a:spLocks xmlns:a="http://schemas.openxmlformats.org/drawingml/2006/main" noGrp="1"/>
          </p:cNvSpPr>
          <p:nvPr/>
        </p:nvSpPr>
        <p:spPr>
          <a:xfrm xmlns:a="http://schemas.openxmlformats.org/drawingml/2006/main">
            <a:off x="876300" y="369570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985"/>
          </a:bodyPr>
          <a:lstStyle xmlns:a="http://schemas.openxmlformats.org/drawingml/2006/main"/>
          <a:p xmlns:a="http://schemas.openxmlformats.org/drawingml/2006/main">
            <a:pPr algn="l">
              <a:buNone/>
              <a:defRPr sz="3300" b="1">
                <a:solidFill>
                  <a:srgbClr val="E2951C"/>
                </a:solidFill>
                <a:latin typeface="Arial"/>
                <a:ea typeface="Arial"/>
                <a:cs typeface="Arial"/>
              </a:defRPr>
            </a:pPr>
            <a:r>
              <a:rPr sz="3300" b="1">
                <a:solidFill>
                  <a:srgbClr val="E2951C"/>
                </a:solidFill>
                <a:latin typeface="Arial"/>
                <a:ea typeface="Arial"/>
                <a:cs typeface="Arial"/>
              </a:rPr>
              <a:t>15</a:t>
            </a:r>
          </a:p>
        </p:txBody>
      </p:sp>
      <p:sp>
        <p:nvSpPr>
          <p:cNvPr id="12" name="s3-call-gap-label">
            <a:extLst xmlns:a="http://schemas.openxmlformats.org/drawingml/2006/main">
              <a:ext uri="{FF2B5EF4-FFF2-40B4-BE49-F238E27FC236}">
                <a16:creationId xmlns:a16="http://schemas.microsoft.com/office/drawing/2014/main" id="{037CDF15-CF86-445E-B3F4-0D4388E8913B}"/>
              </a:ext>
            </a:extLst>
          </p:cNvPr>
          <p:cNvSpPr>
            <a:spLocks xmlns:a="http://schemas.openxmlformats.org/drawingml/2006/main" noGrp="1"/>
          </p:cNvSpPr>
          <p:nvPr/>
        </p:nvSpPr>
        <p:spPr>
          <a:xfrm xmlns:a="http://schemas.openxmlformats.org/drawingml/2006/main">
            <a:off x="876300" y="42767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B9C8D9"/>
                </a:solidFill>
                <a:latin typeface="Arial"/>
                <a:ea typeface="Arial"/>
                <a:cs typeface="Arial"/>
              </a:defRPr>
            </a:pPr>
            <a:r>
              <a:rPr sz="1200" b="0">
                <a:solidFill>
                  <a:srgbClr val="B9C8D9"/>
                </a:solidFill>
                <a:latin typeface="Arial"/>
                <a:ea typeface="Arial"/>
                <a:cs typeface="Arial"/>
              </a:rPr>
              <a:t>active anchored cells</a:t>
            </a:r>
          </a:p>
        </p:txBody>
      </p:sp>
      <p:sp>
        <p:nvSpPr>
          <p:cNvPr id="13" name="s3-call-confidence">
            <a:extLst xmlns:a="http://schemas.openxmlformats.org/drawingml/2006/main">
              <a:ext uri="{FF2B5EF4-FFF2-40B4-BE49-F238E27FC236}">
                <a16:creationId xmlns:a16="http://schemas.microsoft.com/office/drawing/2014/main" id="{1CE0D2C4-F31E-4632-A74F-E18D5CA14D84}"/>
              </a:ext>
            </a:extLst>
          </p:cNvPr>
          <p:cNvSpPr>
            <a:spLocks xmlns:a="http://schemas.openxmlformats.org/drawingml/2006/main" noGrp="1"/>
          </p:cNvSpPr>
          <p:nvPr/>
        </p:nvSpPr>
        <p:spPr>
          <a:xfrm xmlns:a="http://schemas.openxmlformats.org/drawingml/2006/main">
            <a:off x="876300" y="479107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15"/>
          </a:bodyPr>
          <a:lstStyle xmlns:a="http://schemas.openxmlformats.org/drawingml/2006/main"/>
          <a:p xmlns:a="http://schemas.openxmlformats.org/drawingml/2006/main">
            <a:pPr algn="l">
              <a:buNone/>
              <a:defRPr sz="1275" b="1">
                <a:solidFill>
                  <a:srgbClr val="008B83"/>
                </a:solidFill>
                <a:latin typeface="Arial"/>
                <a:ea typeface="Arial"/>
                <a:cs typeface="Arial"/>
              </a:defRPr>
            </a:pPr>
            <a:r>
              <a:rPr sz="1275" b="1">
                <a:solidFill>
                  <a:srgbClr val="008B83"/>
                </a:solidFill>
                <a:latin typeface="Arial"/>
                <a:ea typeface="Arial"/>
                <a:cs typeface="Arial"/>
              </a:rPr>
              <a:t>85 E0 prior-led cells · three approved-anchor clients</a:t>
            </a:r>
          </a:p>
        </p:txBody>
      </p:sp>
      <p:sp>
        <p:nvSpPr>
          <p:cNvPr id="14" name="s3-call-action">
            <a:extLst xmlns:a="http://schemas.openxmlformats.org/drawingml/2006/main">
              <a:ext uri="{FF2B5EF4-FFF2-40B4-BE49-F238E27FC236}">
                <a16:creationId xmlns:a16="http://schemas.microsoft.com/office/drawing/2014/main" id="{49769E56-10AC-4313-80BD-0D6231B5B878}"/>
              </a:ext>
            </a:extLst>
          </p:cNvPr>
          <p:cNvSpPr>
            <a:spLocks xmlns:a="http://schemas.openxmlformats.org/drawingml/2006/main" noGrp="1"/>
          </p:cNvSpPr>
          <p:nvPr/>
        </p:nvSpPr>
        <p:spPr>
          <a:xfrm xmlns:a="http://schemas.openxmlformats.org/drawingml/2006/main">
            <a:off x="876300" y="5095875"/>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buNone/>
              <a:defRPr sz="1200" b="0">
                <a:solidFill>
                  <a:srgbClr val="FFFFFF"/>
                </a:solidFill>
                <a:latin typeface="Arial"/>
                <a:ea typeface="Arial"/>
                <a:cs typeface="Arial"/>
              </a:defRPr>
            </a:pPr>
            <a:r>
              <a:rPr sz="1200" b="0">
                <a:solidFill>
                  <a:srgbClr val="FFFFFF"/>
                </a:solidFill>
                <a:latin typeface="Arial"/>
                <a:ea typeface="Arial"/>
                <a:cs typeface="Arial"/>
              </a:rPr>
              <a:t>Pending candidates may pass deterministic QA, but cannot activate anchors, change ranks or enter banker-facing claim paths.</a:t>
            </a:r>
          </a:p>
        </p:txBody>
      </p:sp>
      <p:sp>
        <p:nvSpPr>
          <p:cNvPr id="15" name="s3-chart-title">
            <a:extLst xmlns:a="http://schemas.openxmlformats.org/drawingml/2006/main">
              <a:ext uri="{FF2B5EF4-FFF2-40B4-BE49-F238E27FC236}">
                <a16:creationId xmlns:a16="http://schemas.microsoft.com/office/drawing/2014/main" id="{2FB44F9E-CE69-47D5-911F-7717D3FCA509}"/>
              </a:ext>
            </a:extLst>
          </p:cNvPr>
          <p:cNvSpPr>
            <a:spLocks xmlns:a="http://schemas.openxmlformats.org/drawingml/2006/main" noGrp="1"/>
          </p:cNvSpPr>
          <p:nvPr/>
        </p:nvSpPr>
        <p:spPr>
          <a:xfrm xmlns:a="http://schemas.openxmlformats.org/drawingml/2006/main">
            <a:off x="4762500" y="17335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p xmlns:a="http://schemas.openxmlformats.org/drawingml/2006/main">
            <a:pPr algn="l">
              <a:buNone/>
              <a:defRPr sz="1650" b="1">
                <a:solidFill>
                  <a:srgbClr val="0C1728"/>
                </a:solidFill>
                <a:latin typeface="Arial"/>
                <a:ea typeface="Arial"/>
                <a:cs typeface="Arial"/>
              </a:defRPr>
            </a:pPr>
            <a:r>
              <a:rPr sz="1650" b="1">
                <a:solidFill>
                  <a:srgbClr val="0C1728"/>
                </a:solidFill>
                <a:latin typeface="Arial"/>
                <a:ea typeface="Arial"/>
                <a:cs typeface="Arial"/>
              </a:rPr>
              <a:t>E1 pooling-weight sensitivity</a:t>
            </a:r>
          </a:p>
        </p:txBody>
      </p:sp>
      <p:graphicFrame>
        <p:nvGraphicFramePr>
          <p:cNvPr id="46" name="Chart"/>
          <p:cNvGraphicFramePr/>
          <p:nvPr/>
        </p:nvGraphicFramePr>
        <p:xfrm>
          <a:off xmlns:a="http://schemas.openxmlformats.org/drawingml/2006/main" x="4762500" y="2152650"/>
          <a:ext xmlns:a="http://schemas.openxmlformats.org/drawingml/2006/main" cx="6477000" cy="2990850"/>
        </p:xfrm>
        <a:graphic xmlns:a="http://schemas.openxmlformats.org/drawingml/2006/main">
          <a:graphicData uri="http://schemas.openxmlformats.org/drawingml/2006/chart">
            <c:chart xmlns:r="http://schemas.openxmlformats.org/officeDocument/2006/relationships" xmlns:c="http://schemas.openxmlformats.org/drawingml/2006/chart" r:id="R3088939d94ae417c"/>
          </a:graphicData>
        </a:graphic>
      </p:graphicFrame>
      <p:sp>
        <p:nvSpPr>
          <p:cNvPr id="17" name="s3-pack">
            <a:extLst xmlns:a="http://schemas.openxmlformats.org/drawingml/2006/main">
              <a:ext uri="{FF2B5EF4-FFF2-40B4-BE49-F238E27FC236}">
                <a16:creationId xmlns:a16="http://schemas.microsoft.com/office/drawing/2014/main" id="{A0BA89EC-03A0-489C-9FAB-3DC2CCCD401F}"/>
              </a:ext>
            </a:extLst>
          </p:cNvPr>
          <p:cNvSpPr>
            <a:spLocks xmlns:a="http://schemas.openxmlformats.org/drawingml/2006/main" noGrp="1"/>
          </p:cNvSpPr>
          <p:nvPr/>
        </p:nvSpPr>
        <p:spPr>
          <a:xfrm xmlns:a="http://schemas.openxmlformats.org/drawingml/2006/main">
            <a:off x="4762500" y="5381625"/>
            <a:ext cx="6477000" cy="60960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8" name="s3-pack-copy">
            <a:extLst xmlns:a="http://schemas.openxmlformats.org/drawingml/2006/main">
              <a:ext uri="{FF2B5EF4-FFF2-40B4-BE49-F238E27FC236}">
                <a16:creationId xmlns:a16="http://schemas.microsoft.com/office/drawing/2014/main" id="{0F79E16E-B685-49A1-995B-FEBBD318DCA1}"/>
              </a:ext>
            </a:extLst>
          </p:cNvPr>
          <p:cNvSpPr>
            <a:spLocks xmlns:a="http://schemas.openxmlformats.org/drawingml/2006/main" noGrp="1"/>
          </p:cNvSpPr>
          <p:nvPr/>
        </p:nvSpPr>
        <p:spPr>
          <a:xfrm xmlns:a="http://schemas.openxmlformats.org/drawingml/2006/main">
            <a:off x="4953000" y="5543550"/>
            <a:ext cx="609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4902"/>
          </a:bodyPr>
          <a:lstStyle xmlns:a="http://schemas.openxmlformats.org/drawingml/2006/main"/>
          <a:p xmlns:a="http://schemas.openxmlformats.org/drawingml/2006/main">
            <a:pPr algn="l">
              <a:buNone/>
              <a:defRPr sz="1275" b="1">
                <a:solidFill>
                  <a:srgbClr val="0B63E5"/>
                </a:solidFill>
                <a:latin typeface="Arial"/>
                <a:ea typeface="Arial"/>
                <a:cs typeface="Arial"/>
              </a:defRPr>
            </a:pPr>
            <a:r>
              <a:rPr sz="1275" b="1">
                <a:solidFill>
                  <a:srgbClr val="0B63E5"/>
                </a:solidFill>
                <a:latin typeface="Arial"/>
                <a:ea typeface="Arial"/>
                <a:cs typeface="Arial"/>
              </a:rPr>
              <a:t>Measurement policy v2-wallet-measurement-policy-1.1.0 fixes E1 at 0.35. The 0.20 / 0.35 / 0.50 sweep reports coverage, CRPS, width and rank effects.</a:t>
            </a:r>
          </a:p>
        </p:txBody>
      </p:sp>
    </p:spTree>
    <p:extLst>
      <p:ext uri="{BB962C8B-B14F-4D97-AF65-F5344CB8AC3E}">
        <p14:creationId xmlns:p14="http://schemas.microsoft.com/office/powerpoint/2010/main" val="66959344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7" name="eyebrow-9">
            <a:extLst xmlns:a="http://schemas.openxmlformats.org/drawingml/2006/main">
              <a:ext uri="{FF2B5EF4-FFF2-40B4-BE49-F238E27FC236}">
                <a16:creationId xmlns:a16="http://schemas.microsoft.com/office/drawing/2014/main" id="{AEA04869-C248-4640-A9DA-040442CB5DB6}"/>
              </a:ext>
            </a:extLst>
          </p:cNvPr>
          <p:cNvSpPr>
            <a:spLocks xmlns:a="http://schemas.openxmlformats.org/drawingml/2006/main" noGrp="1"/>
          </p:cNvSpPr>
          <p:nvPr/>
        </p:nvSpPr>
        <p:spPr>
          <a:xfrm xmlns:a="http://schemas.openxmlformats.org/drawingml/2006/main">
            <a:off x="609600" y="3238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B63E5"/>
                </a:solidFill>
                <a:latin typeface="Arial"/>
                <a:ea typeface="Arial"/>
                <a:cs typeface="Arial"/>
              </a:defRPr>
            </a:pPr>
            <a:r>
              <a:rPr sz="975" b="1">
                <a:solidFill>
                  <a:srgbClr val="0B63E5"/>
                </a:solidFill>
                <a:latin typeface="Arial"/>
                <a:ea typeface="Arial"/>
                <a:cs typeface="Arial"/>
              </a:rPr>
              <a:t>THE 20 × 5 COMMERCIAL SURFACE · TOP FIVE R 40,3M</a:t>
            </a:r>
          </a:p>
        </p:txBody>
      </p:sp>
      <p:sp>
        <p:nvSpPr>
          <p:cNvPr id="2" name="title-9">
            <a:extLst xmlns:a="http://schemas.openxmlformats.org/drawingml/2006/main">
              <a:ext uri="{FF2B5EF4-FFF2-40B4-BE49-F238E27FC236}">
                <a16:creationId xmlns:a16="http://schemas.microsoft.com/office/drawing/2014/main" id="{ED2E1053-3615-4884-B6E2-9C37667D78F2}"/>
              </a:ext>
            </a:extLst>
          </p:cNvPr>
          <p:cNvSpPr>
            <a:spLocks xmlns:a="http://schemas.openxmlformats.org/drawingml/2006/main" noGrp="1"/>
          </p:cNvSpPr>
          <p:nvPr/>
        </p:nvSpPr>
        <p:spPr>
          <a:xfrm xmlns:a="http://schemas.openxmlformats.org/drawingml/2006/main">
            <a:off x="609600" y="6572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buNone/>
              <a:defRPr sz="3150" b="1">
                <a:solidFill>
                  <a:srgbClr val="0C1728"/>
                </a:solidFill>
                <a:latin typeface="Arial"/>
                <a:ea typeface="Arial"/>
                <a:cs typeface="Arial"/>
              </a:defRPr>
            </a:pPr>
            <a:r>
              <a:rPr sz="3150" b="1">
                <a:solidFill>
                  <a:srgbClr val="0C1728"/>
                </a:solidFill>
                <a:latin typeface="Arial"/>
                <a:ea typeface="Arial"/>
                <a:cs typeface="Arial"/>
              </a:rPr>
              <a:t>Start with Glencore Trade Finance—then BHP</a:t>
            </a:r>
          </a:p>
        </p:txBody>
      </p:sp>
      <p:cxnSp>
        <p:nvCxnSpPr>
          <p:cNvPr id="73" name="title-rule-9"/>
          <p:cNvCxnSpPr/>
          <p:nvPr/>
        </p:nvCxnSpPr>
        <p:spPr>
          <a:xfrm xmlns:a="http://schemas.openxmlformats.org/drawingml/2006/main">
            <a:off x="609600" y="1381125"/>
            <a:ext cx="10972800" cy="0"/>
          </a:xfrm>
          <a:prstGeom xmlns:a="http://schemas.openxmlformats.org/drawingml/2006/main" prst="straightConnector1">
            <a:avLst/>
          </a:prstGeom>
          <a:ln xmlns:a="http://schemas.openxmlformats.org/drawingml/2006/main" w="9525">
            <a:solidFill>
              <a:srgbClr val="D7DEE8"/>
            </a:solidFill>
            <a:prstDash val="solid"/>
          </a:ln>
        </p:spPr>
      </p:cxnSp>
      <p:sp>
        <p:nvSpPr>
          <p:cNvPr id="4" name="footer-team-9">
            <a:extLst xmlns:a="http://schemas.openxmlformats.org/drawingml/2006/main">
              <a:ext uri="{FF2B5EF4-FFF2-40B4-BE49-F238E27FC236}">
                <a16:creationId xmlns:a16="http://schemas.microsoft.com/office/drawing/2014/main" id="{09B569FE-EC46-4739-A23C-0E8BA5B06D28}"/>
              </a:ext>
            </a:extLst>
          </p:cNvPr>
          <p:cNvSpPr>
            <a:spLocks xmlns:a="http://schemas.openxmlformats.org/drawingml/2006/main" noGrp="1"/>
          </p:cNvSpPr>
          <p:nvPr/>
        </p:nvSpPr>
        <p:spPr>
          <a:xfrm xmlns:a="http://schemas.openxmlformats.org/drawingml/2006/main">
            <a:off x="609600" y="64865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27086"/>
                </a:solidFill>
                <a:latin typeface="Arial"/>
                <a:ea typeface="Arial"/>
                <a:cs typeface="Arial"/>
              </a:defRPr>
            </a:pPr>
            <a:r>
              <a:rPr sz="825" b="1">
                <a:solidFill>
                  <a:srgbClr val="627086"/>
                </a:solidFill>
                <a:latin typeface="Arial"/>
                <a:ea typeface="Arial"/>
                <a:cs typeface="Arial"/>
              </a:rPr>
              <a:t>TEAM: Corporate Wallet Digital Twin | Christopher Koen | V3.2.0</a:t>
            </a:r>
          </a:p>
        </p:txBody>
      </p:sp>
      <p:sp>
        <p:nvSpPr>
          <p:cNvPr id="5" name="footer-data-9">
            <a:extLst xmlns:a="http://schemas.openxmlformats.org/drawingml/2006/main">
              <a:ext uri="{FF2B5EF4-FFF2-40B4-BE49-F238E27FC236}">
                <a16:creationId xmlns:a16="http://schemas.microsoft.com/office/drawing/2014/main" id="{1D9BB471-1373-4910-88AA-D5BFA073E143}"/>
              </a:ext>
            </a:extLst>
          </p:cNvPr>
          <p:cNvSpPr>
            <a:spLocks xmlns:a="http://schemas.openxmlformats.org/drawingml/2006/main" noGrp="1"/>
          </p:cNvSpPr>
          <p:nvPr/>
        </p:nvSpPr>
        <p:spPr>
          <a:xfrm xmlns:a="http://schemas.openxmlformats.org/drawingml/2006/main">
            <a:off x="748665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r">
              <a:buNone/>
              <a:defRPr sz="750" b="1">
                <a:solidFill>
                  <a:srgbClr val="627086"/>
                </a:solidFill>
                <a:latin typeface="Arial"/>
                <a:ea typeface="Arial"/>
                <a:cs typeface="Arial"/>
              </a:defRPr>
            </a:pPr>
            <a:r>
              <a:rPr sz="750" b="1">
                <a:solidFill>
                  <a:srgbClr val="627086"/>
                </a:solidFill>
                <a:latin typeface="Arial"/>
                <a:ea typeface="Arial"/>
                <a:cs typeface="Arial"/>
              </a:rPr>
              <a:t>CONFIDENTIAL SYN BANK ACTIVITY + APPROVED PUBLIC E1 + GOVERNED PRIORS</a:t>
            </a:r>
          </a:p>
        </p:txBody>
      </p:sp>
      <p:sp>
        <p:nvSpPr>
          <p:cNvPr id="6" name="footer-page-9">
            <a:extLst xmlns:a="http://schemas.openxmlformats.org/drawingml/2006/main">
              <a:ext uri="{FF2B5EF4-FFF2-40B4-BE49-F238E27FC236}">
                <a16:creationId xmlns:a16="http://schemas.microsoft.com/office/drawing/2014/main" id="{5C2765E7-8EB9-4173-8492-9E0D141DC879}"/>
              </a:ext>
            </a:extLst>
          </p:cNvPr>
          <p:cNvSpPr>
            <a:spLocks xmlns:a="http://schemas.openxmlformats.org/drawingml/2006/main" noGrp="1"/>
          </p:cNvSpPr>
          <p:nvPr/>
        </p:nvSpPr>
        <p:spPr>
          <a:xfrm xmlns:a="http://schemas.openxmlformats.org/drawingml/2006/main">
            <a:off x="11287125" y="6486525"/>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buNone/>
              <a:defRPr sz="825" b="1">
                <a:solidFill>
                  <a:srgbClr val="627086"/>
                </a:solidFill>
                <a:latin typeface="Arial"/>
                <a:ea typeface="Arial"/>
                <a:cs typeface="Arial"/>
              </a:defRPr>
            </a:pPr>
            <a:r>
              <a:rPr sz="825" b="1">
                <a:solidFill>
                  <a:srgbClr val="627086"/>
                </a:solidFill>
                <a:latin typeface="Arial"/>
                <a:ea typeface="Arial"/>
                <a:cs typeface="Arial"/>
              </a:rPr>
              <a:t>05</a:t>
            </a:r>
          </a:p>
        </p:txBody>
      </p:sp>
      <p:sp>
        <p:nvSpPr>
          <p:cNvPr id="7" name="s9-timing-label">
            <a:extLst xmlns:a="http://schemas.openxmlformats.org/drawingml/2006/main">
              <a:ext uri="{FF2B5EF4-FFF2-40B4-BE49-F238E27FC236}">
                <a16:creationId xmlns:a16="http://schemas.microsoft.com/office/drawing/2014/main" id="{665320DC-9237-4027-AB7A-F67E83C61DFE}"/>
              </a:ext>
            </a:extLst>
          </p:cNvPr>
          <p:cNvSpPr>
            <a:spLocks xmlns:a="http://schemas.openxmlformats.org/drawingml/2006/main" noGrp="1"/>
          </p:cNvSpPr>
          <p:nvPr/>
        </p:nvSpPr>
        <p:spPr>
          <a:xfrm xmlns:a="http://schemas.openxmlformats.org/drawingml/2006/main">
            <a:off x="609600" y="1743075"/>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B63E5"/>
                </a:solidFill>
                <a:latin typeface="Arial"/>
                <a:ea typeface="Arial"/>
                <a:cs typeface="Arial"/>
              </a:defRPr>
            </a:pPr>
            <a:r>
              <a:rPr sz="975" b="1">
                <a:solidFill>
                  <a:srgbClr val="0B63E5"/>
                </a:solidFill>
                <a:latin typeface="Arial"/>
                <a:ea typeface="Arial"/>
                <a:cs typeface="Arial"/>
              </a:rPr>
              <a:t>DEFAULT COLOUR: CONTESTABLE SCENARIO CONTRIBUTION</a:t>
            </a:r>
          </a:p>
        </p:txBody>
      </p:sp>
      <p:cxnSp>
        <p:nvCxnSpPr>
          <p:cNvPr id="78" name="s9-h-rule-0"/>
          <p:cNvCxnSpPr/>
          <p:nvPr/>
        </p:nvCxnSpPr>
        <p:spPr>
          <a:xfrm xmlns:a="http://schemas.openxmlformats.org/drawingml/2006/main">
            <a:off x="609600" y="2181225"/>
            <a:ext cx="1809750" cy="0"/>
          </a:xfrm>
          <a:prstGeom xmlns:a="http://schemas.openxmlformats.org/drawingml/2006/main" prst="straightConnector1">
            <a:avLst/>
          </a:prstGeom>
          <a:ln xmlns:a="http://schemas.openxmlformats.org/drawingml/2006/main" w="38100">
            <a:solidFill>
              <a:srgbClr val="0B63E5"/>
            </a:solidFill>
            <a:prstDash val="solid"/>
          </a:ln>
        </p:spPr>
      </p:cxnSp>
      <p:sp>
        <p:nvSpPr>
          <p:cNvPr id="9" name="s9-h-value-0">
            <a:extLst xmlns:a="http://schemas.openxmlformats.org/drawingml/2006/main">
              <a:ext uri="{FF2B5EF4-FFF2-40B4-BE49-F238E27FC236}">
                <a16:creationId xmlns:a16="http://schemas.microsoft.com/office/drawing/2014/main" id="{4113595E-E315-4B4B-A0B6-4802DD0C7433}"/>
              </a:ext>
            </a:extLst>
          </p:cNvPr>
          <p:cNvSpPr>
            <a:spLocks xmlns:a="http://schemas.openxmlformats.org/drawingml/2006/main" noGrp="1"/>
          </p:cNvSpPr>
          <p:nvPr/>
        </p:nvSpPr>
        <p:spPr>
          <a:xfrm xmlns:a="http://schemas.openxmlformats.org/drawingml/2006/main">
            <a:off x="609600" y="24003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991"/>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100</a:t>
            </a:r>
          </a:p>
        </p:txBody>
      </p:sp>
      <p:sp>
        <p:nvSpPr>
          <p:cNvPr id="10" name="s9-h-label-0">
            <a:extLst xmlns:a="http://schemas.openxmlformats.org/drawingml/2006/main">
              <a:ext uri="{FF2B5EF4-FFF2-40B4-BE49-F238E27FC236}">
                <a16:creationId xmlns:a16="http://schemas.microsoft.com/office/drawing/2014/main" id="{8ED26689-4EAE-4337-B424-E5AD434AD2A4}"/>
              </a:ext>
            </a:extLst>
          </p:cNvPr>
          <p:cNvSpPr>
            <a:spLocks xmlns:a="http://schemas.openxmlformats.org/drawingml/2006/main" noGrp="1"/>
          </p:cNvSpPr>
          <p:nvPr/>
        </p:nvSpPr>
        <p:spPr>
          <a:xfrm xmlns:a="http://schemas.openxmlformats.org/drawingml/2006/main">
            <a:off x="609600" y="29432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0B63E5"/>
                </a:solidFill>
                <a:latin typeface="Arial"/>
                <a:ea typeface="Arial"/>
                <a:cs typeface="Arial"/>
              </a:defRPr>
            </a:pPr>
            <a:r>
              <a:rPr sz="1125" b="1">
                <a:solidFill>
                  <a:srgbClr val="0B63E5"/>
                </a:solidFill>
                <a:latin typeface="Arial"/>
                <a:ea typeface="Arial"/>
                <a:cs typeface="Arial"/>
              </a:rPr>
              <a:t>INTERACTIVE CELLS</a:t>
            </a:r>
          </a:p>
        </p:txBody>
      </p:sp>
      <p:cxnSp>
        <p:nvCxnSpPr>
          <p:cNvPr id="81" name="s9-h-rule-1"/>
          <p:cNvCxnSpPr/>
          <p:nvPr/>
        </p:nvCxnSpPr>
        <p:spPr>
          <a:xfrm xmlns:a="http://schemas.openxmlformats.org/drawingml/2006/main">
            <a:off x="2743200" y="2181225"/>
            <a:ext cx="1809750" cy="0"/>
          </a:xfrm>
          <a:prstGeom xmlns:a="http://schemas.openxmlformats.org/drawingml/2006/main" prst="straightConnector1">
            <a:avLst/>
          </a:prstGeom>
          <a:ln xmlns:a="http://schemas.openxmlformats.org/drawingml/2006/main" w="38100">
            <a:solidFill>
              <a:srgbClr val="008B83"/>
            </a:solidFill>
            <a:prstDash val="solid"/>
          </a:ln>
        </p:spPr>
      </p:cxnSp>
      <p:sp>
        <p:nvSpPr>
          <p:cNvPr id="12" name="s9-h-value-1">
            <a:extLst xmlns:a="http://schemas.openxmlformats.org/drawingml/2006/main">
              <a:ext uri="{FF2B5EF4-FFF2-40B4-BE49-F238E27FC236}">
                <a16:creationId xmlns:a16="http://schemas.microsoft.com/office/drawing/2014/main" id="{355CD3AB-9BE9-491B-9D3E-DA868F3CF4F3}"/>
              </a:ext>
            </a:extLst>
          </p:cNvPr>
          <p:cNvSpPr>
            <a:spLocks xmlns:a="http://schemas.openxmlformats.org/drawingml/2006/main" noGrp="1"/>
          </p:cNvSpPr>
          <p:nvPr/>
        </p:nvSpPr>
        <p:spPr>
          <a:xfrm xmlns:a="http://schemas.openxmlformats.org/drawingml/2006/main">
            <a:off x="2743200" y="24003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991"/>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15</a:t>
            </a:r>
          </a:p>
        </p:txBody>
      </p:sp>
      <p:sp>
        <p:nvSpPr>
          <p:cNvPr id="13" name="s9-h-label-1">
            <a:extLst xmlns:a="http://schemas.openxmlformats.org/drawingml/2006/main">
              <a:ext uri="{FF2B5EF4-FFF2-40B4-BE49-F238E27FC236}">
                <a16:creationId xmlns:a16="http://schemas.microsoft.com/office/drawing/2014/main" id="{0EB1E1EB-448E-4A8C-BBB4-108BC7A09DBA}"/>
              </a:ext>
            </a:extLst>
          </p:cNvPr>
          <p:cNvSpPr>
            <a:spLocks xmlns:a="http://schemas.openxmlformats.org/drawingml/2006/main" noGrp="1"/>
          </p:cNvSpPr>
          <p:nvPr/>
        </p:nvSpPr>
        <p:spPr>
          <a:xfrm xmlns:a="http://schemas.openxmlformats.org/drawingml/2006/main">
            <a:off x="2743200" y="29432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008B83"/>
                </a:solidFill>
                <a:latin typeface="Arial"/>
                <a:ea typeface="Arial"/>
                <a:cs typeface="Arial"/>
              </a:defRPr>
            </a:pPr>
            <a:r>
              <a:rPr sz="1125" b="1">
                <a:solidFill>
                  <a:srgbClr val="008B83"/>
                </a:solidFill>
                <a:latin typeface="Arial"/>
                <a:ea typeface="Arial"/>
                <a:cs typeface="Arial"/>
              </a:rPr>
              <a:t>E1 APPROVED</a:t>
            </a:r>
          </a:p>
        </p:txBody>
      </p:sp>
      <p:cxnSp>
        <p:nvCxnSpPr>
          <p:cNvPr id="84" name="s9-h-rule-2"/>
          <p:cNvCxnSpPr/>
          <p:nvPr/>
        </p:nvCxnSpPr>
        <p:spPr>
          <a:xfrm xmlns:a="http://schemas.openxmlformats.org/drawingml/2006/main">
            <a:off x="4876800" y="2181225"/>
            <a:ext cx="1809750" cy="0"/>
          </a:xfrm>
          <a:prstGeom xmlns:a="http://schemas.openxmlformats.org/drawingml/2006/main" prst="straightConnector1">
            <a:avLst/>
          </a:prstGeom>
          <a:ln xmlns:a="http://schemas.openxmlformats.org/drawingml/2006/main" w="38100">
            <a:solidFill>
              <a:srgbClr val="7658D6"/>
            </a:solidFill>
            <a:prstDash val="solid"/>
          </a:ln>
        </p:spPr>
      </p:cxnSp>
      <p:sp>
        <p:nvSpPr>
          <p:cNvPr id="15" name="s9-h-value-2">
            <a:extLst xmlns:a="http://schemas.openxmlformats.org/drawingml/2006/main">
              <a:ext uri="{FF2B5EF4-FFF2-40B4-BE49-F238E27FC236}">
                <a16:creationId xmlns:a16="http://schemas.microsoft.com/office/drawing/2014/main" id="{83D75E51-677F-4C91-8292-646D579AB32F}"/>
              </a:ext>
            </a:extLst>
          </p:cNvPr>
          <p:cNvSpPr>
            <a:spLocks xmlns:a="http://schemas.openxmlformats.org/drawingml/2006/main" noGrp="1"/>
          </p:cNvSpPr>
          <p:nvPr/>
        </p:nvSpPr>
        <p:spPr>
          <a:xfrm xmlns:a="http://schemas.openxmlformats.org/drawingml/2006/main">
            <a:off x="4876800" y="24003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991"/>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85</a:t>
            </a:r>
          </a:p>
        </p:txBody>
      </p:sp>
      <p:sp>
        <p:nvSpPr>
          <p:cNvPr id="16" name="s9-h-label-2">
            <a:extLst xmlns:a="http://schemas.openxmlformats.org/drawingml/2006/main">
              <a:ext uri="{FF2B5EF4-FFF2-40B4-BE49-F238E27FC236}">
                <a16:creationId xmlns:a16="http://schemas.microsoft.com/office/drawing/2014/main" id="{B46A99CE-8D74-42B7-B68D-EC1F8B8B129B}"/>
              </a:ext>
            </a:extLst>
          </p:cNvPr>
          <p:cNvSpPr>
            <a:spLocks xmlns:a="http://schemas.openxmlformats.org/drawingml/2006/main" noGrp="1"/>
          </p:cNvSpPr>
          <p:nvPr/>
        </p:nvSpPr>
        <p:spPr>
          <a:xfrm xmlns:a="http://schemas.openxmlformats.org/drawingml/2006/main">
            <a:off x="4876800" y="29432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buNone/>
              <a:defRPr sz="1125" b="1">
                <a:solidFill>
                  <a:srgbClr val="7658D6"/>
                </a:solidFill>
                <a:latin typeface="Arial"/>
                <a:ea typeface="Arial"/>
                <a:cs typeface="Arial"/>
              </a:defRPr>
            </a:pPr>
            <a:r>
              <a:rPr sz="1125" b="1">
                <a:solidFill>
                  <a:srgbClr val="7658D6"/>
                </a:solidFill>
                <a:latin typeface="Arial"/>
                <a:ea typeface="Arial"/>
                <a:cs typeface="Arial"/>
              </a:rPr>
              <a:t>E0 PRIOR-LED</a:t>
            </a:r>
          </a:p>
        </p:txBody>
      </p:sp>
      <p:sp>
        <p:nvSpPr>
          <p:cNvPr id="17" name="s9-timing-boundary">
            <a:extLst xmlns:a="http://schemas.openxmlformats.org/drawingml/2006/main">
              <a:ext uri="{FF2B5EF4-FFF2-40B4-BE49-F238E27FC236}">
                <a16:creationId xmlns:a16="http://schemas.microsoft.com/office/drawing/2014/main" id="{32B7DD4B-06EA-40FE-BF15-A46B4B09CA58}"/>
              </a:ext>
            </a:extLst>
          </p:cNvPr>
          <p:cNvSpPr>
            <a:spLocks xmlns:a="http://schemas.openxmlformats.org/drawingml/2006/main" noGrp="1"/>
          </p:cNvSpPr>
          <p:nvPr/>
        </p:nvSpPr>
        <p:spPr>
          <a:xfrm xmlns:a="http://schemas.openxmlformats.org/drawingml/2006/main">
            <a:off x="609600" y="3581400"/>
            <a:ext cx="6096000" cy="2038350"/>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18" name="s9-timing-title">
            <a:extLst xmlns:a="http://schemas.openxmlformats.org/drawingml/2006/main">
              <a:ext uri="{FF2B5EF4-FFF2-40B4-BE49-F238E27FC236}">
                <a16:creationId xmlns:a16="http://schemas.microsoft.com/office/drawing/2014/main" id="{DE5A29E3-C09B-4769-A0A0-CE7C77C6D298}"/>
              </a:ext>
            </a:extLst>
          </p:cNvPr>
          <p:cNvSpPr>
            <a:spLocks xmlns:a="http://schemas.openxmlformats.org/drawingml/2006/main" noGrp="1"/>
          </p:cNvSpPr>
          <p:nvPr/>
        </p:nvSpPr>
        <p:spPr>
          <a:xfrm xmlns:a="http://schemas.openxmlformats.org/drawingml/2006/main">
            <a:off x="876300" y="38671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1126"/>
          </a:bodyPr>
          <a:lstStyle xmlns:a="http://schemas.openxmlformats.org/drawingml/2006/main"/>
          <a:p xmlns:a="http://schemas.openxmlformats.org/drawingml/2006/main">
            <a:pPr algn="l">
              <a:buNone/>
              <a:defRPr sz="2175" b="1">
                <a:solidFill>
                  <a:srgbClr val="0C1728"/>
                </a:solidFill>
                <a:latin typeface="Arial"/>
                <a:ea typeface="Arial"/>
                <a:cs typeface="Arial"/>
              </a:defRPr>
            </a:pPr>
            <a:r>
              <a:rPr sz="2175" b="1">
                <a:solidFill>
                  <a:srgbClr val="0C1728"/>
                </a:solidFill>
                <a:latin typeface="Arial"/>
                <a:ea typeface="Arial"/>
                <a:cs typeface="Arial"/>
              </a:rPr>
              <a:t>Five product lenses · one explicit evidence state</a:t>
            </a:r>
          </a:p>
        </p:txBody>
      </p:sp>
      <p:sp>
        <p:nvSpPr>
          <p:cNvPr id="19" name="s9-timing-copy">
            <a:extLst xmlns:a="http://schemas.openxmlformats.org/drawingml/2006/main">
              <a:ext uri="{FF2B5EF4-FFF2-40B4-BE49-F238E27FC236}">
                <a16:creationId xmlns:a16="http://schemas.microsoft.com/office/drawing/2014/main" id="{92E94F2A-4684-4AD6-9F5A-912A18424301}"/>
              </a:ext>
            </a:extLst>
          </p:cNvPr>
          <p:cNvSpPr>
            <a:spLocks xmlns:a="http://schemas.openxmlformats.org/drawingml/2006/main" noGrp="1"/>
          </p:cNvSpPr>
          <p:nvPr/>
        </p:nvSpPr>
        <p:spPr>
          <a:xfrm xmlns:a="http://schemas.openxmlformats.org/drawingml/2006/main">
            <a:off x="876300" y="4410075"/>
            <a:ext cx="533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627086"/>
                </a:solidFill>
                <a:latin typeface="Arial"/>
                <a:ea typeface="Arial"/>
                <a:cs typeface="Arial"/>
              </a:defRPr>
            </a:pPr>
            <a:r>
              <a:rPr sz="1425" b="0">
                <a:solidFill>
                  <a:srgbClr val="627086"/>
                </a:solidFill>
                <a:latin typeface="Arial"/>
                <a:ea typeface="Arial"/>
                <a:cs typeface="Arial"/>
              </a:rPr>
              <a:t>Toggle A, posterior T, estimated q, contestable G or approval status. FX and Liquidity remain labelled proxies.</a:t>
            </a:r>
          </a:p>
        </p:txBody>
      </p:sp>
      <p:sp>
        <p:nvSpPr>
          <p:cNvPr id="20" name="s9-timing-decision">
            <a:extLst xmlns:a="http://schemas.openxmlformats.org/drawingml/2006/main">
              <a:ext uri="{FF2B5EF4-FFF2-40B4-BE49-F238E27FC236}">
                <a16:creationId xmlns:a16="http://schemas.microsoft.com/office/drawing/2014/main" id="{B4558216-3A90-4FBB-8AE9-6DFFDE615C36}"/>
              </a:ext>
            </a:extLst>
          </p:cNvPr>
          <p:cNvSpPr>
            <a:spLocks xmlns:a="http://schemas.openxmlformats.org/drawingml/2006/main" noGrp="1"/>
          </p:cNvSpPr>
          <p:nvPr/>
        </p:nvSpPr>
        <p:spPr>
          <a:xfrm xmlns:a="http://schemas.openxmlformats.org/drawingml/2006/main">
            <a:off x="876300" y="52006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1">
                <a:solidFill>
                  <a:srgbClr val="0B63E5"/>
                </a:solidFill>
                <a:latin typeface="Arial"/>
                <a:ea typeface="Arial"/>
                <a:cs typeface="Arial"/>
              </a:defRPr>
            </a:pPr>
            <a:r>
              <a:rPr sz="1350" b="1">
                <a:solidFill>
                  <a:srgbClr val="0B63E5"/>
                </a:solidFill>
                <a:latin typeface="Arial"/>
                <a:ea typeface="Arial"/>
                <a:cs typeface="Arial"/>
              </a:rPr>
              <a:t>Click a cell to open A / T / q / q* / G</a:t>
            </a:r>
          </a:p>
        </p:txBody>
      </p:sp>
      <p:sp>
        <p:nvSpPr>
          <p:cNvPr id="21" name="s9-causal">
            <a:extLst xmlns:a="http://schemas.openxmlformats.org/drawingml/2006/main">
              <a:ext uri="{FF2B5EF4-FFF2-40B4-BE49-F238E27FC236}">
                <a16:creationId xmlns:a16="http://schemas.microsoft.com/office/drawing/2014/main" id="{DEB653AE-6340-4A85-A7AD-6C6F58485AA6}"/>
              </a:ext>
            </a:extLst>
          </p:cNvPr>
          <p:cNvSpPr>
            <a:spLocks xmlns:a="http://schemas.openxmlformats.org/drawingml/2006/main" noGrp="1"/>
          </p:cNvSpPr>
          <p:nvPr/>
        </p:nvSpPr>
        <p:spPr>
          <a:xfrm xmlns:a="http://schemas.openxmlformats.org/drawingml/2006/main">
            <a:off x="7162800" y="1714500"/>
            <a:ext cx="4133850" cy="3905250"/>
          </a:xfrm>
          <a:prstGeom xmlns:a="http://schemas.openxmlformats.org/drawingml/2006/main" prst="rect">
            <a:avLst/>
          </a:prstGeom>
          <a:solidFill xmlns:a="http://schemas.openxmlformats.org/drawingml/2006/main">
            <a:srgbClr val="071321"/>
          </a:solidFill>
          <a:ln xmlns:a="http://schemas.openxmlformats.org/drawingml/2006/main" w="0">
            <a:noFill/>
            <a:prstDash val="solid"/>
          </a:ln>
        </p:spPr>
      </p:sp>
      <p:sp>
        <p:nvSpPr>
          <p:cNvPr id="22" name="s9-causal-label">
            <a:extLst xmlns:a="http://schemas.openxmlformats.org/drawingml/2006/main">
              <a:ext uri="{FF2B5EF4-FFF2-40B4-BE49-F238E27FC236}">
                <a16:creationId xmlns:a16="http://schemas.microsoft.com/office/drawing/2014/main" id="{56CCB79D-2F4C-4071-AA99-A2CAF5C90ACD}"/>
              </a:ext>
            </a:extLst>
          </p:cNvPr>
          <p:cNvSpPr>
            <a:spLocks xmlns:a="http://schemas.openxmlformats.org/drawingml/2006/main" noGrp="1"/>
          </p:cNvSpPr>
          <p:nvPr/>
        </p:nvSpPr>
        <p:spPr>
          <a:xfrm xmlns:a="http://schemas.openxmlformats.org/drawingml/2006/main">
            <a:off x="7448550" y="20097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7CB6FF"/>
                </a:solidFill>
                <a:latin typeface="Arial"/>
                <a:ea typeface="Arial"/>
                <a:cs typeface="Arial"/>
              </a:defRPr>
            </a:pPr>
            <a:r>
              <a:rPr sz="975" b="1">
                <a:solidFill>
                  <a:srgbClr val="7CB6FF"/>
                </a:solidFill>
                <a:latin typeface="Arial"/>
                <a:ea typeface="Arial"/>
                <a:cs typeface="Arial"/>
              </a:rPr>
              <a:t>AGGREGATION RULE</a:t>
            </a:r>
          </a:p>
        </p:txBody>
      </p:sp>
      <p:sp>
        <p:nvSpPr>
          <p:cNvPr id="23" name="s9-zero">
            <a:extLst xmlns:a="http://schemas.openxmlformats.org/drawingml/2006/main">
              <a:ext uri="{FF2B5EF4-FFF2-40B4-BE49-F238E27FC236}">
                <a16:creationId xmlns:a16="http://schemas.microsoft.com/office/drawing/2014/main" id="{1BC298F3-8F98-44E8-90B8-57C6524EBBC2}"/>
              </a:ext>
            </a:extLst>
          </p:cNvPr>
          <p:cNvSpPr>
            <a:spLocks xmlns:a="http://schemas.openxmlformats.org/drawingml/2006/main" noGrp="1"/>
          </p:cNvSpPr>
          <p:nvPr/>
        </p:nvSpPr>
        <p:spPr>
          <a:xfrm xmlns:a="http://schemas.openxmlformats.org/drawingml/2006/main">
            <a:off x="7448550" y="2428875"/>
            <a:ext cx="1619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529"/>
          </a:bodyPr>
          <a:lstStyle xmlns:a="http://schemas.openxmlformats.org/drawingml/2006/main"/>
          <a:p xmlns:a="http://schemas.openxmlformats.org/drawingml/2006/main">
            <a:pPr algn="l">
              <a:buNone/>
              <a:defRPr sz="4350" b="1">
                <a:solidFill>
                  <a:srgbClr val="E2951C"/>
                </a:solidFill>
                <a:latin typeface="Arial"/>
                <a:ea typeface="Arial"/>
                <a:cs typeface="Arial"/>
              </a:defRPr>
            </a:pPr>
            <a:r>
              <a:rPr sz="4350" b="1">
                <a:solidFill>
                  <a:srgbClr val="E2951C"/>
                </a:solidFill>
                <a:latin typeface="Arial"/>
                <a:ea typeface="Arial"/>
                <a:cs typeface="Arial"/>
              </a:rPr>
              <a:t>0</a:t>
            </a:r>
          </a:p>
        </p:txBody>
      </p:sp>
      <p:sp>
        <p:nvSpPr>
          <p:cNvPr id="24" name="s9-zero-label">
            <a:extLst xmlns:a="http://schemas.openxmlformats.org/drawingml/2006/main">
              <a:ext uri="{FF2B5EF4-FFF2-40B4-BE49-F238E27FC236}">
                <a16:creationId xmlns:a16="http://schemas.microsoft.com/office/drawing/2014/main" id="{015FB61A-4EB2-49A8-A191-3C22BB980B1C}"/>
              </a:ext>
            </a:extLst>
          </p:cNvPr>
          <p:cNvSpPr>
            <a:spLocks xmlns:a="http://schemas.openxmlformats.org/drawingml/2006/main" noGrp="1"/>
          </p:cNvSpPr>
          <p:nvPr/>
        </p:nvSpPr>
        <p:spPr>
          <a:xfrm xmlns:a="http://schemas.openxmlformats.org/drawingml/2006/main">
            <a:off x="7448550" y="31623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buNone/>
              <a:defRPr sz="1350" b="1">
                <a:solidFill>
                  <a:srgbClr val="FFFFFF"/>
                </a:solidFill>
                <a:latin typeface="Arial"/>
                <a:ea typeface="Arial"/>
                <a:cs typeface="Arial"/>
              </a:defRPr>
            </a:pPr>
            <a:r>
              <a:rPr sz="1350" b="1">
                <a:solidFill>
                  <a:srgbClr val="FFFFFF"/>
                </a:solidFill>
                <a:latin typeface="Arial"/>
                <a:ea typeface="Arial"/>
                <a:cs typeface="Arial"/>
              </a:rPr>
              <a:t>heterogeneous spend totals</a:t>
            </a:r>
          </a:p>
        </p:txBody>
      </p:sp>
      <p:sp>
        <p:nvSpPr>
          <p:cNvPr id="25" name="s9-trial">
            <a:extLst xmlns:a="http://schemas.openxmlformats.org/drawingml/2006/main">
              <a:ext uri="{FF2B5EF4-FFF2-40B4-BE49-F238E27FC236}">
                <a16:creationId xmlns:a16="http://schemas.microsoft.com/office/drawing/2014/main" id="{3EEF729C-9646-4DF9-9693-A184677895B2}"/>
              </a:ext>
            </a:extLst>
          </p:cNvPr>
          <p:cNvSpPr>
            <a:spLocks xmlns:a="http://schemas.openxmlformats.org/drawingml/2006/main" noGrp="1"/>
          </p:cNvSpPr>
          <p:nvPr/>
        </p:nvSpPr>
        <p:spPr>
          <a:xfrm xmlns:a="http://schemas.openxmlformats.org/drawingml/2006/main">
            <a:off x="7448550" y="3743325"/>
            <a:ext cx="3333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210"/>
          </a:bodyPr>
          <a:lstStyle xmlns:a="http://schemas.openxmlformats.org/drawingml/2006/main"/>
          <a:p xmlns:a="http://schemas.openxmlformats.org/drawingml/2006/main">
            <a:pPr algn="l">
              <a:buNone/>
              <a:defRPr sz="1350" b="0">
                <a:solidFill>
                  <a:srgbClr val="C7D5E8"/>
                </a:solidFill>
                <a:latin typeface="Arial"/>
                <a:ea typeface="Arial"/>
                <a:cs typeface="Arial"/>
              </a:defRPr>
            </a:pPr>
            <a:r>
              <a:rPr sz="1350" b="0">
                <a:solidFill>
                  <a:srgbClr val="C7D5E8"/>
                </a:solidFill>
                <a:latin typeface="Arial"/>
                <a:ea typeface="Arial"/>
                <a:cs typeface="Arial"/>
              </a:rPr>
              <a:t>WALLET FIRST</a:t>
            </a:r>
          </a:p>
          <a:p xmlns:a="http://schemas.openxmlformats.org/drawingml/2006/main">
            <a:pPr algn="l">
              <a:buNone/>
              <a:defRPr sz="1350" b="0">
                <a:solidFill>
                  <a:srgbClr val="C7D5E8"/>
                </a:solidFill>
                <a:latin typeface="Arial"/>
                <a:ea typeface="Arial"/>
                <a:cs typeface="Arial"/>
              </a:defRPr>
            </a:pPr>
            <a:r>
              <a:rPr sz="1350" b="0">
                <a:solidFill>
                  <a:srgbClr val="C7D5E8"/>
                </a:solidFill>
                <a:latin typeface="Arial"/>
                <a:ea typeface="Arial"/>
                <a:cs typeface="Arial"/>
              </a:rPr>
              <a:t>Coverage Plan is the governed action layer below this evidence.</a:t>
            </a:r>
          </a:p>
        </p:txBody>
      </p:sp>
      <p:sp>
        <p:nvSpPr>
          <p:cNvPr id="26" name="s9-prohibit">
            <a:extLst xmlns:a="http://schemas.openxmlformats.org/drawingml/2006/main">
              <a:ext uri="{FF2B5EF4-FFF2-40B4-BE49-F238E27FC236}">
                <a16:creationId xmlns:a16="http://schemas.microsoft.com/office/drawing/2014/main" id="{4A94FD06-8ED0-40F6-8A16-897B0CC0077A}"/>
              </a:ext>
            </a:extLst>
          </p:cNvPr>
          <p:cNvSpPr>
            <a:spLocks xmlns:a="http://schemas.openxmlformats.org/drawingml/2006/main" noGrp="1"/>
          </p:cNvSpPr>
          <p:nvPr/>
        </p:nvSpPr>
        <p:spPr>
          <a:xfrm xmlns:a="http://schemas.openxmlformats.org/drawingml/2006/main">
            <a:off x="7448550" y="4810125"/>
            <a:ext cx="3333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667"/>
          </a:bodyPr>
          <a:lstStyle xmlns:a="http://schemas.openxmlformats.org/drawingml/2006/main"/>
          <a:p xmlns:a="http://schemas.openxmlformats.org/drawingml/2006/main">
            <a:pPr algn="l">
              <a:buNone/>
              <a:defRPr sz="1500" b="1">
                <a:solidFill>
                  <a:srgbClr val="FFFFFF"/>
                </a:solidFill>
                <a:latin typeface="Arial"/>
                <a:ea typeface="Arial"/>
                <a:cs typeface="Arial"/>
              </a:defRPr>
            </a:pPr>
            <a:r>
              <a:rPr sz="1500" b="1">
                <a:solidFill>
                  <a:srgbClr val="FFFFFF"/>
                </a:solidFill>
                <a:latin typeface="Arial"/>
                <a:ea typeface="Arial"/>
                <a:cs typeface="Arial"/>
              </a:rPr>
              <a:t>Product activities are never summed as a single banking-spend number. Only scenario contribution is aggregated.</a:t>
            </a:r>
          </a:p>
        </p:txBody>
      </p:sp>
      <p:sp>
        <p:nvSpPr>
          <p:cNvPr id="69" name="">
            <a:extLst xmlns:a="http://schemas.openxmlformats.org/drawingml/2006/main">
              <a:ext uri="{FF2B5EF4-FFF2-40B4-BE49-F238E27FC236}">
                <a16:creationId xmlns:a16="http://schemas.microsoft.com/office/drawing/2014/main" id="{94E996FD-5AB7-486E-A330-CBE6DB73B77E}"/>
              </a:ext>
            </a:extLst>
          </p:cNvPr>
          <p:cNvSpPr>
            <a:spLocks xmlns:a="http://schemas.openxmlformats.org/drawingml/2006/main" noGrp="1"/>
          </p:cNvSpPr>
          <p:nvPr/>
        </p:nvSpPr>
        <p:spPr>
          <a:xfrm xmlns:a="http://schemas.openxmlformats.org/drawingml/2006/main">
            <a:off x="514350" y="1447800"/>
            <a:ext cx="11239500" cy="4914900"/>
          </a:xfrm>
          <a:prstGeom xmlns:a="http://schemas.openxmlformats.org/drawingml/2006/main" prst="rect">
            <a:avLst/>
          </a:prstGeom>
          <a:solidFill xmlns:a="http://schemas.openxmlformats.org/drawingml/2006/main">
            <a:srgbClr val="FFFFFF"/>
          </a:solidFill>
          <a:ln xmlns:a="http://schemas.openxmlformats.org/drawingml/2006/main" w="9525">
            <a:solidFill>
              <a:srgbClr val="D7DEE8"/>
            </a:solidFill>
            <a:prstDash val="solid"/>
          </a:ln>
        </p:spPr>
      </p:sp>
      <p:pic>
        <p:nvPicPr>
          <p:cNvPr id="98" name=""/>
          <p:cNvPicPr>
            <a:picLocks xmlns:a="http://schemas.openxmlformats.org/drawingml/2006/main" noChangeAspect="1"/>
          </p:cNvPicPr>
          <p:nvPr/>
        </p:nvPicPr>
        <p:blipFill>
          <a:blip xmlns:r="http://schemas.openxmlformats.org/officeDocument/2006/relationships" xmlns:a="http://schemas.openxmlformats.org/drawingml/2006/main" r:embed="Rcf9140ade0984810"/>
          <a:stretch xmlns:a="http://schemas.openxmlformats.org/drawingml/2006/main"/>
        </p:blipFill>
        <p:spPr>
          <a:xfrm xmlns:a="http://schemas.openxmlformats.org/drawingml/2006/main">
            <a:off x="2832472" y="1524000"/>
            <a:ext cx="6527056" cy="4762500"/>
          </a:xfrm>
          <a:prstGeom xmlns:a="http://schemas.openxmlformats.org/drawingml/2006/main" prst="rect">
            <a:avLst/>
          </a:prstGeom>
        </p:spPr>
      </p:pic>
    </p:spTree>
    <p:extLst>
      <p:ext uri="{BB962C8B-B14F-4D97-AF65-F5344CB8AC3E}">
        <p14:creationId xmlns:p14="http://schemas.microsoft.com/office/powerpoint/2010/main" val="208227149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0" name="eyebrow-5">
            <a:extLst xmlns:a="http://schemas.openxmlformats.org/drawingml/2006/main">
              <a:ext uri="{FF2B5EF4-FFF2-40B4-BE49-F238E27FC236}">
                <a16:creationId xmlns:a16="http://schemas.microsoft.com/office/drawing/2014/main" id="{DF3A7B03-9B14-4428-9350-9C1DB6E6A120}"/>
              </a:ext>
            </a:extLst>
          </p:cNvPr>
          <p:cNvSpPr>
            <a:spLocks xmlns:a="http://schemas.openxmlformats.org/drawingml/2006/main" noGrp="1"/>
          </p:cNvSpPr>
          <p:nvPr/>
        </p:nvSpPr>
        <p:spPr>
          <a:xfrm xmlns:a="http://schemas.openxmlformats.org/drawingml/2006/main">
            <a:off x="609600" y="3238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B63E5"/>
                </a:solidFill>
                <a:latin typeface="Arial"/>
                <a:ea typeface="Arial"/>
                <a:cs typeface="Arial"/>
              </a:defRPr>
            </a:pPr>
            <a:r>
              <a:rPr sz="975" b="1">
                <a:solidFill>
                  <a:srgbClr val="0B63E5"/>
                </a:solidFill>
                <a:latin typeface="Arial"/>
                <a:ea typeface="Arial"/>
                <a:cs typeface="Arial"/>
              </a:rPr>
              <a:t>BHP FORENSIC DRILL-DOWN</a:t>
            </a:r>
          </a:p>
        </p:txBody>
      </p:sp>
      <p:sp>
        <p:nvSpPr>
          <p:cNvPr id="2" name="title-5">
            <a:extLst xmlns:a="http://schemas.openxmlformats.org/drawingml/2006/main">
              <a:ext uri="{FF2B5EF4-FFF2-40B4-BE49-F238E27FC236}">
                <a16:creationId xmlns:a16="http://schemas.microsoft.com/office/drawing/2014/main" id="{A9D3F8B3-4F30-4E76-B0B2-215D588E5212}"/>
              </a:ext>
            </a:extLst>
          </p:cNvPr>
          <p:cNvSpPr>
            <a:spLocks xmlns:a="http://schemas.openxmlformats.org/drawingml/2006/main" noGrp="1"/>
          </p:cNvSpPr>
          <p:nvPr/>
        </p:nvSpPr>
        <p:spPr>
          <a:xfrm xmlns:a="http://schemas.openxmlformats.org/drawingml/2006/main">
            <a:off x="609600" y="6572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buNone/>
              <a:defRPr sz="3150" b="1">
                <a:solidFill>
                  <a:srgbClr val="0C1728"/>
                </a:solidFill>
                <a:latin typeface="Arial"/>
                <a:ea typeface="Arial"/>
                <a:cs typeface="Arial"/>
              </a:defRPr>
            </a:pPr>
            <a:r>
              <a:rPr sz="3150" b="1">
                <a:solidFill>
                  <a:srgbClr val="0C1728"/>
                </a:solidFill>
                <a:latin typeface="Arial"/>
                <a:ea typeface="Arial"/>
                <a:cs typeface="Arial"/>
              </a:rPr>
              <a:t>Trade Finance: A → T → q → q* → G</a:t>
            </a:r>
          </a:p>
        </p:txBody>
      </p:sp>
      <p:cxnSp>
        <p:nvCxnSpPr>
          <p:cNvPr id="153" name="title-rule-5"/>
          <p:cNvCxnSpPr/>
          <p:nvPr/>
        </p:nvCxnSpPr>
        <p:spPr>
          <a:xfrm xmlns:a="http://schemas.openxmlformats.org/drawingml/2006/main">
            <a:off x="609600" y="1381125"/>
            <a:ext cx="10972800" cy="0"/>
          </a:xfrm>
          <a:prstGeom xmlns:a="http://schemas.openxmlformats.org/drawingml/2006/main" prst="straightConnector1">
            <a:avLst/>
          </a:prstGeom>
          <a:ln xmlns:a="http://schemas.openxmlformats.org/drawingml/2006/main" w="9525">
            <a:solidFill>
              <a:srgbClr val="D7DEE8"/>
            </a:solidFill>
            <a:prstDash val="solid"/>
          </a:ln>
        </p:spPr>
      </p:cxnSp>
      <p:sp>
        <p:nvSpPr>
          <p:cNvPr id="4" name="footer-team-5">
            <a:extLst xmlns:a="http://schemas.openxmlformats.org/drawingml/2006/main">
              <a:ext uri="{FF2B5EF4-FFF2-40B4-BE49-F238E27FC236}">
                <a16:creationId xmlns:a16="http://schemas.microsoft.com/office/drawing/2014/main" id="{BCEC2F98-6E60-4FFE-98F2-07141617553F}"/>
              </a:ext>
            </a:extLst>
          </p:cNvPr>
          <p:cNvSpPr>
            <a:spLocks xmlns:a="http://schemas.openxmlformats.org/drawingml/2006/main" noGrp="1"/>
          </p:cNvSpPr>
          <p:nvPr/>
        </p:nvSpPr>
        <p:spPr>
          <a:xfrm xmlns:a="http://schemas.openxmlformats.org/drawingml/2006/main">
            <a:off x="609600" y="64865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27086"/>
                </a:solidFill>
                <a:latin typeface="Arial"/>
                <a:ea typeface="Arial"/>
                <a:cs typeface="Arial"/>
              </a:defRPr>
            </a:pPr>
            <a:r>
              <a:rPr sz="825" b="1">
                <a:solidFill>
                  <a:srgbClr val="627086"/>
                </a:solidFill>
                <a:latin typeface="Arial"/>
                <a:ea typeface="Arial"/>
                <a:cs typeface="Arial"/>
              </a:rPr>
              <a:t>TEAM: Corporate Wallet Digital Twin | Christopher Koen | V3.2.0</a:t>
            </a:r>
          </a:p>
        </p:txBody>
      </p:sp>
      <p:sp>
        <p:nvSpPr>
          <p:cNvPr id="5" name="footer-data-5">
            <a:extLst xmlns:a="http://schemas.openxmlformats.org/drawingml/2006/main">
              <a:ext uri="{FF2B5EF4-FFF2-40B4-BE49-F238E27FC236}">
                <a16:creationId xmlns:a16="http://schemas.microsoft.com/office/drawing/2014/main" id="{836B0C26-7083-4EDE-A008-3361DE477FA9}"/>
              </a:ext>
            </a:extLst>
          </p:cNvPr>
          <p:cNvSpPr>
            <a:spLocks xmlns:a="http://schemas.openxmlformats.org/drawingml/2006/main" noGrp="1"/>
          </p:cNvSpPr>
          <p:nvPr/>
        </p:nvSpPr>
        <p:spPr>
          <a:xfrm xmlns:a="http://schemas.openxmlformats.org/drawingml/2006/main">
            <a:off x="748665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r">
              <a:buNone/>
              <a:defRPr sz="750" b="1">
                <a:solidFill>
                  <a:srgbClr val="627086"/>
                </a:solidFill>
                <a:latin typeface="Arial"/>
                <a:ea typeface="Arial"/>
                <a:cs typeface="Arial"/>
              </a:defRPr>
            </a:pPr>
            <a:r>
              <a:rPr sz="750" b="1">
                <a:solidFill>
                  <a:srgbClr val="627086"/>
                </a:solidFill>
                <a:latin typeface="Arial"/>
                <a:ea typeface="Arial"/>
                <a:cs typeface="Arial"/>
              </a:rPr>
              <a:t>CONFIDENTIAL SYN BANK ACTIVITY + APPROVED PUBLIC E1 + GOVERNED PRIORS</a:t>
            </a:r>
          </a:p>
        </p:txBody>
      </p:sp>
      <p:sp>
        <p:nvSpPr>
          <p:cNvPr id="6" name="footer-page-5">
            <a:extLst xmlns:a="http://schemas.openxmlformats.org/drawingml/2006/main">
              <a:ext uri="{FF2B5EF4-FFF2-40B4-BE49-F238E27FC236}">
                <a16:creationId xmlns:a16="http://schemas.microsoft.com/office/drawing/2014/main" id="{BD1BC014-C19C-42CE-9DD8-683E328C3552}"/>
              </a:ext>
            </a:extLst>
          </p:cNvPr>
          <p:cNvSpPr>
            <a:spLocks xmlns:a="http://schemas.openxmlformats.org/drawingml/2006/main" noGrp="1"/>
          </p:cNvSpPr>
          <p:nvPr/>
        </p:nvSpPr>
        <p:spPr>
          <a:xfrm xmlns:a="http://schemas.openxmlformats.org/drawingml/2006/main">
            <a:off x="11287125" y="6486525"/>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buNone/>
              <a:defRPr sz="825" b="1">
                <a:solidFill>
                  <a:srgbClr val="627086"/>
                </a:solidFill>
                <a:latin typeface="Arial"/>
                <a:ea typeface="Arial"/>
                <a:cs typeface="Arial"/>
              </a:defRPr>
            </a:pPr>
            <a:r>
              <a:rPr sz="825" b="1">
                <a:solidFill>
                  <a:srgbClr val="627086"/>
                </a:solidFill>
                <a:latin typeface="Arial"/>
                <a:ea typeface="Arial"/>
                <a:cs typeface="Arial"/>
              </a:rPr>
              <a:t>06</a:t>
            </a:r>
          </a:p>
        </p:txBody>
      </p:sp>
      <p:cxnSp>
        <p:nvCxnSpPr>
          <p:cNvPr id="157" name="s5-facts-rule"/>
          <p:cNvCxnSpPr/>
          <p:nvPr/>
        </p:nvCxnSpPr>
        <p:spPr>
          <a:xfrm xmlns:a="http://schemas.openxmlformats.org/drawingml/2006/main">
            <a:off x="609600" y="1714500"/>
            <a:ext cx="2762250" cy="0"/>
          </a:xfrm>
          <a:prstGeom xmlns:a="http://schemas.openxmlformats.org/drawingml/2006/main" prst="straightConnector1">
            <a:avLst/>
          </a:prstGeom>
          <a:ln xmlns:a="http://schemas.openxmlformats.org/drawingml/2006/main" w="38100">
            <a:solidFill>
              <a:srgbClr val="0B63E5"/>
            </a:solidFill>
            <a:prstDash val="solid"/>
          </a:ln>
        </p:spPr>
      </p:cxnSp>
      <p:sp>
        <p:nvSpPr>
          <p:cNvPr id="8" name="s5-facts-value">
            <a:extLst xmlns:a="http://schemas.openxmlformats.org/drawingml/2006/main">
              <a:ext uri="{FF2B5EF4-FFF2-40B4-BE49-F238E27FC236}">
                <a16:creationId xmlns:a16="http://schemas.microsoft.com/office/drawing/2014/main" id="{1A440B25-2EDA-444A-8C58-B106BE903A64}"/>
              </a:ext>
            </a:extLst>
          </p:cNvPr>
          <p:cNvSpPr>
            <a:spLocks xmlns:a="http://schemas.openxmlformats.org/drawingml/2006/main" noGrp="1"/>
          </p:cNvSpPr>
          <p:nvPr/>
        </p:nvSpPr>
        <p:spPr>
          <a:xfrm xmlns:a="http://schemas.openxmlformats.org/drawingml/2006/main">
            <a:off x="609600" y="18859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R1.445bn</a:t>
            </a:r>
          </a:p>
        </p:txBody>
      </p:sp>
      <p:sp>
        <p:nvSpPr>
          <p:cNvPr id="9" name="s5-facts-label">
            <a:extLst xmlns:a="http://schemas.openxmlformats.org/drawingml/2006/main">
              <a:ext uri="{FF2B5EF4-FFF2-40B4-BE49-F238E27FC236}">
                <a16:creationId xmlns:a16="http://schemas.microsoft.com/office/drawing/2014/main" id="{78172733-3C91-4AFB-8EE5-DCE6F70D56BB}"/>
              </a:ext>
            </a:extLst>
          </p:cNvPr>
          <p:cNvSpPr>
            <a:spLocks xmlns:a="http://schemas.openxmlformats.org/drawingml/2006/main" noGrp="1"/>
          </p:cNvSpPr>
          <p:nvPr/>
        </p:nvSpPr>
        <p:spPr>
          <a:xfrm xmlns:a="http://schemas.openxmlformats.org/drawingml/2006/main">
            <a:off x="609600" y="24193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A · observed activity</a:t>
            </a:r>
          </a:p>
        </p:txBody>
      </p:sp>
      <p:sp>
        <p:nvSpPr>
          <p:cNvPr id="10" name="s5-facts-note">
            <a:extLst xmlns:a="http://schemas.openxmlformats.org/drawingml/2006/main">
              <a:ext uri="{FF2B5EF4-FFF2-40B4-BE49-F238E27FC236}">
                <a16:creationId xmlns:a16="http://schemas.microsoft.com/office/drawing/2014/main" id="{CC8F1502-909F-4564-A440-CE8A3E1BC189}"/>
              </a:ext>
            </a:extLst>
          </p:cNvPr>
          <p:cNvSpPr>
            <a:spLocks xmlns:a="http://schemas.openxmlformats.org/drawingml/2006/main" noGrp="1"/>
          </p:cNvSpPr>
          <p:nvPr/>
        </p:nvSpPr>
        <p:spPr>
          <a:xfrm xmlns:a="http://schemas.openxmlformats.org/drawingml/2006/main">
            <a:off x="609600" y="274320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Syn Bank supplied annual trade-flow activity</a:t>
            </a:r>
          </a:p>
        </p:txBody>
      </p:sp>
      <p:cxnSp>
        <p:nvCxnSpPr>
          <p:cNvPr id="161" name="s5-clients-rule"/>
          <p:cNvCxnSpPr/>
          <p:nvPr/>
        </p:nvCxnSpPr>
        <p:spPr>
          <a:xfrm xmlns:a="http://schemas.openxmlformats.org/drawingml/2006/main">
            <a:off x="4171950" y="1714500"/>
            <a:ext cx="2762250" cy="0"/>
          </a:xfrm>
          <a:prstGeom xmlns:a="http://schemas.openxmlformats.org/drawingml/2006/main" prst="straightConnector1">
            <a:avLst/>
          </a:prstGeom>
          <a:ln xmlns:a="http://schemas.openxmlformats.org/drawingml/2006/main" w="38100">
            <a:solidFill>
              <a:srgbClr val="008B83"/>
            </a:solidFill>
            <a:prstDash val="solid"/>
          </a:ln>
        </p:spPr>
      </p:cxnSp>
      <p:sp>
        <p:nvSpPr>
          <p:cNvPr id="12" name="s5-clients-value">
            <a:extLst xmlns:a="http://schemas.openxmlformats.org/drawingml/2006/main">
              <a:ext uri="{FF2B5EF4-FFF2-40B4-BE49-F238E27FC236}">
                <a16:creationId xmlns:a16="http://schemas.microsoft.com/office/drawing/2014/main" id="{03758179-E242-4EFB-8760-B7A11BC1332E}"/>
              </a:ext>
            </a:extLst>
          </p:cNvPr>
          <p:cNvSpPr>
            <a:spLocks xmlns:a="http://schemas.openxmlformats.org/drawingml/2006/main" noGrp="1"/>
          </p:cNvSpPr>
          <p:nvPr/>
        </p:nvSpPr>
        <p:spPr>
          <a:xfrm xmlns:a="http://schemas.openxmlformats.org/drawingml/2006/main">
            <a:off x="4171950" y="18859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R5.15–22.08bn</a:t>
            </a:r>
          </a:p>
        </p:txBody>
      </p:sp>
      <p:sp>
        <p:nvSpPr>
          <p:cNvPr id="13" name="s5-clients-label">
            <a:extLst xmlns:a="http://schemas.openxmlformats.org/drawingml/2006/main">
              <a:ext uri="{FF2B5EF4-FFF2-40B4-BE49-F238E27FC236}">
                <a16:creationId xmlns:a16="http://schemas.microsoft.com/office/drawing/2014/main" id="{67C67AE6-DD5B-4748-BF28-8E0C969E6437}"/>
              </a:ext>
            </a:extLst>
          </p:cNvPr>
          <p:cNvSpPr>
            <a:spLocks xmlns:a="http://schemas.openxmlformats.org/drawingml/2006/main" noGrp="1"/>
          </p:cNvSpPr>
          <p:nvPr/>
        </p:nvSpPr>
        <p:spPr>
          <a:xfrm xmlns:a="http://schemas.openxmlformats.org/drawingml/2006/main">
            <a:off x="4171950" y="24193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T · posterior wallet</a:t>
            </a:r>
          </a:p>
        </p:txBody>
      </p:sp>
      <p:sp>
        <p:nvSpPr>
          <p:cNvPr id="14" name="s5-clients-note">
            <a:extLst xmlns:a="http://schemas.openxmlformats.org/drawingml/2006/main">
              <a:ext uri="{FF2B5EF4-FFF2-40B4-BE49-F238E27FC236}">
                <a16:creationId xmlns:a16="http://schemas.microsoft.com/office/drawing/2014/main" id="{F5130D4D-27D4-409A-87DC-6A73D0DDA253}"/>
              </a:ext>
            </a:extLst>
          </p:cNvPr>
          <p:cNvSpPr>
            <a:spLocks xmlns:a="http://schemas.openxmlformats.org/drawingml/2006/main" noGrp="1"/>
          </p:cNvSpPr>
          <p:nvPr/>
        </p:nvSpPr>
        <p:spPr>
          <a:xfrm xmlns:a="http://schemas.openxmlformats.org/drawingml/2006/main">
            <a:off x="4171950" y="274320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P10–P90; P50 R8.93bn</a:t>
            </a:r>
          </a:p>
        </p:txBody>
      </p:sp>
      <p:cxnSp>
        <p:nvCxnSpPr>
          <p:cNvPr id="165" name="s5-review-rule"/>
          <p:cNvCxnSpPr/>
          <p:nvPr/>
        </p:nvCxnSpPr>
        <p:spPr>
          <a:xfrm xmlns:a="http://schemas.openxmlformats.org/drawingml/2006/main">
            <a:off x="7734300" y="1714500"/>
            <a:ext cx="2762250" cy="0"/>
          </a:xfrm>
          <a:prstGeom xmlns:a="http://schemas.openxmlformats.org/drawingml/2006/main" prst="straightConnector1">
            <a:avLst/>
          </a:prstGeom>
          <a:ln xmlns:a="http://schemas.openxmlformats.org/drawingml/2006/main" w="38100">
            <a:solidFill>
              <a:srgbClr val="E2951C"/>
            </a:solidFill>
            <a:prstDash val="solid"/>
          </a:ln>
        </p:spPr>
      </p:cxnSp>
      <p:sp>
        <p:nvSpPr>
          <p:cNvPr id="16" name="s5-review-value">
            <a:extLst xmlns:a="http://schemas.openxmlformats.org/drawingml/2006/main">
              <a:ext uri="{FF2B5EF4-FFF2-40B4-BE49-F238E27FC236}">
                <a16:creationId xmlns:a16="http://schemas.microsoft.com/office/drawing/2014/main" id="{0B248EA7-D79D-4761-8271-C5F303172050}"/>
              </a:ext>
            </a:extLst>
          </p:cNvPr>
          <p:cNvSpPr>
            <a:spLocks xmlns:a="http://schemas.openxmlformats.org/drawingml/2006/main" noGrp="1"/>
          </p:cNvSpPr>
          <p:nvPr/>
        </p:nvSpPr>
        <p:spPr>
          <a:xfrm xmlns:a="http://schemas.openxmlformats.org/drawingml/2006/main">
            <a:off x="7734300" y="18859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6.5–28.0%</a:t>
            </a:r>
          </a:p>
        </p:txBody>
      </p:sp>
      <p:sp>
        <p:nvSpPr>
          <p:cNvPr id="17" name="s5-review-label">
            <a:extLst xmlns:a="http://schemas.openxmlformats.org/drawingml/2006/main">
              <a:ext uri="{FF2B5EF4-FFF2-40B4-BE49-F238E27FC236}">
                <a16:creationId xmlns:a16="http://schemas.microsoft.com/office/drawing/2014/main" id="{07185100-F8D8-4E0F-AB36-7B79C7EB4CA5}"/>
              </a:ext>
            </a:extLst>
          </p:cNvPr>
          <p:cNvSpPr>
            <a:spLocks xmlns:a="http://schemas.openxmlformats.org/drawingml/2006/main" noGrp="1"/>
          </p:cNvSpPr>
          <p:nvPr/>
        </p:nvSpPr>
        <p:spPr>
          <a:xfrm xmlns:a="http://schemas.openxmlformats.org/drawingml/2006/main">
            <a:off x="7734300" y="241935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q · estimated share</a:t>
            </a:r>
          </a:p>
        </p:txBody>
      </p:sp>
      <p:sp>
        <p:nvSpPr>
          <p:cNvPr id="18" name="s5-review-note">
            <a:extLst xmlns:a="http://schemas.openxmlformats.org/drawingml/2006/main">
              <a:ext uri="{FF2B5EF4-FFF2-40B4-BE49-F238E27FC236}">
                <a16:creationId xmlns:a16="http://schemas.microsoft.com/office/drawing/2014/main" id="{00B6A798-BD97-4601-B884-6DD25E982920}"/>
              </a:ext>
            </a:extLst>
          </p:cNvPr>
          <p:cNvSpPr>
            <a:spLocks xmlns:a="http://schemas.openxmlformats.org/drawingml/2006/main" noGrp="1"/>
          </p:cNvSpPr>
          <p:nvPr/>
        </p:nvSpPr>
        <p:spPr>
          <a:xfrm xmlns:a="http://schemas.openxmlformats.org/drawingml/2006/main">
            <a:off x="7734300" y="274320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P50 16.2%; POSTERIOR, not measured competitor share</a:t>
            </a:r>
          </a:p>
        </p:txBody>
      </p:sp>
      <p:sp>
        <p:nvSpPr>
          <p:cNvPr id="19" name="s5-progress-title">
            <a:extLst xmlns:a="http://schemas.openxmlformats.org/drawingml/2006/main">
              <a:ext uri="{FF2B5EF4-FFF2-40B4-BE49-F238E27FC236}">
                <a16:creationId xmlns:a16="http://schemas.microsoft.com/office/drawing/2014/main" id="{16DDC5AC-2B85-4681-B529-4934A5D0A3A9}"/>
              </a:ext>
            </a:extLst>
          </p:cNvPr>
          <p:cNvSpPr>
            <a:spLocks xmlns:a="http://schemas.openxmlformats.org/drawingml/2006/main" noGrp="1"/>
          </p:cNvSpPr>
          <p:nvPr/>
        </p:nvSpPr>
        <p:spPr>
          <a:xfrm xmlns:a="http://schemas.openxmlformats.org/drawingml/2006/main">
            <a:off x="609600" y="3667125"/>
            <a:ext cx="628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0C1728"/>
                </a:solidFill>
                <a:latin typeface="Arial"/>
                <a:ea typeface="Arial"/>
                <a:cs typeface="Arial"/>
              </a:defRPr>
            </a:pPr>
            <a:r>
              <a:rPr sz="1875" b="1">
                <a:solidFill>
                  <a:srgbClr val="0C1728"/>
                </a:solidFill>
                <a:latin typeface="Arial"/>
                <a:ea typeface="Arial"/>
                <a:cs typeface="Arial"/>
              </a:rPr>
              <a:t>q* = 40% governed target-share scenario</a:t>
            </a:r>
          </a:p>
        </p:txBody>
      </p:sp>
      <p:sp>
        <p:nvSpPr>
          <p:cNvPr id="20" name="s5-original">
            <a:extLst xmlns:a="http://schemas.openxmlformats.org/drawingml/2006/main">
              <a:ext uri="{FF2B5EF4-FFF2-40B4-BE49-F238E27FC236}">
                <a16:creationId xmlns:a16="http://schemas.microsoft.com/office/drawing/2014/main" id="{8B813946-FC51-4C34-837C-F0BE18FDB5B7}"/>
              </a:ext>
            </a:extLst>
          </p:cNvPr>
          <p:cNvSpPr>
            <a:spLocks xmlns:a="http://schemas.openxmlformats.org/drawingml/2006/main" noGrp="1"/>
          </p:cNvSpPr>
          <p:nvPr/>
        </p:nvSpPr>
        <p:spPr>
          <a:xfrm xmlns:a="http://schemas.openxmlformats.org/drawingml/2006/main">
            <a:off x="609600" y="4248150"/>
            <a:ext cx="3714750" cy="495300"/>
          </a:xfrm>
          <a:prstGeom xmlns:a="http://schemas.openxmlformats.org/drawingml/2006/main" prst="rect">
            <a:avLst/>
          </a:prstGeom>
          <a:solidFill xmlns:a="http://schemas.openxmlformats.org/drawingml/2006/main">
            <a:srgbClr val="0B63E5"/>
          </a:solidFill>
          <a:ln xmlns:a="http://schemas.openxmlformats.org/drawingml/2006/main" w="0">
            <a:noFill/>
            <a:prstDash val="solid"/>
          </a:ln>
        </p:spPr>
      </p:sp>
      <p:sp>
        <p:nvSpPr>
          <p:cNvPr id="21" name="s5-original-text">
            <a:extLst xmlns:a="http://schemas.openxmlformats.org/drawingml/2006/main">
              <a:ext uri="{FF2B5EF4-FFF2-40B4-BE49-F238E27FC236}">
                <a16:creationId xmlns:a16="http://schemas.microsoft.com/office/drawing/2014/main" id="{75EC0A4E-894C-4B92-988A-EA3B25DB4390}"/>
              </a:ext>
            </a:extLst>
          </p:cNvPr>
          <p:cNvSpPr>
            <a:spLocks xmlns:a="http://schemas.openxmlformats.org/drawingml/2006/main" noGrp="1"/>
          </p:cNvSpPr>
          <p:nvPr/>
        </p:nvSpPr>
        <p:spPr>
          <a:xfrm xmlns:a="http://schemas.openxmlformats.org/drawingml/2006/main">
            <a:off x="781050" y="4391025"/>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G P50 = R2.126bn contestable activity</a:t>
            </a:r>
          </a:p>
        </p:txBody>
      </p:sp>
      <p:sp>
        <p:nvSpPr>
          <p:cNvPr id="22" name="s5-expanded">
            <a:extLst xmlns:a="http://schemas.openxmlformats.org/drawingml/2006/main">
              <a:ext uri="{FF2B5EF4-FFF2-40B4-BE49-F238E27FC236}">
                <a16:creationId xmlns:a16="http://schemas.microsoft.com/office/drawing/2014/main" id="{F42113CF-C951-46B2-91EC-F2081E9CDD7F}"/>
              </a:ext>
            </a:extLst>
          </p:cNvPr>
          <p:cNvSpPr>
            <a:spLocks xmlns:a="http://schemas.openxmlformats.org/drawingml/2006/main" noGrp="1"/>
          </p:cNvSpPr>
          <p:nvPr/>
        </p:nvSpPr>
        <p:spPr>
          <a:xfrm xmlns:a="http://schemas.openxmlformats.org/drawingml/2006/main">
            <a:off x="4324350" y="4248150"/>
            <a:ext cx="6153150" cy="495300"/>
          </a:xfrm>
          <a:prstGeom xmlns:a="http://schemas.openxmlformats.org/drawingml/2006/main" prst="rect">
            <a:avLst/>
          </a:prstGeom>
          <a:solidFill xmlns:a="http://schemas.openxmlformats.org/drawingml/2006/main">
            <a:srgbClr val="008B83"/>
          </a:solidFill>
          <a:ln xmlns:a="http://schemas.openxmlformats.org/drawingml/2006/main" w="0">
            <a:noFill/>
            <a:prstDash val="solid"/>
          </a:ln>
        </p:spPr>
      </p:sp>
      <p:sp>
        <p:nvSpPr>
          <p:cNvPr id="23" name="s5-expanded-text">
            <a:extLst xmlns:a="http://schemas.openxmlformats.org/drawingml/2006/main">
              <a:ext uri="{FF2B5EF4-FFF2-40B4-BE49-F238E27FC236}">
                <a16:creationId xmlns:a16="http://schemas.microsoft.com/office/drawing/2014/main" id="{BA3782CE-2570-4C93-B3D6-FFB96F3D8858}"/>
              </a:ext>
            </a:extLst>
          </p:cNvPr>
          <p:cNvSpPr>
            <a:spLocks xmlns:a="http://schemas.openxmlformats.org/drawingml/2006/main" noGrp="1"/>
          </p:cNvSpPr>
          <p:nvPr/>
        </p:nvSpPr>
        <p:spPr>
          <a:xfrm xmlns:a="http://schemas.openxmlformats.org/drawingml/2006/main">
            <a:off x="4514850" y="4391025"/>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Scenario contribution P50 = R7.367m</a:t>
            </a:r>
          </a:p>
        </p:txBody>
      </p:sp>
      <p:sp>
        <p:nvSpPr>
          <p:cNvPr id="24" name="s5-total">
            <a:extLst xmlns:a="http://schemas.openxmlformats.org/drawingml/2006/main">
              <a:ext uri="{FF2B5EF4-FFF2-40B4-BE49-F238E27FC236}">
                <a16:creationId xmlns:a16="http://schemas.microsoft.com/office/drawing/2014/main" id="{AFBAE68A-0AFA-4CFB-B476-A65C7E11F21D}"/>
              </a:ext>
            </a:extLst>
          </p:cNvPr>
          <p:cNvSpPr>
            <a:spLocks xmlns:a="http://schemas.openxmlformats.org/drawingml/2006/main" noGrp="1"/>
          </p:cNvSpPr>
          <p:nvPr/>
        </p:nvSpPr>
        <p:spPr>
          <a:xfrm xmlns:a="http://schemas.openxmlformats.org/drawingml/2006/main">
            <a:off x="10620375" y="43719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2593"/>
          </a:bodyPr>
          <a:lstStyle xmlns:a="http://schemas.openxmlformats.org/drawingml/2006/main"/>
          <a:p xmlns:a="http://schemas.openxmlformats.org/drawingml/2006/main">
            <a:pPr algn="r">
              <a:buNone/>
              <a:defRPr sz="1350" b="1">
                <a:solidFill>
                  <a:srgbClr val="0C1728"/>
                </a:solidFill>
                <a:latin typeface="Arial"/>
                <a:ea typeface="Arial"/>
                <a:cs typeface="Arial"/>
              </a:defRPr>
            </a:pPr>
            <a:r>
              <a:rPr sz="1350" b="1">
                <a:solidFill>
                  <a:srgbClr val="0C1728"/>
                </a:solidFill>
                <a:latin typeface="Arial"/>
                <a:ea typeface="Arial"/>
                <a:cs typeface="Arial"/>
              </a:rPr>
              <a:t>Rank #2 · E1 approved</a:t>
            </a:r>
          </a:p>
        </p:txBody>
      </p:sp>
      <p:cxnSp>
        <p:nvCxnSpPr>
          <p:cNvPr id="175" name="s5-tier-rule-0"/>
          <p:cNvCxnSpPr/>
          <p:nvPr/>
        </p:nvCxnSpPr>
        <p:spPr>
          <a:xfrm xmlns:a="http://schemas.openxmlformats.org/drawingml/2006/main">
            <a:off x="609600" y="5372100"/>
            <a:ext cx="1866900" cy="0"/>
          </a:xfrm>
          <a:prstGeom xmlns:a="http://schemas.openxmlformats.org/drawingml/2006/main" prst="straightConnector1">
            <a:avLst/>
          </a:prstGeom>
          <a:ln xmlns:a="http://schemas.openxmlformats.org/drawingml/2006/main" w="38100">
            <a:solidFill>
              <a:srgbClr val="627086"/>
            </a:solidFill>
            <a:prstDash val="solid"/>
          </a:ln>
        </p:spPr>
      </p:cxnSp>
      <p:sp>
        <p:nvSpPr>
          <p:cNvPr id="26" name="s5-tier-0">
            <a:extLst xmlns:a="http://schemas.openxmlformats.org/drawingml/2006/main">
              <a:ext uri="{FF2B5EF4-FFF2-40B4-BE49-F238E27FC236}">
                <a16:creationId xmlns:a16="http://schemas.microsoft.com/office/drawing/2014/main" id="{37C6D24D-AC2B-41EC-9BF6-3296148E8B0B}"/>
              </a:ext>
            </a:extLst>
          </p:cNvPr>
          <p:cNvSpPr>
            <a:spLocks xmlns:a="http://schemas.openxmlformats.org/drawingml/2006/main" noGrp="1"/>
          </p:cNvSpPr>
          <p:nvPr/>
        </p:nvSpPr>
        <p:spPr>
          <a:xfrm xmlns:a="http://schemas.openxmlformats.org/drawingml/2006/main">
            <a:off x="609600" y="55435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buNone/>
              <a:defRPr sz="1275" b="1">
                <a:solidFill>
                  <a:srgbClr val="627086"/>
                </a:solidFill>
                <a:latin typeface="Arial"/>
                <a:ea typeface="Arial"/>
                <a:cs typeface="Arial"/>
              </a:defRPr>
            </a:pPr>
            <a:r>
              <a:rPr sz="1275" b="1">
                <a:solidFill>
                  <a:srgbClr val="627086"/>
                </a:solidFill>
                <a:latin typeface="Arial"/>
                <a:ea typeface="Arial"/>
                <a:cs typeface="Arial"/>
              </a:rPr>
              <a:t>A</a:t>
            </a:r>
          </a:p>
        </p:txBody>
      </p:sp>
      <p:sp>
        <p:nvSpPr>
          <p:cNvPr id="27" name="s5-tier-copy-0">
            <a:extLst xmlns:a="http://schemas.openxmlformats.org/drawingml/2006/main">
              <a:ext uri="{FF2B5EF4-FFF2-40B4-BE49-F238E27FC236}">
                <a16:creationId xmlns:a16="http://schemas.microsoft.com/office/drawing/2014/main" id="{E16B1B9D-D207-493C-8D15-E63E2D21B6D8}"/>
              </a:ext>
            </a:extLst>
          </p:cNvPr>
          <p:cNvSpPr>
            <a:spLocks xmlns:a="http://schemas.openxmlformats.org/drawingml/2006/main" noGrp="1"/>
          </p:cNvSpPr>
          <p:nvPr/>
        </p:nvSpPr>
        <p:spPr>
          <a:xfrm xmlns:a="http://schemas.openxmlformats.org/drawingml/2006/main">
            <a:off x="1066800" y="554355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303"/>
          </a:bodyPr>
          <a:lstStyle xmlns:a="http://schemas.openxmlformats.org/drawingml/2006/main"/>
          <a:p xmlns:a="http://schemas.openxmlformats.org/drawingml/2006/main">
            <a:pPr algn="l">
              <a:buNone/>
              <a:defRPr sz="1200" b="1">
                <a:solidFill>
                  <a:srgbClr val="0C1728"/>
                </a:solidFill>
                <a:latin typeface="Arial"/>
                <a:ea typeface="Arial"/>
                <a:cs typeface="Arial"/>
              </a:defRPr>
            </a:pPr>
            <a:r>
              <a:rPr sz="1200" b="1">
                <a:solidFill>
                  <a:srgbClr val="0C1728"/>
                </a:solidFill>
                <a:latin typeface="Arial"/>
                <a:ea typeface="Arial"/>
                <a:cs typeface="Arial"/>
              </a:rPr>
              <a:t>observed activity</a:t>
            </a:r>
          </a:p>
        </p:txBody>
      </p:sp>
      <p:cxnSp>
        <p:nvCxnSpPr>
          <p:cNvPr id="178" name="s5-tier-rule-1"/>
          <p:cNvCxnSpPr/>
          <p:nvPr/>
        </p:nvCxnSpPr>
        <p:spPr>
          <a:xfrm xmlns:a="http://schemas.openxmlformats.org/drawingml/2006/main">
            <a:off x="2800350" y="5372100"/>
            <a:ext cx="1866900" cy="0"/>
          </a:xfrm>
          <a:prstGeom xmlns:a="http://schemas.openxmlformats.org/drawingml/2006/main" prst="straightConnector1">
            <a:avLst/>
          </a:prstGeom>
          <a:ln xmlns:a="http://schemas.openxmlformats.org/drawingml/2006/main" w="38100">
            <a:solidFill>
              <a:srgbClr val="0B63E5"/>
            </a:solidFill>
            <a:prstDash val="solid"/>
          </a:ln>
        </p:spPr>
      </p:cxnSp>
      <p:sp>
        <p:nvSpPr>
          <p:cNvPr id="29" name="s5-tier-1">
            <a:extLst xmlns:a="http://schemas.openxmlformats.org/drawingml/2006/main">
              <a:ext uri="{FF2B5EF4-FFF2-40B4-BE49-F238E27FC236}">
                <a16:creationId xmlns:a16="http://schemas.microsoft.com/office/drawing/2014/main" id="{0771A1C0-D6D9-4D8C-B8E1-99BBA3E2F6C7}"/>
              </a:ext>
            </a:extLst>
          </p:cNvPr>
          <p:cNvSpPr>
            <a:spLocks xmlns:a="http://schemas.openxmlformats.org/drawingml/2006/main" noGrp="1"/>
          </p:cNvSpPr>
          <p:nvPr/>
        </p:nvSpPr>
        <p:spPr>
          <a:xfrm xmlns:a="http://schemas.openxmlformats.org/drawingml/2006/main">
            <a:off x="2800350" y="55435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buNone/>
              <a:defRPr sz="1275" b="1">
                <a:solidFill>
                  <a:srgbClr val="0B63E5"/>
                </a:solidFill>
                <a:latin typeface="Arial"/>
                <a:ea typeface="Arial"/>
                <a:cs typeface="Arial"/>
              </a:defRPr>
            </a:pPr>
            <a:r>
              <a:rPr sz="1275" b="1">
                <a:solidFill>
                  <a:srgbClr val="0B63E5"/>
                </a:solidFill>
                <a:latin typeface="Arial"/>
                <a:ea typeface="Arial"/>
                <a:cs typeface="Arial"/>
              </a:rPr>
              <a:t>T</a:t>
            </a:r>
          </a:p>
        </p:txBody>
      </p:sp>
      <p:sp>
        <p:nvSpPr>
          <p:cNvPr id="30" name="s5-tier-copy-1">
            <a:extLst xmlns:a="http://schemas.openxmlformats.org/drawingml/2006/main">
              <a:ext uri="{FF2B5EF4-FFF2-40B4-BE49-F238E27FC236}">
                <a16:creationId xmlns:a16="http://schemas.microsoft.com/office/drawing/2014/main" id="{CABDCD83-11A1-483E-A2FD-72F112E00E71}"/>
              </a:ext>
            </a:extLst>
          </p:cNvPr>
          <p:cNvSpPr>
            <a:spLocks xmlns:a="http://schemas.openxmlformats.org/drawingml/2006/main" noGrp="1"/>
          </p:cNvSpPr>
          <p:nvPr/>
        </p:nvSpPr>
        <p:spPr>
          <a:xfrm xmlns:a="http://schemas.openxmlformats.org/drawingml/2006/main">
            <a:off x="3257550" y="554355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0C1728"/>
                </a:solidFill>
                <a:latin typeface="Arial"/>
                <a:ea typeface="Arial"/>
                <a:cs typeface="Arial"/>
              </a:defRPr>
            </a:pPr>
            <a:r>
              <a:rPr sz="1200" b="1">
                <a:solidFill>
                  <a:srgbClr val="0C1728"/>
                </a:solidFill>
                <a:latin typeface="Arial"/>
                <a:ea typeface="Arial"/>
                <a:cs typeface="Arial"/>
              </a:rPr>
              <a:t>wallet posterior</a:t>
            </a:r>
          </a:p>
        </p:txBody>
      </p:sp>
      <p:cxnSp>
        <p:nvCxnSpPr>
          <p:cNvPr id="181" name="s5-tier-rule-2"/>
          <p:cNvCxnSpPr/>
          <p:nvPr/>
        </p:nvCxnSpPr>
        <p:spPr>
          <a:xfrm xmlns:a="http://schemas.openxmlformats.org/drawingml/2006/main">
            <a:off x="4991100" y="5372100"/>
            <a:ext cx="1866900" cy="0"/>
          </a:xfrm>
          <a:prstGeom xmlns:a="http://schemas.openxmlformats.org/drawingml/2006/main" prst="straightConnector1">
            <a:avLst/>
          </a:prstGeom>
          <a:ln xmlns:a="http://schemas.openxmlformats.org/drawingml/2006/main" w="38100">
            <a:solidFill>
              <a:srgbClr val="7658D6"/>
            </a:solidFill>
            <a:prstDash val="solid"/>
          </a:ln>
        </p:spPr>
      </p:cxnSp>
      <p:sp>
        <p:nvSpPr>
          <p:cNvPr id="32" name="s5-tier-2">
            <a:extLst xmlns:a="http://schemas.openxmlformats.org/drawingml/2006/main">
              <a:ext uri="{FF2B5EF4-FFF2-40B4-BE49-F238E27FC236}">
                <a16:creationId xmlns:a16="http://schemas.microsoft.com/office/drawing/2014/main" id="{A7946401-15DC-415C-BB31-92C9D6BF00D1}"/>
              </a:ext>
            </a:extLst>
          </p:cNvPr>
          <p:cNvSpPr>
            <a:spLocks xmlns:a="http://schemas.openxmlformats.org/drawingml/2006/main" noGrp="1"/>
          </p:cNvSpPr>
          <p:nvPr/>
        </p:nvSpPr>
        <p:spPr>
          <a:xfrm xmlns:a="http://schemas.openxmlformats.org/drawingml/2006/main">
            <a:off x="4991100" y="55435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buNone/>
              <a:defRPr sz="1275" b="1">
                <a:solidFill>
                  <a:srgbClr val="7658D6"/>
                </a:solidFill>
                <a:latin typeface="Arial"/>
                <a:ea typeface="Arial"/>
                <a:cs typeface="Arial"/>
              </a:defRPr>
            </a:pPr>
            <a:r>
              <a:rPr sz="1275" b="1">
                <a:solidFill>
                  <a:srgbClr val="7658D6"/>
                </a:solidFill>
                <a:latin typeface="Arial"/>
                <a:ea typeface="Arial"/>
                <a:cs typeface="Arial"/>
              </a:rPr>
              <a:t>q</a:t>
            </a:r>
          </a:p>
        </p:txBody>
      </p:sp>
      <p:sp>
        <p:nvSpPr>
          <p:cNvPr id="33" name="s5-tier-copy-2">
            <a:extLst xmlns:a="http://schemas.openxmlformats.org/drawingml/2006/main">
              <a:ext uri="{FF2B5EF4-FFF2-40B4-BE49-F238E27FC236}">
                <a16:creationId xmlns:a16="http://schemas.microsoft.com/office/drawing/2014/main" id="{1159FE5E-8D1C-4325-9A28-19CEF77C69FD}"/>
              </a:ext>
            </a:extLst>
          </p:cNvPr>
          <p:cNvSpPr>
            <a:spLocks xmlns:a="http://schemas.openxmlformats.org/drawingml/2006/main" noGrp="1"/>
          </p:cNvSpPr>
          <p:nvPr/>
        </p:nvSpPr>
        <p:spPr>
          <a:xfrm xmlns:a="http://schemas.openxmlformats.org/drawingml/2006/main">
            <a:off x="5448300" y="554355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0C1728"/>
                </a:solidFill>
                <a:latin typeface="Arial"/>
                <a:ea typeface="Arial"/>
                <a:cs typeface="Arial"/>
              </a:defRPr>
            </a:pPr>
            <a:r>
              <a:rPr sz="1200" b="1">
                <a:solidFill>
                  <a:srgbClr val="0C1728"/>
                </a:solidFill>
                <a:latin typeface="Arial"/>
                <a:ea typeface="Arial"/>
                <a:cs typeface="Arial"/>
              </a:rPr>
              <a:t>A ÷ T</a:t>
            </a:r>
          </a:p>
        </p:txBody>
      </p:sp>
      <p:cxnSp>
        <p:nvCxnSpPr>
          <p:cNvPr id="184" name="s5-tier-rule-3"/>
          <p:cNvCxnSpPr/>
          <p:nvPr/>
        </p:nvCxnSpPr>
        <p:spPr>
          <a:xfrm xmlns:a="http://schemas.openxmlformats.org/drawingml/2006/main">
            <a:off x="7181850" y="5372100"/>
            <a:ext cx="1866900" cy="0"/>
          </a:xfrm>
          <a:prstGeom xmlns:a="http://schemas.openxmlformats.org/drawingml/2006/main" prst="straightConnector1">
            <a:avLst/>
          </a:prstGeom>
          <a:ln xmlns:a="http://schemas.openxmlformats.org/drawingml/2006/main" w="38100">
            <a:solidFill>
              <a:srgbClr val="008B83"/>
            </a:solidFill>
            <a:prstDash val="solid"/>
          </a:ln>
        </p:spPr>
      </p:cxnSp>
      <p:sp>
        <p:nvSpPr>
          <p:cNvPr id="35" name="s5-tier-3">
            <a:extLst xmlns:a="http://schemas.openxmlformats.org/drawingml/2006/main">
              <a:ext uri="{FF2B5EF4-FFF2-40B4-BE49-F238E27FC236}">
                <a16:creationId xmlns:a16="http://schemas.microsoft.com/office/drawing/2014/main" id="{A7292D59-65C4-40BA-A32C-482E75FBA1C9}"/>
              </a:ext>
            </a:extLst>
          </p:cNvPr>
          <p:cNvSpPr>
            <a:spLocks xmlns:a="http://schemas.openxmlformats.org/drawingml/2006/main" noGrp="1"/>
          </p:cNvSpPr>
          <p:nvPr/>
        </p:nvSpPr>
        <p:spPr>
          <a:xfrm xmlns:a="http://schemas.openxmlformats.org/drawingml/2006/main">
            <a:off x="7181850" y="55435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buNone/>
              <a:defRPr sz="1275" b="1">
                <a:solidFill>
                  <a:srgbClr val="008B83"/>
                </a:solidFill>
                <a:latin typeface="Arial"/>
                <a:ea typeface="Arial"/>
                <a:cs typeface="Arial"/>
              </a:defRPr>
            </a:pPr>
            <a:r>
              <a:rPr sz="1275" b="1">
                <a:solidFill>
                  <a:srgbClr val="008B83"/>
                </a:solidFill>
                <a:latin typeface="Arial"/>
                <a:ea typeface="Arial"/>
                <a:cs typeface="Arial"/>
              </a:rPr>
              <a:t>q*</a:t>
            </a:r>
          </a:p>
        </p:txBody>
      </p:sp>
      <p:sp>
        <p:nvSpPr>
          <p:cNvPr id="36" name="s5-tier-copy-3">
            <a:extLst xmlns:a="http://schemas.openxmlformats.org/drawingml/2006/main">
              <a:ext uri="{FF2B5EF4-FFF2-40B4-BE49-F238E27FC236}">
                <a16:creationId xmlns:a16="http://schemas.microsoft.com/office/drawing/2014/main" id="{DFFD95BB-0679-4286-AB12-F578E4B166BD}"/>
              </a:ext>
            </a:extLst>
          </p:cNvPr>
          <p:cNvSpPr>
            <a:spLocks xmlns:a="http://schemas.openxmlformats.org/drawingml/2006/main" noGrp="1"/>
          </p:cNvSpPr>
          <p:nvPr/>
        </p:nvSpPr>
        <p:spPr>
          <a:xfrm xmlns:a="http://schemas.openxmlformats.org/drawingml/2006/main">
            <a:off x="7639050" y="554355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0C1728"/>
                </a:solidFill>
                <a:latin typeface="Arial"/>
                <a:ea typeface="Arial"/>
                <a:cs typeface="Arial"/>
              </a:defRPr>
            </a:pPr>
            <a:r>
              <a:rPr sz="1200" b="1">
                <a:solidFill>
                  <a:srgbClr val="0C1728"/>
                </a:solidFill>
                <a:latin typeface="Arial"/>
                <a:ea typeface="Arial"/>
                <a:cs typeface="Arial"/>
              </a:rPr>
              <a:t>40% scenario</a:t>
            </a:r>
          </a:p>
        </p:txBody>
      </p:sp>
      <p:cxnSp>
        <p:nvCxnSpPr>
          <p:cNvPr id="187" name="s5-tier-rule-4"/>
          <p:cNvCxnSpPr/>
          <p:nvPr/>
        </p:nvCxnSpPr>
        <p:spPr>
          <a:xfrm xmlns:a="http://schemas.openxmlformats.org/drawingml/2006/main">
            <a:off x="9372600" y="5372100"/>
            <a:ext cx="1866900" cy="0"/>
          </a:xfrm>
          <a:prstGeom xmlns:a="http://schemas.openxmlformats.org/drawingml/2006/main" prst="straightConnector1">
            <a:avLst/>
          </a:prstGeom>
          <a:ln xmlns:a="http://schemas.openxmlformats.org/drawingml/2006/main" w="38100">
            <a:solidFill>
              <a:srgbClr val="E2951C"/>
            </a:solidFill>
            <a:prstDash val="solid"/>
          </a:ln>
        </p:spPr>
      </p:cxnSp>
      <p:sp>
        <p:nvSpPr>
          <p:cNvPr id="38" name="s5-tier-4">
            <a:extLst xmlns:a="http://schemas.openxmlformats.org/drawingml/2006/main">
              <a:ext uri="{FF2B5EF4-FFF2-40B4-BE49-F238E27FC236}">
                <a16:creationId xmlns:a16="http://schemas.microsoft.com/office/drawing/2014/main" id="{85B5E342-87F3-40BA-B68D-531F46409201}"/>
              </a:ext>
            </a:extLst>
          </p:cNvPr>
          <p:cNvSpPr>
            <a:spLocks xmlns:a="http://schemas.openxmlformats.org/drawingml/2006/main" noGrp="1"/>
          </p:cNvSpPr>
          <p:nvPr/>
        </p:nvSpPr>
        <p:spPr>
          <a:xfrm xmlns:a="http://schemas.openxmlformats.org/drawingml/2006/main">
            <a:off x="9372600" y="55435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buNone/>
              <a:defRPr sz="1275" b="1">
                <a:solidFill>
                  <a:srgbClr val="E2951C"/>
                </a:solidFill>
                <a:latin typeface="Arial"/>
                <a:ea typeface="Arial"/>
                <a:cs typeface="Arial"/>
              </a:defRPr>
            </a:pPr>
            <a:r>
              <a:rPr sz="1275" b="1">
                <a:solidFill>
                  <a:srgbClr val="E2951C"/>
                </a:solidFill>
                <a:latin typeface="Arial"/>
                <a:ea typeface="Arial"/>
                <a:cs typeface="Arial"/>
              </a:rPr>
              <a:t>G</a:t>
            </a:r>
          </a:p>
        </p:txBody>
      </p:sp>
      <p:sp>
        <p:nvSpPr>
          <p:cNvPr id="39" name="s5-tier-copy-4">
            <a:extLst xmlns:a="http://schemas.openxmlformats.org/drawingml/2006/main">
              <a:ext uri="{FF2B5EF4-FFF2-40B4-BE49-F238E27FC236}">
                <a16:creationId xmlns:a16="http://schemas.microsoft.com/office/drawing/2014/main" id="{149C9D30-9707-4CC2-9ACD-3E3C99D0B19C}"/>
              </a:ext>
            </a:extLst>
          </p:cNvPr>
          <p:cNvSpPr>
            <a:spLocks xmlns:a="http://schemas.openxmlformats.org/drawingml/2006/main" noGrp="1"/>
          </p:cNvSpPr>
          <p:nvPr/>
        </p:nvSpPr>
        <p:spPr>
          <a:xfrm xmlns:a="http://schemas.openxmlformats.org/drawingml/2006/main">
            <a:off x="9829800" y="5543550"/>
            <a:ext cx="1409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1">
                <a:solidFill>
                  <a:srgbClr val="0C1728"/>
                </a:solidFill>
                <a:latin typeface="Arial"/>
                <a:ea typeface="Arial"/>
                <a:cs typeface="Arial"/>
              </a:defRPr>
            </a:pPr>
            <a:r>
              <a:rPr sz="1200" b="1">
                <a:solidFill>
                  <a:srgbClr val="0C1728"/>
                </a:solidFill>
                <a:latin typeface="Arial"/>
                <a:ea typeface="Arial"/>
                <a:cs typeface="Arial"/>
              </a:rPr>
              <a:t>max(q*T−A,0)</a:t>
            </a:r>
          </a:p>
        </p:txBody>
      </p:sp>
    </p:spTree>
    <p:extLst>
      <p:ext uri="{BB962C8B-B14F-4D97-AF65-F5344CB8AC3E}">
        <p14:creationId xmlns:p14="http://schemas.microsoft.com/office/powerpoint/2010/main" val="44363375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50" name="eyebrow-7">
            <a:extLst xmlns:a="http://schemas.openxmlformats.org/drawingml/2006/main">
              <a:ext uri="{FF2B5EF4-FFF2-40B4-BE49-F238E27FC236}">
                <a16:creationId xmlns:a16="http://schemas.microsoft.com/office/drawing/2014/main" id="{828CB508-C072-4158-B84B-C4BA6CF67236}"/>
              </a:ext>
            </a:extLst>
          </p:cNvPr>
          <p:cNvSpPr>
            <a:spLocks xmlns:a="http://schemas.openxmlformats.org/drawingml/2006/main" noGrp="1"/>
          </p:cNvSpPr>
          <p:nvPr/>
        </p:nvSpPr>
        <p:spPr>
          <a:xfrm xmlns:a="http://schemas.openxmlformats.org/drawingml/2006/main">
            <a:off x="609600" y="3238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B63E5"/>
                </a:solidFill>
                <a:latin typeface="Arial"/>
                <a:ea typeface="Arial"/>
                <a:cs typeface="Arial"/>
              </a:defRPr>
            </a:pPr>
            <a:r>
              <a:rPr sz="975" b="1">
                <a:solidFill>
                  <a:srgbClr val="0B63E5"/>
                </a:solidFill>
                <a:latin typeface="Arial"/>
                <a:ea typeface="Arial"/>
                <a:cs typeface="Arial"/>
              </a:rPr>
              <a:t>DECISION TWIN ACTION LAYER</a:t>
            </a:r>
          </a:p>
        </p:txBody>
      </p:sp>
      <p:sp>
        <p:nvSpPr>
          <p:cNvPr id="2" name="title-7">
            <a:extLst xmlns:a="http://schemas.openxmlformats.org/drawingml/2006/main">
              <a:ext uri="{FF2B5EF4-FFF2-40B4-BE49-F238E27FC236}">
                <a16:creationId xmlns:a16="http://schemas.microsoft.com/office/drawing/2014/main" id="{FDE8F2CC-6484-402A-B0B0-8240E2AE2055}"/>
              </a:ext>
            </a:extLst>
          </p:cNvPr>
          <p:cNvSpPr>
            <a:spLocks xmlns:a="http://schemas.openxmlformats.org/drawingml/2006/main" noGrp="1"/>
          </p:cNvSpPr>
          <p:nvPr/>
        </p:nvSpPr>
        <p:spPr>
          <a:xfrm xmlns:a="http://schemas.openxmlformats.org/drawingml/2006/main">
            <a:off x="609600" y="6572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994"/>
          </a:bodyPr>
          <a:lstStyle xmlns:a="http://schemas.openxmlformats.org/drawingml/2006/main"/>
          <a:p xmlns:a="http://schemas.openxmlformats.org/drawingml/2006/main">
            <a:pPr algn="l">
              <a:buNone/>
              <a:defRPr sz="3150" b="1">
                <a:solidFill>
                  <a:srgbClr val="0C1728"/>
                </a:solidFill>
                <a:latin typeface="Arial"/>
                <a:ea typeface="Arial"/>
                <a:cs typeface="Arial"/>
              </a:defRPr>
            </a:pPr>
            <a:r>
              <a:rPr sz="3150" b="1">
                <a:solidFill>
                  <a:srgbClr val="0C1728"/>
                </a:solidFill>
                <a:latin typeface="Arial"/>
                <a:ea typeface="Arial"/>
                <a:cs typeface="Arial"/>
              </a:rPr>
              <a:t>Wallet gap → stakeholder → problem → solution → timing</a:t>
            </a:r>
          </a:p>
        </p:txBody>
      </p:sp>
      <p:cxnSp>
        <p:nvCxnSpPr>
          <p:cNvPr id="187" name="title-rule-7"/>
          <p:cNvCxnSpPr/>
          <p:nvPr/>
        </p:nvCxnSpPr>
        <p:spPr>
          <a:xfrm xmlns:a="http://schemas.openxmlformats.org/drawingml/2006/main">
            <a:off x="609600" y="1381125"/>
            <a:ext cx="10972800" cy="0"/>
          </a:xfrm>
          <a:prstGeom xmlns:a="http://schemas.openxmlformats.org/drawingml/2006/main" prst="straightConnector1">
            <a:avLst/>
          </a:prstGeom>
          <a:ln xmlns:a="http://schemas.openxmlformats.org/drawingml/2006/main" w="9525">
            <a:solidFill>
              <a:srgbClr val="D7DEE8"/>
            </a:solidFill>
            <a:prstDash val="solid"/>
          </a:ln>
        </p:spPr>
      </p:cxnSp>
      <p:sp>
        <p:nvSpPr>
          <p:cNvPr id="4" name="footer-team-7">
            <a:extLst xmlns:a="http://schemas.openxmlformats.org/drawingml/2006/main">
              <a:ext uri="{FF2B5EF4-FFF2-40B4-BE49-F238E27FC236}">
                <a16:creationId xmlns:a16="http://schemas.microsoft.com/office/drawing/2014/main" id="{13D82DD6-D20D-469A-8D0F-1A1BF1E1B5BD}"/>
              </a:ext>
            </a:extLst>
          </p:cNvPr>
          <p:cNvSpPr>
            <a:spLocks xmlns:a="http://schemas.openxmlformats.org/drawingml/2006/main" noGrp="1"/>
          </p:cNvSpPr>
          <p:nvPr/>
        </p:nvSpPr>
        <p:spPr>
          <a:xfrm xmlns:a="http://schemas.openxmlformats.org/drawingml/2006/main">
            <a:off x="609600" y="64865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27086"/>
                </a:solidFill>
                <a:latin typeface="Arial"/>
                <a:ea typeface="Arial"/>
                <a:cs typeface="Arial"/>
              </a:defRPr>
            </a:pPr>
            <a:r>
              <a:rPr sz="825" b="1">
                <a:solidFill>
                  <a:srgbClr val="627086"/>
                </a:solidFill>
                <a:latin typeface="Arial"/>
                <a:ea typeface="Arial"/>
                <a:cs typeface="Arial"/>
              </a:rPr>
              <a:t>TEAM: Corporate Wallet Digital Twin | Christopher Koen | V3.2.0</a:t>
            </a:r>
          </a:p>
        </p:txBody>
      </p:sp>
      <p:sp>
        <p:nvSpPr>
          <p:cNvPr id="5" name="footer-data-7">
            <a:extLst xmlns:a="http://schemas.openxmlformats.org/drawingml/2006/main">
              <a:ext uri="{FF2B5EF4-FFF2-40B4-BE49-F238E27FC236}">
                <a16:creationId xmlns:a16="http://schemas.microsoft.com/office/drawing/2014/main" id="{A667AF92-2941-4E80-A67A-C5A56E4FB851}"/>
              </a:ext>
            </a:extLst>
          </p:cNvPr>
          <p:cNvSpPr>
            <a:spLocks xmlns:a="http://schemas.openxmlformats.org/drawingml/2006/main" noGrp="1"/>
          </p:cNvSpPr>
          <p:nvPr/>
        </p:nvSpPr>
        <p:spPr>
          <a:xfrm xmlns:a="http://schemas.openxmlformats.org/drawingml/2006/main">
            <a:off x="748665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r">
              <a:buNone/>
              <a:defRPr sz="750" b="1">
                <a:solidFill>
                  <a:srgbClr val="627086"/>
                </a:solidFill>
                <a:latin typeface="Arial"/>
                <a:ea typeface="Arial"/>
                <a:cs typeface="Arial"/>
              </a:defRPr>
            </a:pPr>
            <a:r>
              <a:rPr sz="750" b="1">
                <a:solidFill>
                  <a:srgbClr val="627086"/>
                </a:solidFill>
                <a:latin typeface="Arial"/>
                <a:ea typeface="Arial"/>
                <a:cs typeface="Arial"/>
              </a:rPr>
              <a:t>CONFIDENTIAL SYN BANK ACTIVITY + APPROVED PUBLIC E1 + GOVERNED PRIORS</a:t>
            </a:r>
          </a:p>
        </p:txBody>
      </p:sp>
      <p:sp>
        <p:nvSpPr>
          <p:cNvPr id="6" name="footer-page-7">
            <a:extLst xmlns:a="http://schemas.openxmlformats.org/drawingml/2006/main">
              <a:ext uri="{FF2B5EF4-FFF2-40B4-BE49-F238E27FC236}">
                <a16:creationId xmlns:a16="http://schemas.microsoft.com/office/drawing/2014/main" id="{35D5A9AD-E71B-4151-9C21-2FE5B2DDBBE7}"/>
              </a:ext>
            </a:extLst>
          </p:cNvPr>
          <p:cNvSpPr>
            <a:spLocks xmlns:a="http://schemas.openxmlformats.org/drawingml/2006/main" noGrp="1"/>
          </p:cNvSpPr>
          <p:nvPr/>
        </p:nvSpPr>
        <p:spPr>
          <a:xfrm xmlns:a="http://schemas.openxmlformats.org/drawingml/2006/main">
            <a:off x="11287125" y="6486525"/>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buNone/>
              <a:defRPr sz="825" b="1">
                <a:solidFill>
                  <a:srgbClr val="627086"/>
                </a:solidFill>
                <a:latin typeface="Arial"/>
                <a:ea typeface="Arial"/>
                <a:cs typeface="Arial"/>
              </a:defRPr>
            </a:pPr>
            <a:r>
              <a:rPr sz="825" b="1">
                <a:solidFill>
                  <a:srgbClr val="627086"/>
                </a:solidFill>
                <a:latin typeface="Arial"/>
                <a:ea typeface="Arial"/>
                <a:cs typeface="Arial"/>
              </a:rPr>
              <a:t>07</a:t>
            </a:r>
          </a:p>
        </p:txBody>
      </p:sp>
      <p:sp>
        <p:nvSpPr>
          <p:cNvPr id="7" name="s7-left">
            <a:extLst xmlns:a="http://schemas.openxmlformats.org/drawingml/2006/main">
              <a:ext uri="{FF2B5EF4-FFF2-40B4-BE49-F238E27FC236}">
                <a16:creationId xmlns:a16="http://schemas.microsoft.com/office/drawing/2014/main" id="{BD332041-30F7-47AF-8349-4C085AE4901C}"/>
              </a:ext>
            </a:extLst>
          </p:cNvPr>
          <p:cNvSpPr>
            <a:spLocks xmlns:a="http://schemas.openxmlformats.org/drawingml/2006/main" noGrp="1"/>
          </p:cNvSpPr>
          <p:nvPr/>
        </p:nvSpPr>
        <p:spPr>
          <a:xfrm xmlns:a="http://schemas.openxmlformats.org/drawingml/2006/main">
            <a:off x="609600" y="1714500"/>
            <a:ext cx="4762500" cy="4029075"/>
          </a:xfrm>
          <a:prstGeom xmlns:a="http://schemas.openxmlformats.org/drawingml/2006/main" prst="rect">
            <a:avLst/>
          </a:prstGeom>
          <a:solidFill xmlns:a="http://schemas.openxmlformats.org/drawingml/2006/main">
            <a:srgbClr val="071321"/>
          </a:solidFill>
          <a:ln xmlns:a="http://schemas.openxmlformats.org/drawingml/2006/main" w="0">
            <a:noFill/>
            <a:prstDash val="solid"/>
          </a:ln>
        </p:spPr>
      </p:sp>
      <p:sp>
        <p:nvSpPr>
          <p:cNvPr id="8" name="s7-left-label">
            <a:extLst xmlns:a="http://schemas.openxmlformats.org/drawingml/2006/main">
              <a:ext uri="{FF2B5EF4-FFF2-40B4-BE49-F238E27FC236}">
                <a16:creationId xmlns:a16="http://schemas.microsoft.com/office/drawing/2014/main" id="{9FDD295D-3D25-44AD-BF98-10093564EB04}"/>
              </a:ext>
            </a:extLst>
          </p:cNvPr>
          <p:cNvSpPr>
            <a:spLocks xmlns:a="http://schemas.openxmlformats.org/drawingml/2006/main" noGrp="1"/>
          </p:cNvSpPr>
          <p:nvPr/>
        </p:nvSpPr>
        <p:spPr>
          <a:xfrm xmlns:a="http://schemas.openxmlformats.org/drawingml/2006/main">
            <a:off x="876300" y="1990725"/>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7CB6FF"/>
                </a:solidFill>
                <a:latin typeface="Arial"/>
                <a:ea typeface="Arial"/>
                <a:cs typeface="Arial"/>
              </a:defRPr>
            </a:pPr>
            <a:r>
              <a:rPr sz="975" b="1">
                <a:solidFill>
                  <a:srgbClr val="7CB6FF"/>
                </a:solidFill>
                <a:latin typeface="Arial"/>
                <a:ea typeface="Arial"/>
                <a:cs typeface="Arial"/>
              </a:rPr>
              <a:t>BHP TRADE FINANCE CELL</a:t>
            </a:r>
          </a:p>
        </p:txBody>
      </p:sp>
      <p:sp>
        <p:nvSpPr>
          <p:cNvPr id="9" name="s7-left-main">
            <a:extLst xmlns:a="http://schemas.openxmlformats.org/drawingml/2006/main">
              <a:ext uri="{FF2B5EF4-FFF2-40B4-BE49-F238E27FC236}">
                <a16:creationId xmlns:a16="http://schemas.microsoft.com/office/drawing/2014/main" id="{B26B0801-ECFC-4D58-955C-517444792231}"/>
              </a:ext>
            </a:extLst>
          </p:cNvPr>
          <p:cNvSpPr>
            <a:spLocks xmlns:a="http://schemas.openxmlformats.org/drawingml/2006/main" noGrp="1"/>
          </p:cNvSpPr>
          <p:nvPr/>
        </p:nvSpPr>
        <p:spPr>
          <a:xfrm xmlns:a="http://schemas.openxmlformats.org/drawingml/2006/main">
            <a:off x="876300" y="24574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927"/>
          </a:bodyPr>
          <a:lstStyle xmlns:a="http://schemas.openxmlformats.org/drawingml/2006/main"/>
          <a:p xmlns:a="http://schemas.openxmlformats.org/drawingml/2006/main">
            <a:pPr algn="l">
              <a:buNone/>
              <a:defRPr sz="3450" b="1">
                <a:solidFill>
                  <a:srgbClr val="FFFFFF"/>
                </a:solidFill>
                <a:latin typeface="Arial"/>
                <a:ea typeface="Arial"/>
                <a:cs typeface="Arial"/>
              </a:defRPr>
            </a:pPr>
            <a:r>
              <a:rPr sz="3450" b="1">
                <a:solidFill>
                  <a:srgbClr val="FFFFFF"/>
                </a:solidFill>
                <a:latin typeface="Arial"/>
                <a:ea typeface="Arial"/>
                <a:cs typeface="Arial"/>
              </a:rPr>
              <a:t>#2 in wallet</a:t>
            </a:r>
          </a:p>
        </p:txBody>
      </p:sp>
      <p:sp>
        <p:nvSpPr>
          <p:cNvPr id="10" name="s7-left-sub">
            <a:extLst xmlns:a="http://schemas.openxmlformats.org/drawingml/2006/main">
              <a:ext uri="{FF2B5EF4-FFF2-40B4-BE49-F238E27FC236}">
                <a16:creationId xmlns:a16="http://schemas.microsoft.com/office/drawing/2014/main" id="{B162CD34-9A14-4A07-BBF4-CC4CB386FE9B}"/>
              </a:ext>
            </a:extLst>
          </p:cNvPr>
          <p:cNvSpPr>
            <a:spLocks xmlns:a="http://schemas.openxmlformats.org/drawingml/2006/main" noGrp="1"/>
          </p:cNvSpPr>
          <p:nvPr/>
        </p:nvSpPr>
        <p:spPr>
          <a:xfrm xmlns:a="http://schemas.openxmlformats.org/drawingml/2006/main">
            <a:off x="876300" y="3171825"/>
            <a:ext cx="3905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767"/>
          </a:bodyPr>
          <a:lstStyle xmlns:a="http://schemas.openxmlformats.org/drawingml/2006/main"/>
          <a:p xmlns:a="http://schemas.openxmlformats.org/drawingml/2006/main">
            <a:pPr algn="l">
              <a:buNone/>
              <a:defRPr sz="1575" b="0">
                <a:solidFill>
                  <a:srgbClr val="C7D5E8"/>
                </a:solidFill>
                <a:latin typeface="Arial"/>
                <a:ea typeface="Arial"/>
                <a:cs typeface="Arial"/>
              </a:defRPr>
            </a:pPr>
            <a:r>
              <a:rPr sz="1575" b="0">
                <a:solidFill>
                  <a:srgbClr val="C7D5E8"/>
                </a:solidFill>
                <a:latin typeface="Arial"/>
                <a:ea typeface="Arial"/>
                <a:cs typeface="Arial"/>
              </a:rPr>
              <a:t>The wallet interval starts the investigation; it does not automatically become a product pitch.</a:t>
            </a:r>
          </a:p>
        </p:txBody>
      </p:sp>
      <p:sp>
        <p:nvSpPr>
          <p:cNvPr id="11" name="s7-col-0">
            <a:extLst xmlns:a="http://schemas.openxmlformats.org/drawingml/2006/main">
              <a:ext uri="{FF2B5EF4-FFF2-40B4-BE49-F238E27FC236}">
                <a16:creationId xmlns:a16="http://schemas.microsoft.com/office/drawing/2014/main" id="{4D72BA7A-71E6-4888-9C1F-D80DB400BB83}"/>
              </a:ext>
            </a:extLst>
          </p:cNvPr>
          <p:cNvSpPr>
            <a:spLocks xmlns:a="http://schemas.openxmlformats.org/drawingml/2006/main" noGrp="1"/>
          </p:cNvSpPr>
          <p:nvPr/>
        </p:nvSpPr>
        <p:spPr>
          <a:xfrm xmlns:a="http://schemas.openxmlformats.org/drawingml/2006/main">
            <a:off x="876300" y="3962400"/>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ctr">
              <a:buNone/>
              <a:defRPr sz="825" b="1">
                <a:solidFill>
                  <a:srgbClr val="8FA5BD"/>
                </a:solidFill>
                <a:latin typeface="Arial"/>
                <a:ea typeface="Arial"/>
                <a:cs typeface="Arial"/>
              </a:defRPr>
            </a:pPr>
            <a:r>
              <a:rPr sz="825" b="1">
                <a:solidFill>
                  <a:srgbClr val="8FA5BD"/>
                </a:solidFill>
                <a:latin typeface="Arial"/>
                <a:ea typeface="Arial"/>
                <a:cs typeface="Arial"/>
              </a:rPr>
              <a:t>STAKEHOLDER</a:t>
            </a:r>
          </a:p>
        </p:txBody>
      </p:sp>
      <p:sp>
        <p:nvSpPr>
          <p:cNvPr id="12" name="s7-col-1">
            <a:extLst xmlns:a="http://schemas.openxmlformats.org/drawingml/2006/main">
              <a:ext uri="{FF2B5EF4-FFF2-40B4-BE49-F238E27FC236}">
                <a16:creationId xmlns:a16="http://schemas.microsoft.com/office/drawing/2014/main" id="{E784F9CD-637A-42F0-8272-60FFACC2197B}"/>
              </a:ext>
            </a:extLst>
          </p:cNvPr>
          <p:cNvSpPr>
            <a:spLocks xmlns:a="http://schemas.openxmlformats.org/drawingml/2006/main" noGrp="1"/>
          </p:cNvSpPr>
          <p:nvPr/>
        </p:nvSpPr>
        <p:spPr>
          <a:xfrm xmlns:a="http://schemas.openxmlformats.org/drawingml/2006/main">
            <a:off x="2105025" y="3962400"/>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ctr">
              <a:buNone/>
              <a:defRPr sz="825" b="1">
                <a:solidFill>
                  <a:srgbClr val="8FA5BD"/>
                </a:solidFill>
                <a:latin typeface="Arial"/>
                <a:ea typeface="Arial"/>
                <a:cs typeface="Arial"/>
              </a:defRPr>
            </a:pPr>
            <a:r>
              <a:rPr sz="825" b="1">
                <a:solidFill>
                  <a:srgbClr val="8FA5BD"/>
                </a:solidFill>
                <a:latin typeface="Arial"/>
                <a:ea typeface="Arial"/>
                <a:cs typeface="Arial"/>
              </a:rPr>
              <a:t>PROBLEM</a:t>
            </a:r>
          </a:p>
        </p:txBody>
      </p:sp>
      <p:sp>
        <p:nvSpPr>
          <p:cNvPr id="13" name="s7-col-2">
            <a:extLst xmlns:a="http://schemas.openxmlformats.org/drawingml/2006/main">
              <a:ext uri="{FF2B5EF4-FFF2-40B4-BE49-F238E27FC236}">
                <a16:creationId xmlns:a16="http://schemas.microsoft.com/office/drawing/2014/main" id="{8AD4A461-9F2F-4E5C-8A13-19E7FD49F91C}"/>
              </a:ext>
            </a:extLst>
          </p:cNvPr>
          <p:cNvSpPr>
            <a:spLocks xmlns:a="http://schemas.openxmlformats.org/drawingml/2006/main" noGrp="1"/>
          </p:cNvSpPr>
          <p:nvPr/>
        </p:nvSpPr>
        <p:spPr>
          <a:xfrm xmlns:a="http://schemas.openxmlformats.org/drawingml/2006/main">
            <a:off x="3333750" y="3962400"/>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ctr">
              <a:buNone/>
              <a:defRPr sz="825" b="1">
                <a:solidFill>
                  <a:srgbClr val="8FA5BD"/>
                </a:solidFill>
                <a:latin typeface="Arial"/>
                <a:ea typeface="Arial"/>
                <a:cs typeface="Arial"/>
              </a:defRPr>
            </a:pPr>
            <a:r>
              <a:rPr sz="825" b="1">
                <a:solidFill>
                  <a:srgbClr val="8FA5BD"/>
                </a:solidFill>
                <a:latin typeface="Arial"/>
                <a:ea typeface="Arial"/>
                <a:cs typeface="Arial"/>
              </a:rPr>
              <a:t>SOLUTION</a:t>
            </a:r>
          </a:p>
        </p:txBody>
      </p:sp>
      <p:sp>
        <p:nvSpPr>
          <p:cNvPr id="14" name="s7-cell-0-0">
            <a:extLst xmlns:a="http://schemas.openxmlformats.org/drawingml/2006/main">
              <a:ext uri="{FF2B5EF4-FFF2-40B4-BE49-F238E27FC236}">
                <a16:creationId xmlns:a16="http://schemas.microsoft.com/office/drawing/2014/main" id="{20A05160-3124-47F9-868A-BF537688F62E}"/>
              </a:ext>
            </a:extLst>
          </p:cNvPr>
          <p:cNvSpPr>
            <a:spLocks xmlns:a="http://schemas.openxmlformats.org/drawingml/2006/main" noGrp="1"/>
          </p:cNvSpPr>
          <p:nvPr/>
        </p:nvSpPr>
        <p:spPr>
          <a:xfrm xmlns:a="http://schemas.openxmlformats.org/drawingml/2006/main">
            <a:off x="876300" y="4210050"/>
            <a:ext cx="1152525" cy="400050"/>
          </a:xfrm>
          <a:prstGeom xmlns:a="http://schemas.openxmlformats.org/drawingml/2006/main" prst="rect">
            <a:avLst/>
          </a:prstGeom>
          <a:solidFill xmlns:a="http://schemas.openxmlformats.org/drawingml/2006/main">
            <a:srgbClr val="17304A"/>
          </a:solidFill>
          <a:ln xmlns:a="http://schemas.openxmlformats.org/drawingml/2006/main" w="0">
            <a:noFill/>
            <a:prstDash val="solid"/>
          </a:ln>
        </p:spPr>
      </p:sp>
      <p:sp>
        <p:nvSpPr>
          <p:cNvPr id="15" name="s7-cell-text-0-0">
            <a:extLst xmlns:a="http://schemas.openxmlformats.org/drawingml/2006/main">
              <a:ext uri="{FF2B5EF4-FFF2-40B4-BE49-F238E27FC236}">
                <a16:creationId xmlns:a16="http://schemas.microsoft.com/office/drawing/2014/main" id="{E32F9F82-5352-41AB-BE1E-2A9B2E5F0511}"/>
              </a:ext>
            </a:extLst>
          </p:cNvPr>
          <p:cNvSpPr>
            <a:spLocks xmlns:a="http://schemas.openxmlformats.org/drawingml/2006/main" noGrp="1"/>
          </p:cNvSpPr>
          <p:nvPr/>
        </p:nvSpPr>
        <p:spPr>
          <a:xfrm xmlns:a="http://schemas.openxmlformats.org/drawingml/2006/main">
            <a:off x="876300" y="4324350"/>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FFFFFF"/>
                </a:solidFill>
                <a:latin typeface="Arial"/>
                <a:ea typeface="Arial"/>
                <a:cs typeface="Arial"/>
              </a:defRPr>
            </a:pPr>
            <a:r>
              <a:rPr sz="750" b="1">
                <a:solidFill>
                  <a:srgbClr val="FFFFFF"/>
                </a:solidFill>
                <a:latin typeface="Arial"/>
                <a:ea typeface="Arial"/>
                <a:cs typeface="Arial"/>
              </a:rPr>
              <a:t>TREASURER</a:t>
            </a:r>
          </a:p>
        </p:txBody>
      </p:sp>
      <p:sp>
        <p:nvSpPr>
          <p:cNvPr id="16" name="s7-cell-0-1">
            <a:extLst xmlns:a="http://schemas.openxmlformats.org/drawingml/2006/main">
              <a:ext uri="{FF2B5EF4-FFF2-40B4-BE49-F238E27FC236}">
                <a16:creationId xmlns:a16="http://schemas.microsoft.com/office/drawing/2014/main" id="{80C30B4C-AEB7-4830-BE15-35252B50A8C7}"/>
              </a:ext>
            </a:extLst>
          </p:cNvPr>
          <p:cNvSpPr>
            <a:spLocks xmlns:a="http://schemas.openxmlformats.org/drawingml/2006/main" noGrp="1"/>
          </p:cNvSpPr>
          <p:nvPr/>
        </p:nvSpPr>
        <p:spPr>
          <a:xfrm xmlns:a="http://schemas.openxmlformats.org/drawingml/2006/main">
            <a:off x="2105025" y="4210050"/>
            <a:ext cx="1152525" cy="400050"/>
          </a:xfrm>
          <a:prstGeom xmlns:a="http://schemas.openxmlformats.org/drawingml/2006/main" prst="rect">
            <a:avLst/>
          </a:prstGeom>
          <a:solidFill xmlns:a="http://schemas.openxmlformats.org/drawingml/2006/main">
            <a:srgbClr val="17304A"/>
          </a:solidFill>
          <a:ln xmlns:a="http://schemas.openxmlformats.org/drawingml/2006/main" w="0">
            <a:noFill/>
            <a:prstDash val="solid"/>
          </a:ln>
        </p:spPr>
      </p:sp>
      <p:sp>
        <p:nvSpPr>
          <p:cNvPr id="17" name="s7-cell-text-0-1">
            <a:extLst xmlns:a="http://schemas.openxmlformats.org/drawingml/2006/main">
              <a:ext uri="{FF2B5EF4-FFF2-40B4-BE49-F238E27FC236}">
                <a16:creationId xmlns:a16="http://schemas.microsoft.com/office/drawing/2014/main" id="{21972F9A-42E2-4E86-AF7C-087FA7CF829D}"/>
              </a:ext>
            </a:extLst>
          </p:cNvPr>
          <p:cNvSpPr>
            <a:spLocks xmlns:a="http://schemas.openxmlformats.org/drawingml/2006/main" noGrp="1"/>
          </p:cNvSpPr>
          <p:nvPr/>
        </p:nvSpPr>
        <p:spPr>
          <a:xfrm xmlns:a="http://schemas.openxmlformats.org/drawingml/2006/main">
            <a:off x="2105025" y="4324350"/>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WC PRESSURE</a:t>
            </a:r>
          </a:p>
        </p:txBody>
      </p:sp>
      <p:sp>
        <p:nvSpPr>
          <p:cNvPr id="18" name="s7-cell-0-2">
            <a:extLst xmlns:a="http://schemas.openxmlformats.org/drawingml/2006/main">
              <a:ext uri="{FF2B5EF4-FFF2-40B4-BE49-F238E27FC236}">
                <a16:creationId xmlns:a16="http://schemas.microsoft.com/office/drawing/2014/main" id="{BF8B429A-05BE-4C8F-99AF-1814CD334DAA}"/>
              </a:ext>
            </a:extLst>
          </p:cNvPr>
          <p:cNvSpPr>
            <a:spLocks xmlns:a="http://schemas.openxmlformats.org/drawingml/2006/main" noGrp="1"/>
          </p:cNvSpPr>
          <p:nvPr/>
        </p:nvSpPr>
        <p:spPr>
          <a:xfrm xmlns:a="http://schemas.openxmlformats.org/drawingml/2006/main">
            <a:off x="3333750" y="4210050"/>
            <a:ext cx="1152525" cy="400050"/>
          </a:xfrm>
          <a:prstGeom xmlns:a="http://schemas.openxmlformats.org/drawingml/2006/main" prst="rect">
            <a:avLst/>
          </a:prstGeom>
          <a:solidFill xmlns:a="http://schemas.openxmlformats.org/drawingml/2006/main">
            <a:srgbClr val="17304A"/>
          </a:solidFill>
          <a:ln xmlns:a="http://schemas.openxmlformats.org/drawingml/2006/main" w="0">
            <a:noFill/>
            <a:prstDash val="solid"/>
          </a:ln>
        </p:spPr>
      </p:sp>
      <p:sp>
        <p:nvSpPr>
          <p:cNvPr id="19" name="s7-cell-text-0-2">
            <a:extLst xmlns:a="http://schemas.openxmlformats.org/drawingml/2006/main">
              <a:ext uri="{FF2B5EF4-FFF2-40B4-BE49-F238E27FC236}">
                <a16:creationId xmlns:a16="http://schemas.microsoft.com/office/drawing/2014/main" id="{BDEE9D0E-7353-4427-9E9E-48B63074607B}"/>
              </a:ext>
            </a:extLst>
          </p:cNvPr>
          <p:cNvSpPr>
            <a:spLocks xmlns:a="http://schemas.openxmlformats.org/drawingml/2006/main" noGrp="1"/>
          </p:cNvSpPr>
          <p:nvPr/>
        </p:nvSpPr>
        <p:spPr>
          <a:xfrm xmlns:a="http://schemas.openxmlformats.org/drawingml/2006/main">
            <a:off x="3333750" y="4324350"/>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TRADE FINANCE</a:t>
            </a:r>
          </a:p>
        </p:txBody>
      </p:sp>
      <p:sp>
        <p:nvSpPr>
          <p:cNvPr id="20" name="s7-cell-1-0">
            <a:extLst xmlns:a="http://schemas.openxmlformats.org/drawingml/2006/main">
              <a:ext uri="{FF2B5EF4-FFF2-40B4-BE49-F238E27FC236}">
                <a16:creationId xmlns:a16="http://schemas.microsoft.com/office/drawing/2014/main" id="{B408B8AA-EBC6-48BD-97F1-2A5EBDB27B4F}"/>
              </a:ext>
            </a:extLst>
          </p:cNvPr>
          <p:cNvSpPr>
            <a:spLocks xmlns:a="http://schemas.openxmlformats.org/drawingml/2006/main" noGrp="1"/>
          </p:cNvSpPr>
          <p:nvPr/>
        </p:nvSpPr>
        <p:spPr>
          <a:xfrm xmlns:a="http://schemas.openxmlformats.org/drawingml/2006/main">
            <a:off x="876300" y="4686300"/>
            <a:ext cx="1152525" cy="400050"/>
          </a:xfrm>
          <a:prstGeom xmlns:a="http://schemas.openxmlformats.org/drawingml/2006/main" prst="rect">
            <a:avLst/>
          </a:prstGeom>
          <a:solidFill xmlns:a="http://schemas.openxmlformats.org/drawingml/2006/main">
            <a:srgbClr val="17304A"/>
          </a:solidFill>
          <a:ln xmlns:a="http://schemas.openxmlformats.org/drawingml/2006/main" w="0">
            <a:noFill/>
            <a:prstDash val="solid"/>
          </a:ln>
        </p:spPr>
      </p:sp>
      <p:sp>
        <p:nvSpPr>
          <p:cNvPr id="21" name="s7-cell-text-1-0">
            <a:extLst xmlns:a="http://schemas.openxmlformats.org/drawingml/2006/main">
              <a:ext uri="{FF2B5EF4-FFF2-40B4-BE49-F238E27FC236}">
                <a16:creationId xmlns:a16="http://schemas.microsoft.com/office/drawing/2014/main" id="{38DB4768-7713-4A94-A5F8-FBE3807BDE3A}"/>
              </a:ext>
            </a:extLst>
          </p:cNvPr>
          <p:cNvSpPr>
            <a:spLocks xmlns:a="http://schemas.openxmlformats.org/drawingml/2006/main" noGrp="1"/>
          </p:cNvSpPr>
          <p:nvPr/>
        </p:nvSpPr>
        <p:spPr>
          <a:xfrm xmlns:a="http://schemas.openxmlformats.org/drawingml/2006/main">
            <a:off x="876300" y="4800600"/>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FFFFFF"/>
                </a:solidFill>
                <a:latin typeface="Arial"/>
                <a:ea typeface="Arial"/>
                <a:cs typeface="Arial"/>
              </a:defRPr>
            </a:pPr>
            <a:r>
              <a:rPr sz="750" b="1">
                <a:solidFill>
                  <a:srgbClr val="FFFFFF"/>
                </a:solidFill>
                <a:latin typeface="Arial"/>
                <a:ea typeface="Arial"/>
                <a:cs typeface="Arial"/>
              </a:rPr>
              <a:t>CFO</a:t>
            </a:r>
          </a:p>
        </p:txBody>
      </p:sp>
      <p:sp>
        <p:nvSpPr>
          <p:cNvPr id="22" name="s7-cell-1-1">
            <a:extLst xmlns:a="http://schemas.openxmlformats.org/drawingml/2006/main">
              <a:ext uri="{FF2B5EF4-FFF2-40B4-BE49-F238E27FC236}">
                <a16:creationId xmlns:a16="http://schemas.microsoft.com/office/drawing/2014/main" id="{D9AE079B-8354-4A0A-8BF9-C3047702CAB8}"/>
              </a:ext>
            </a:extLst>
          </p:cNvPr>
          <p:cNvSpPr>
            <a:spLocks xmlns:a="http://schemas.openxmlformats.org/drawingml/2006/main" noGrp="1"/>
          </p:cNvSpPr>
          <p:nvPr/>
        </p:nvSpPr>
        <p:spPr>
          <a:xfrm xmlns:a="http://schemas.openxmlformats.org/drawingml/2006/main">
            <a:off x="2105025" y="4686300"/>
            <a:ext cx="1152525" cy="400050"/>
          </a:xfrm>
          <a:prstGeom xmlns:a="http://schemas.openxmlformats.org/drawingml/2006/main" prst="rect">
            <a:avLst/>
          </a:prstGeom>
          <a:solidFill xmlns:a="http://schemas.openxmlformats.org/drawingml/2006/main">
            <a:srgbClr val="E2951C"/>
          </a:solidFill>
          <a:ln xmlns:a="http://schemas.openxmlformats.org/drawingml/2006/main" w="0">
            <a:noFill/>
            <a:prstDash val="solid"/>
          </a:ln>
        </p:spPr>
      </p:sp>
      <p:sp>
        <p:nvSpPr>
          <p:cNvPr id="23" name="s7-cell-text-1-1">
            <a:extLst xmlns:a="http://schemas.openxmlformats.org/drawingml/2006/main">
              <a:ext uri="{FF2B5EF4-FFF2-40B4-BE49-F238E27FC236}">
                <a16:creationId xmlns:a16="http://schemas.microsoft.com/office/drawing/2014/main" id="{746528C7-3656-4343-B455-6E0C61ED8205}"/>
              </a:ext>
            </a:extLst>
          </p:cNvPr>
          <p:cNvSpPr>
            <a:spLocks xmlns:a="http://schemas.openxmlformats.org/drawingml/2006/main" noGrp="1"/>
          </p:cNvSpPr>
          <p:nvPr/>
        </p:nvSpPr>
        <p:spPr>
          <a:xfrm xmlns:a="http://schemas.openxmlformats.org/drawingml/2006/main">
            <a:off x="2105025" y="4800600"/>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SUPPLY RISK</a:t>
            </a:r>
          </a:p>
        </p:txBody>
      </p:sp>
      <p:sp>
        <p:nvSpPr>
          <p:cNvPr id="24" name="s7-cell-1-2">
            <a:extLst xmlns:a="http://schemas.openxmlformats.org/drawingml/2006/main">
              <a:ext uri="{FF2B5EF4-FFF2-40B4-BE49-F238E27FC236}">
                <a16:creationId xmlns:a16="http://schemas.microsoft.com/office/drawing/2014/main" id="{7C4EDF3A-87CA-4F4F-BFF9-C539C3E36E09}"/>
              </a:ext>
            </a:extLst>
          </p:cNvPr>
          <p:cNvSpPr>
            <a:spLocks xmlns:a="http://schemas.openxmlformats.org/drawingml/2006/main" noGrp="1"/>
          </p:cNvSpPr>
          <p:nvPr/>
        </p:nvSpPr>
        <p:spPr>
          <a:xfrm xmlns:a="http://schemas.openxmlformats.org/drawingml/2006/main">
            <a:off x="3333750" y="4686300"/>
            <a:ext cx="1152525" cy="400050"/>
          </a:xfrm>
          <a:prstGeom xmlns:a="http://schemas.openxmlformats.org/drawingml/2006/main" prst="rect">
            <a:avLst/>
          </a:prstGeom>
          <a:solidFill xmlns:a="http://schemas.openxmlformats.org/drawingml/2006/main">
            <a:srgbClr val="17304A"/>
          </a:solidFill>
          <a:ln xmlns:a="http://schemas.openxmlformats.org/drawingml/2006/main" w="0">
            <a:noFill/>
            <a:prstDash val="solid"/>
          </a:ln>
        </p:spPr>
      </p:sp>
      <p:sp>
        <p:nvSpPr>
          <p:cNvPr id="25" name="s7-cell-text-1-2">
            <a:extLst xmlns:a="http://schemas.openxmlformats.org/drawingml/2006/main">
              <a:ext uri="{FF2B5EF4-FFF2-40B4-BE49-F238E27FC236}">
                <a16:creationId xmlns:a16="http://schemas.microsoft.com/office/drawing/2014/main" id="{CCE9BB30-FEA9-4572-8368-7D3FD69E3A1B}"/>
              </a:ext>
            </a:extLst>
          </p:cNvPr>
          <p:cNvSpPr>
            <a:spLocks xmlns:a="http://schemas.openxmlformats.org/drawingml/2006/main" noGrp="1"/>
          </p:cNvSpPr>
          <p:nvPr/>
        </p:nvSpPr>
        <p:spPr>
          <a:xfrm xmlns:a="http://schemas.openxmlformats.org/drawingml/2006/main">
            <a:off x="3333750" y="4800600"/>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 SCF</a:t>
            </a:r>
          </a:p>
        </p:txBody>
      </p:sp>
      <p:sp>
        <p:nvSpPr>
          <p:cNvPr id="26" name="s7-cell-2-0">
            <a:extLst xmlns:a="http://schemas.openxmlformats.org/drawingml/2006/main">
              <a:ext uri="{FF2B5EF4-FFF2-40B4-BE49-F238E27FC236}">
                <a16:creationId xmlns:a16="http://schemas.microsoft.com/office/drawing/2014/main" id="{44997F7E-F694-4A79-988F-B80EF742BC0C}"/>
              </a:ext>
            </a:extLst>
          </p:cNvPr>
          <p:cNvSpPr>
            <a:spLocks xmlns:a="http://schemas.openxmlformats.org/drawingml/2006/main" noGrp="1"/>
          </p:cNvSpPr>
          <p:nvPr/>
        </p:nvSpPr>
        <p:spPr>
          <a:xfrm xmlns:a="http://schemas.openxmlformats.org/drawingml/2006/main">
            <a:off x="876300" y="5162550"/>
            <a:ext cx="1152525" cy="400050"/>
          </a:xfrm>
          <a:prstGeom xmlns:a="http://schemas.openxmlformats.org/drawingml/2006/main" prst="rect">
            <a:avLst/>
          </a:prstGeom>
          <a:solidFill xmlns:a="http://schemas.openxmlformats.org/drawingml/2006/main">
            <a:srgbClr val="17304A"/>
          </a:solidFill>
          <a:ln xmlns:a="http://schemas.openxmlformats.org/drawingml/2006/main" w="0">
            <a:noFill/>
            <a:prstDash val="solid"/>
          </a:ln>
        </p:spPr>
      </p:sp>
      <p:sp>
        <p:nvSpPr>
          <p:cNvPr id="27" name="s7-cell-text-2-0">
            <a:extLst xmlns:a="http://schemas.openxmlformats.org/drawingml/2006/main">
              <a:ext uri="{FF2B5EF4-FFF2-40B4-BE49-F238E27FC236}">
                <a16:creationId xmlns:a16="http://schemas.microsoft.com/office/drawing/2014/main" id="{8DD0E37A-9F6F-46A4-A786-31CBF50ABC9A}"/>
              </a:ext>
            </a:extLst>
          </p:cNvPr>
          <p:cNvSpPr>
            <a:spLocks xmlns:a="http://schemas.openxmlformats.org/drawingml/2006/main" noGrp="1"/>
          </p:cNvSpPr>
          <p:nvPr/>
        </p:nvSpPr>
        <p:spPr>
          <a:xfrm xmlns:a="http://schemas.openxmlformats.org/drawingml/2006/main">
            <a:off x="876300" y="5276850"/>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buNone/>
              <a:defRPr sz="750" b="1">
                <a:solidFill>
                  <a:srgbClr val="FFFFFF"/>
                </a:solidFill>
                <a:latin typeface="Arial"/>
                <a:ea typeface="Arial"/>
                <a:cs typeface="Arial"/>
              </a:defRPr>
            </a:pPr>
            <a:r>
              <a:rPr sz="750" b="1">
                <a:solidFill>
                  <a:srgbClr val="FFFFFF"/>
                </a:solidFill>
                <a:latin typeface="Arial"/>
                <a:ea typeface="Arial"/>
                <a:cs typeface="Arial"/>
              </a:rPr>
              <a:t>FIN OPS</a:t>
            </a:r>
          </a:p>
        </p:txBody>
      </p:sp>
      <p:sp>
        <p:nvSpPr>
          <p:cNvPr id="28" name="s7-cell-2-1">
            <a:extLst xmlns:a="http://schemas.openxmlformats.org/drawingml/2006/main">
              <a:ext uri="{FF2B5EF4-FFF2-40B4-BE49-F238E27FC236}">
                <a16:creationId xmlns:a16="http://schemas.microsoft.com/office/drawing/2014/main" id="{F3593081-1F1E-4D6F-A6B7-96F2F8E9885E}"/>
              </a:ext>
            </a:extLst>
          </p:cNvPr>
          <p:cNvSpPr>
            <a:spLocks xmlns:a="http://schemas.openxmlformats.org/drawingml/2006/main" noGrp="1"/>
          </p:cNvSpPr>
          <p:nvPr/>
        </p:nvSpPr>
        <p:spPr>
          <a:xfrm xmlns:a="http://schemas.openxmlformats.org/drawingml/2006/main">
            <a:off x="2105025" y="5162550"/>
            <a:ext cx="1152525" cy="400050"/>
          </a:xfrm>
          <a:prstGeom xmlns:a="http://schemas.openxmlformats.org/drawingml/2006/main" prst="rect">
            <a:avLst/>
          </a:prstGeom>
          <a:solidFill xmlns:a="http://schemas.openxmlformats.org/drawingml/2006/main">
            <a:srgbClr val="17304A"/>
          </a:solidFill>
          <a:ln xmlns:a="http://schemas.openxmlformats.org/drawingml/2006/main" w="0">
            <a:noFill/>
            <a:prstDash val="solid"/>
          </a:ln>
        </p:spPr>
      </p:sp>
      <p:sp>
        <p:nvSpPr>
          <p:cNvPr id="29" name="s7-cell-text-2-1">
            <a:extLst xmlns:a="http://schemas.openxmlformats.org/drawingml/2006/main">
              <a:ext uri="{FF2B5EF4-FFF2-40B4-BE49-F238E27FC236}">
                <a16:creationId xmlns:a16="http://schemas.microsoft.com/office/drawing/2014/main" id="{34FBB233-F383-4E15-96FA-C03B1C1C11D6}"/>
              </a:ext>
            </a:extLst>
          </p:cNvPr>
          <p:cNvSpPr>
            <a:spLocks xmlns:a="http://schemas.openxmlformats.org/drawingml/2006/main" noGrp="1"/>
          </p:cNvSpPr>
          <p:nvPr/>
        </p:nvSpPr>
        <p:spPr>
          <a:xfrm xmlns:a="http://schemas.openxmlformats.org/drawingml/2006/main">
            <a:off x="2105025" y="5276850"/>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CONFIRM</a:t>
            </a:r>
          </a:p>
        </p:txBody>
      </p:sp>
      <p:sp>
        <p:nvSpPr>
          <p:cNvPr id="30" name="s7-cell-2-2">
            <a:extLst xmlns:a="http://schemas.openxmlformats.org/drawingml/2006/main">
              <a:ext uri="{FF2B5EF4-FFF2-40B4-BE49-F238E27FC236}">
                <a16:creationId xmlns:a16="http://schemas.microsoft.com/office/drawing/2014/main" id="{7C2E5D13-CFFD-4924-B47D-F8D039D25FA3}"/>
              </a:ext>
            </a:extLst>
          </p:cNvPr>
          <p:cNvSpPr>
            <a:spLocks xmlns:a="http://schemas.openxmlformats.org/drawingml/2006/main" noGrp="1"/>
          </p:cNvSpPr>
          <p:nvPr/>
        </p:nvSpPr>
        <p:spPr>
          <a:xfrm xmlns:a="http://schemas.openxmlformats.org/drawingml/2006/main">
            <a:off x="3333750" y="5162550"/>
            <a:ext cx="1152525" cy="400050"/>
          </a:xfrm>
          <a:prstGeom xmlns:a="http://schemas.openxmlformats.org/drawingml/2006/main" prst="rect">
            <a:avLst/>
          </a:prstGeom>
          <a:solidFill xmlns:a="http://schemas.openxmlformats.org/drawingml/2006/main">
            <a:srgbClr val="17304A"/>
          </a:solidFill>
          <a:ln xmlns:a="http://schemas.openxmlformats.org/drawingml/2006/main" w="0">
            <a:noFill/>
            <a:prstDash val="solid"/>
          </a:ln>
        </p:spPr>
      </p:sp>
      <p:sp>
        <p:nvSpPr>
          <p:cNvPr id="31" name="s7-cell-text-2-2">
            <a:extLst xmlns:a="http://schemas.openxmlformats.org/drawingml/2006/main">
              <a:ext uri="{FF2B5EF4-FFF2-40B4-BE49-F238E27FC236}">
                <a16:creationId xmlns:a16="http://schemas.microsoft.com/office/drawing/2014/main" id="{1F835D1C-1888-4039-861E-C7B8AF0DD965}"/>
              </a:ext>
            </a:extLst>
          </p:cNvPr>
          <p:cNvSpPr>
            <a:spLocks xmlns:a="http://schemas.openxmlformats.org/drawingml/2006/main" noGrp="1"/>
          </p:cNvSpPr>
          <p:nvPr/>
        </p:nvSpPr>
        <p:spPr>
          <a:xfrm xmlns:a="http://schemas.openxmlformats.org/drawingml/2006/main">
            <a:off x="3333750" y="5276850"/>
            <a:ext cx="11525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0000"/>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DISCOVERY</a:t>
            </a:r>
          </a:p>
        </p:txBody>
      </p:sp>
      <p:sp>
        <p:nvSpPr>
          <p:cNvPr id="32" name="s7-global-label">
            <a:extLst xmlns:a="http://schemas.openxmlformats.org/drawingml/2006/main">
              <a:ext uri="{FF2B5EF4-FFF2-40B4-BE49-F238E27FC236}">
                <a16:creationId xmlns:a16="http://schemas.microsoft.com/office/drawing/2014/main" id="{C2C8EE5E-4332-4989-B140-C66A0D89C264}"/>
              </a:ext>
            </a:extLst>
          </p:cNvPr>
          <p:cNvSpPr>
            <a:spLocks xmlns:a="http://schemas.openxmlformats.org/drawingml/2006/main" noGrp="1"/>
          </p:cNvSpPr>
          <p:nvPr/>
        </p:nvSpPr>
        <p:spPr>
          <a:xfrm xmlns:a="http://schemas.openxmlformats.org/drawingml/2006/main">
            <a:off x="5829300" y="18097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7658D6"/>
                </a:solidFill>
                <a:latin typeface="Arial"/>
                <a:ea typeface="Arial"/>
                <a:cs typeface="Arial"/>
              </a:defRPr>
            </a:pPr>
            <a:r>
              <a:rPr sz="975" b="1">
                <a:solidFill>
                  <a:srgbClr val="7658D6"/>
                </a:solidFill>
                <a:latin typeface="Arial"/>
                <a:ea typeface="Arial"/>
                <a:cs typeface="Arial"/>
              </a:rPr>
              <a:t>WHY NOW: DATED EVENT + PREPARATION WINDOW</a:t>
            </a:r>
          </a:p>
        </p:txBody>
      </p:sp>
      <p:cxnSp>
        <p:nvCxnSpPr>
          <p:cNvPr id="217" name="s7-first-rule"/>
          <p:cNvCxnSpPr/>
          <p:nvPr/>
        </p:nvCxnSpPr>
        <p:spPr>
          <a:xfrm xmlns:a="http://schemas.openxmlformats.org/drawingml/2006/main">
            <a:off x="5829300" y="2190750"/>
            <a:ext cx="2381250" cy="0"/>
          </a:xfrm>
          <a:prstGeom xmlns:a="http://schemas.openxmlformats.org/drawingml/2006/main" prst="straightConnector1">
            <a:avLst/>
          </a:prstGeom>
          <a:ln xmlns:a="http://schemas.openxmlformats.org/drawingml/2006/main" w="38100">
            <a:solidFill>
              <a:srgbClr val="7658D6"/>
            </a:solidFill>
            <a:prstDash val="solid"/>
          </a:ln>
        </p:spPr>
      </p:cxnSp>
      <p:sp>
        <p:nvSpPr>
          <p:cNvPr id="34" name="s7-first-value">
            <a:extLst xmlns:a="http://schemas.openxmlformats.org/drawingml/2006/main">
              <a:ext uri="{FF2B5EF4-FFF2-40B4-BE49-F238E27FC236}">
                <a16:creationId xmlns:a16="http://schemas.microsoft.com/office/drawing/2014/main" id="{5DFBDE0D-BB22-48AE-9127-B9B943EC1C54}"/>
              </a:ext>
            </a:extLst>
          </p:cNvPr>
          <p:cNvSpPr>
            <a:spLocks xmlns:a="http://schemas.openxmlformats.org/drawingml/2006/main" noGrp="1"/>
          </p:cNvSpPr>
          <p:nvPr/>
        </p:nvSpPr>
        <p:spPr>
          <a:xfrm xmlns:a="http://schemas.openxmlformats.org/drawingml/2006/main">
            <a:off x="5829300" y="23622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14 AUG</a:t>
            </a:r>
          </a:p>
        </p:txBody>
      </p:sp>
      <p:sp>
        <p:nvSpPr>
          <p:cNvPr id="35" name="s7-first-label">
            <a:extLst xmlns:a="http://schemas.openxmlformats.org/drawingml/2006/main">
              <a:ext uri="{FF2B5EF4-FFF2-40B4-BE49-F238E27FC236}">
                <a16:creationId xmlns:a16="http://schemas.microsoft.com/office/drawing/2014/main" id="{77AEEA6F-9743-421E-8A93-67A472078906}"/>
              </a:ext>
            </a:extLst>
          </p:cNvPr>
          <p:cNvSpPr>
            <a:spLocks xmlns:a="http://schemas.openxmlformats.org/drawingml/2006/main" noGrp="1"/>
          </p:cNvSpPr>
          <p:nvPr/>
        </p:nvSpPr>
        <p:spPr>
          <a:xfrm xmlns:a="http://schemas.openxmlformats.org/drawingml/2006/main">
            <a:off x="5829300" y="2895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dated trade event</a:t>
            </a:r>
          </a:p>
        </p:txBody>
      </p:sp>
      <p:sp>
        <p:nvSpPr>
          <p:cNvPr id="36" name="s7-first-note">
            <a:extLst xmlns:a="http://schemas.openxmlformats.org/drawingml/2006/main">
              <a:ext uri="{FF2B5EF4-FFF2-40B4-BE49-F238E27FC236}">
                <a16:creationId xmlns:a16="http://schemas.microsoft.com/office/drawing/2014/main" id="{D3447E88-3148-4101-BB31-FA0D8ACFED75}"/>
              </a:ext>
            </a:extLst>
          </p:cNvPr>
          <p:cNvSpPr>
            <a:spLocks xmlns:a="http://schemas.openxmlformats.org/drawingml/2006/main" noGrp="1"/>
          </p:cNvSpPr>
          <p:nvPr/>
        </p:nvSpPr>
        <p:spPr>
          <a:xfrm xmlns:a="http://schemas.openxmlformats.org/drawingml/2006/main">
            <a:off x="5829300" y="32194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106 bank-observed trade events inside 90 days</a:t>
            </a:r>
          </a:p>
        </p:txBody>
      </p:sp>
      <p:cxnSp>
        <p:nvCxnSpPr>
          <p:cNvPr id="221" name="s7-top10-rule"/>
          <p:cNvCxnSpPr/>
          <p:nvPr/>
        </p:nvCxnSpPr>
        <p:spPr>
          <a:xfrm xmlns:a="http://schemas.openxmlformats.org/drawingml/2006/main">
            <a:off x="8705850" y="2190750"/>
            <a:ext cx="2381250" cy="0"/>
          </a:xfrm>
          <a:prstGeom xmlns:a="http://schemas.openxmlformats.org/drawingml/2006/main" prst="straightConnector1">
            <a:avLst/>
          </a:prstGeom>
          <a:ln xmlns:a="http://schemas.openxmlformats.org/drawingml/2006/main" w="38100">
            <a:solidFill>
              <a:srgbClr val="E2951C"/>
            </a:solidFill>
            <a:prstDash val="solid"/>
          </a:ln>
        </p:spPr>
      </p:cxnSp>
      <p:sp>
        <p:nvSpPr>
          <p:cNvPr id="38" name="s7-top10-value">
            <a:extLst xmlns:a="http://schemas.openxmlformats.org/drawingml/2006/main">
              <a:ext uri="{FF2B5EF4-FFF2-40B4-BE49-F238E27FC236}">
                <a16:creationId xmlns:a16="http://schemas.microsoft.com/office/drawing/2014/main" id="{0C9D1DB5-20D1-440E-A241-7CF31E4AF8E2}"/>
              </a:ext>
            </a:extLst>
          </p:cNvPr>
          <p:cNvSpPr>
            <a:spLocks xmlns:a="http://schemas.openxmlformats.org/drawingml/2006/main" noGrp="1"/>
          </p:cNvSpPr>
          <p:nvPr/>
        </p:nvSpPr>
        <p:spPr>
          <a:xfrm xmlns:a="http://schemas.openxmlformats.org/drawingml/2006/main">
            <a:off x="8705850" y="23622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45d</a:t>
            </a:r>
          </a:p>
        </p:txBody>
      </p:sp>
      <p:sp>
        <p:nvSpPr>
          <p:cNvPr id="39" name="s7-top10-label">
            <a:extLst xmlns:a="http://schemas.openxmlformats.org/drawingml/2006/main">
              <a:ext uri="{FF2B5EF4-FFF2-40B4-BE49-F238E27FC236}">
                <a16:creationId xmlns:a16="http://schemas.microsoft.com/office/drawing/2014/main" id="{F9407FAD-6E0A-44B6-A687-5D5874A605FB}"/>
              </a:ext>
            </a:extLst>
          </p:cNvPr>
          <p:cNvSpPr>
            <a:spLocks xmlns:a="http://schemas.openxmlformats.org/drawingml/2006/main" noGrp="1"/>
          </p:cNvSpPr>
          <p:nvPr/>
        </p:nvSpPr>
        <p:spPr>
          <a:xfrm xmlns:a="http://schemas.openxmlformats.org/drawingml/2006/main">
            <a:off x="8705850" y="2895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preparation lead</a:t>
            </a:r>
          </a:p>
        </p:txBody>
      </p:sp>
      <p:sp>
        <p:nvSpPr>
          <p:cNvPr id="40" name="s7-top10-note">
            <a:extLst xmlns:a="http://schemas.openxmlformats.org/drawingml/2006/main">
              <a:ext uri="{FF2B5EF4-FFF2-40B4-BE49-F238E27FC236}">
                <a16:creationId xmlns:a16="http://schemas.microsoft.com/office/drawing/2014/main" id="{3BE49421-E8F7-4EC3-AF74-5D7F1E6125BF}"/>
              </a:ext>
            </a:extLst>
          </p:cNvPr>
          <p:cNvSpPr>
            <a:spLocks xmlns:a="http://schemas.openxmlformats.org/drawingml/2006/main" noGrp="1"/>
          </p:cNvSpPr>
          <p:nvPr/>
        </p:nvSpPr>
        <p:spPr>
          <a:xfrm xmlns:a="http://schemas.openxmlformats.org/drawingml/2006/main">
            <a:off x="8705850" y="32194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Engagement window opens 30 June</a:t>
            </a:r>
          </a:p>
        </p:txBody>
      </p:sp>
      <p:cxnSp>
        <p:nvCxnSpPr>
          <p:cNvPr id="225" name="s7-fx-rule"/>
          <p:cNvCxnSpPr/>
          <p:nvPr/>
        </p:nvCxnSpPr>
        <p:spPr>
          <a:xfrm xmlns:a="http://schemas.openxmlformats.org/drawingml/2006/main">
            <a:off x="5829300" y="3962400"/>
            <a:ext cx="2381250" cy="0"/>
          </a:xfrm>
          <a:prstGeom xmlns:a="http://schemas.openxmlformats.org/drawingml/2006/main" prst="straightConnector1">
            <a:avLst/>
          </a:prstGeom>
          <a:ln xmlns:a="http://schemas.openxmlformats.org/drawingml/2006/main" w="38100">
            <a:solidFill>
              <a:srgbClr val="0B63E5"/>
            </a:solidFill>
            <a:prstDash val="solid"/>
          </a:ln>
        </p:spPr>
      </p:cxnSp>
      <p:sp>
        <p:nvSpPr>
          <p:cNvPr id="42" name="s7-fx-value">
            <a:extLst xmlns:a="http://schemas.openxmlformats.org/drawingml/2006/main">
              <a:ext uri="{FF2B5EF4-FFF2-40B4-BE49-F238E27FC236}">
                <a16:creationId xmlns:a16="http://schemas.microsoft.com/office/drawing/2014/main" id="{6BE9C760-BEFA-4672-AD3B-F1AB22DAE3EA}"/>
              </a:ext>
            </a:extLst>
          </p:cNvPr>
          <p:cNvSpPr>
            <a:spLocks xmlns:a="http://schemas.openxmlformats.org/drawingml/2006/main" noGrp="1"/>
          </p:cNvSpPr>
          <p:nvPr/>
        </p:nvSpPr>
        <p:spPr>
          <a:xfrm xmlns:a="http://schemas.openxmlformats.org/drawingml/2006/main">
            <a:off x="5829300" y="413385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8</a:t>
            </a:r>
          </a:p>
        </p:txBody>
      </p:sp>
      <p:sp>
        <p:nvSpPr>
          <p:cNvPr id="43" name="s7-fx-label">
            <a:extLst xmlns:a="http://schemas.openxmlformats.org/drawingml/2006/main">
              <a:ext uri="{FF2B5EF4-FFF2-40B4-BE49-F238E27FC236}">
                <a16:creationId xmlns:a16="http://schemas.microsoft.com/office/drawing/2014/main" id="{FD3C6F74-047F-44B6-9358-CE3874C5702B}"/>
              </a:ext>
            </a:extLst>
          </p:cNvPr>
          <p:cNvSpPr>
            <a:spLocks xmlns:a="http://schemas.openxmlformats.org/drawingml/2006/main" noGrp="1"/>
          </p:cNvSpPr>
          <p:nvPr/>
        </p:nvSpPr>
        <p:spPr>
          <a:xfrm xmlns:a="http://schemas.openxmlformats.org/drawingml/2006/main">
            <a:off x="5829300" y="4667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weekly conversations</a:t>
            </a:r>
          </a:p>
        </p:txBody>
      </p:sp>
      <p:sp>
        <p:nvSpPr>
          <p:cNvPr id="44" name="s7-fx-note">
            <a:extLst xmlns:a="http://schemas.openxmlformats.org/drawingml/2006/main">
              <a:ext uri="{FF2B5EF4-FFF2-40B4-BE49-F238E27FC236}">
                <a16:creationId xmlns:a16="http://schemas.microsoft.com/office/drawing/2014/main" id="{8CB5B412-DB5B-4A0E-86DB-B9F0C922A280}"/>
              </a:ext>
            </a:extLst>
          </p:cNvPr>
          <p:cNvSpPr>
            <a:spLocks xmlns:a="http://schemas.openxmlformats.org/drawingml/2006/main" noGrp="1"/>
          </p:cNvSpPr>
          <p:nvPr/>
        </p:nvSpPr>
        <p:spPr>
          <a:xfrm xmlns:a="http://schemas.openxmlformats.org/drawingml/2006/main">
            <a:off x="5829300" y="49911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All discovery under unknown bank gates</a:t>
            </a:r>
          </a:p>
        </p:txBody>
      </p:sp>
      <p:cxnSp>
        <p:nvCxnSpPr>
          <p:cNvPr id="229" name="s7-econ-rule"/>
          <p:cNvCxnSpPr/>
          <p:nvPr/>
        </p:nvCxnSpPr>
        <p:spPr>
          <a:xfrm xmlns:a="http://schemas.openxmlformats.org/drawingml/2006/main">
            <a:off x="8705850" y="3962400"/>
            <a:ext cx="2381250" cy="0"/>
          </a:xfrm>
          <a:prstGeom xmlns:a="http://schemas.openxmlformats.org/drawingml/2006/main" prst="straightConnector1">
            <a:avLst/>
          </a:prstGeom>
          <a:ln xmlns:a="http://schemas.openxmlformats.org/drawingml/2006/main" w="38100">
            <a:solidFill>
              <a:srgbClr val="008B83"/>
            </a:solidFill>
            <a:prstDash val="solid"/>
          </a:ln>
        </p:spPr>
      </p:cxnSp>
      <p:sp>
        <p:nvSpPr>
          <p:cNvPr id="46" name="s7-econ-value">
            <a:extLst xmlns:a="http://schemas.openxmlformats.org/drawingml/2006/main">
              <a:ext uri="{FF2B5EF4-FFF2-40B4-BE49-F238E27FC236}">
                <a16:creationId xmlns:a16="http://schemas.microsoft.com/office/drawing/2014/main" id="{F635547D-9720-48A5-BA26-2B12CF5D0B6C}"/>
              </a:ext>
            </a:extLst>
          </p:cNvPr>
          <p:cNvSpPr>
            <a:spLocks xmlns:a="http://schemas.openxmlformats.org/drawingml/2006/main" noGrp="1"/>
          </p:cNvSpPr>
          <p:nvPr/>
        </p:nvSpPr>
        <p:spPr>
          <a:xfrm xmlns:a="http://schemas.openxmlformats.org/drawingml/2006/main">
            <a:off x="8705850" y="413385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NULL</a:t>
            </a:r>
          </a:p>
        </p:txBody>
      </p:sp>
      <p:sp>
        <p:nvSpPr>
          <p:cNvPr id="47" name="s7-econ-label">
            <a:extLst xmlns:a="http://schemas.openxmlformats.org/drawingml/2006/main">
              <a:ext uri="{FF2B5EF4-FFF2-40B4-BE49-F238E27FC236}">
                <a16:creationId xmlns:a16="http://schemas.microsoft.com/office/drawing/2014/main" id="{F8CFA969-8DD7-4918-8E0F-C6E3F943BF8F}"/>
              </a:ext>
            </a:extLst>
          </p:cNvPr>
          <p:cNvSpPr>
            <a:spLocks xmlns:a="http://schemas.openxmlformats.org/drawingml/2006/main" noGrp="1"/>
          </p:cNvSpPr>
          <p:nvPr/>
        </p:nvSpPr>
        <p:spPr>
          <a:xfrm xmlns:a="http://schemas.openxmlformats.org/drawingml/2006/main">
            <a:off x="8705850" y="4667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causal value</a:t>
            </a:r>
          </a:p>
        </p:txBody>
      </p:sp>
      <p:sp>
        <p:nvSpPr>
          <p:cNvPr id="48" name="s7-econ-note">
            <a:extLst xmlns:a="http://schemas.openxmlformats.org/drawingml/2006/main">
              <a:ext uri="{FF2B5EF4-FFF2-40B4-BE49-F238E27FC236}">
                <a16:creationId xmlns:a16="http://schemas.microsoft.com/office/drawing/2014/main" id="{679B5143-E8B2-42B7-B923-94A70BE4A577}"/>
              </a:ext>
            </a:extLst>
          </p:cNvPr>
          <p:cNvSpPr>
            <a:spLocks xmlns:a="http://schemas.openxmlformats.org/drawingml/2006/main" noGrp="1"/>
          </p:cNvSpPr>
          <p:nvPr/>
        </p:nvSpPr>
        <p:spPr>
          <a:xfrm xmlns:a="http://schemas.openxmlformats.org/drawingml/2006/main">
            <a:off x="8705850" y="499110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No qualified RM trial history</a:t>
            </a:r>
          </a:p>
        </p:txBody>
      </p:sp>
      <p:sp>
        <p:nvSpPr>
          <p:cNvPr id="49" name="s7-conclusion">
            <a:extLst xmlns:a="http://schemas.openxmlformats.org/drawingml/2006/main">
              <a:ext uri="{FF2B5EF4-FFF2-40B4-BE49-F238E27FC236}">
                <a16:creationId xmlns:a16="http://schemas.microsoft.com/office/drawing/2014/main" id="{FC881B4E-551C-4ABA-B943-85403F2869BA}"/>
              </a:ext>
            </a:extLst>
          </p:cNvPr>
          <p:cNvSpPr>
            <a:spLocks xmlns:a="http://schemas.openxmlformats.org/drawingml/2006/main" noGrp="1"/>
          </p:cNvSpPr>
          <p:nvPr/>
        </p:nvSpPr>
        <p:spPr>
          <a:xfrm xmlns:a="http://schemas.openxmlformats.org/drawingml/2006/main">
            <a:off x="5829300" y="5619750"/>
            <a:ext cx="5257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758"/>
          </a:bodyPr>
          <a:lstStyle xmlns:a="http://schemas.openxmlformats.org/drawingml/2006/main"/>
          <a:p xmlns:a="http://schemas.openxmlformats.org/drawingml/2006/main">
            <a:pPr algn="l">
              <a:buNone/>
              <a:defRPr sz="1350" b="1">
                <a:solidFill>
                  <a:srgbClr val="0C1728"/>
                </a:solidFill>
                <a:latin typeface="Arial"/>
                <a:ea typeface="Arial"/>
                <a:cs typeface="Arial"/>
              </a:defRPr>
            </a:pPr>
            <a:r>
              <a:rPr sz="1350" b="1">
                <a:solidFill>
                  <a:srgbClr val="0C1728"/>
                </a:solidFill>
                <a:latin typeface="Arial"/>
                <a:ea typeface="Arial"/>
                <a:cs typeface="Arial"/>
              </a:rPr>
              <a:t>Permitted action now: validate wallet, stakeholder and feasibility. Conditional commercial action begins only after the missing facts and required gates are confirmed.</a:t>
            </a:r>
          </a:p>
        </p:txBody>
      </p:sp>
    </p:spTree>
    <p:extLst>
      <p:ext uri="{BB962C8B-B14F-4D97-AF65-F5344CB8AC3E}">
        <p14:creationId xmlns:p14="http://schemas.microsoft.com/office/powerpoint/2010/main" val="163831442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3" name="eyebrow-6">
            <a:extLst xmlns:a="http://schemas.openxmlformats.org/drawingml/2006/main">
              <a:ext uri="{FF2B5EF4-FFF2-40B4-BE49-F238E27FC236}">
                <a16:creationId xmlns:a16="http://schemas.microsoft.com/office/drawing/2014/main" id="{89E91E12-CE66-45C3-A120-BC0CCCDB80ED}"/>
              </a:ext>
            </a:extLst>
          </p:cNvPr>
          <p:cNvSpPr>
            <a:spLocks xmlns:a="http://schemas.openxmlformats.org/drawingml/2006/main" noGrp="1"/>
          </p:cNvSpPr>
          <p:nvPr/>
        </p:nvSpPr>
        <p:spPr>
          <a:xfrm xmlns:a="http://schemas.openxmlformats.org/drawingml/2006/main">
            <a:off x="609600" y="3238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B63E5"/>
                </a:solidFill>
                <a:latin typeface="Arial"/>
                <a:ea typeface="Arial"/>
                <a:cs typeface="Arial"/>
              </a:defRPr>
            </a:pPr>
            <a:r>
              <a:rPr sz="975" b="1">
                <a:solidFill>
                  <a:srgbClr val="0B63E5"/>
                </a:solidFill>
                <a:latin typeface="Arial"/>
                <a:ea typeface="Arial"/>
                <a:cs typeface="Arial"/>
              </a:rPr>
              <a:t>GROUNDED GENAI BRIEFING</a:t>
            </a:r>
          </a:p>
        </p:txBody>
      </p:sp>
      <p:sp>
        <p:nvSpPr>
          <p:cNvPr id="2" name="title-6">
            <a:extLst xmlns:a="http://schemas.openxmlformats.org/drawingml/2006/main">
              <a:ext uri="{FF2B5EF4-FFF2-40B4-BE49-F238E27FC236}">
                <a16:creationId xmlns:a16="http://schemas.microsoft.com/office/drawing/2014/main" id="{A3E00FF7-9183-418A-806A-FE7CA9FEBBD0}"/>
              </a:ext>
            </a:extLst>
          </p:cNvPr>
          <p:cNvSpPr>
            <a:spLocks xmlns:a="http://schemas.openxmlformats.org/drawingml/2006/main" noGrp="1"/>
          </p:cNvSpPr>
          <p:nvPr/>
        </p:nvSpPr>
        <p:spPr>
          <a:xfrm xmlns:a="http://schemas.openxmlformats.org/drawingml/2006/main">
            <a:off x="609600" y="6572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buNone/>
              <a:defRPr sz="3150" b="1">
                <a:solidFill>
                  <a:srgbClr val="0C1728"/>
                </a:solidFill>
                <a:latin typeface="Arial"/>
                <a:ea typeface="Arial"/>
                <a:cs typeface="Arial"/>
              </a:defRPr>
            </a:pPr>
            <a:r>
              <a:rPr sz="3150" b="1">
                <a:solidFill>
                  <a:srgbClr val="0C1728"/>
                </a:solidFill>
                <a:latin typeface="Arial"/>
                <a:ea typeface="Arial"/>
                <a:cs typeface="Arial"/>
              </a:rPr>
              <a:t>A closed evidence pack controls every published word</a:t>
            </a:r>
          </a:p>
        </p:txBody>
      </p:sp>
      <p:cxnSp>
        <p:nvCxnSpPr>
          <p:cNvPr id="80" name="title-rule-6"/>
          <p:cNvCxnSpPr/>
          <p:nvPr/>
        </p:nvCxnSpPr>
        <p:spPr>
          <a:xfrm xmlns:a="http://schemas.openxmlformats.org/drawingml/2006/main">
            <a:off x="609600" y="1381125"/>
            <a:ext cx="10972800" cy="0"/>
          </a:xfrm>
          <a:prstGeom xmlns:a="http://schemas.openxmlformats.org/drawingml/2006/main" prst="straightConnector1">
            <a:avLst/>
          </a:prstGeom>
          <a:ln xmlns:a="http://schemas.openxmlformats.org/drawingml/2006/main" w="9525">
            <a:solidFill>
              <a:srgbClr val="D7DEE8"/>
            </a:solidFill>
            <a:prstDash val="solid"/>
          </a:ln>
        </p:spPr>
      </p:cxnSp>
      <p:sp>
        <p:nvSpPr>
          <p:cNvPr id="4" name="footer-team-6">
            <a:extLst xmlns:a="http://schemas.openxmlformats.org/drawingml/2006/main">
              <a:ext uri="{FF2B5EF4-FFF2-40B4-BE49-F238E27FC236}">
                <a16:creationId xmlns:a16="http://schemas.microsoft.com/office/drawing/2014/main" id="{12855A77-AC13-4F57-A20D-7CE78FF9268F}"/>
              </a:ext>
            </a:extLst>
          </p:cNvPr>
          <p:cNvSpPr>
            <a:spLocks xmlns:a="http://schemas.openxmlformats.org/drawingml/2006/main" noGrp="1"/>
          </p:cNvSpPr>
          <p:nvPr/>
        </p:nvSpPr>
        <p:spPr>
          <a:xfrm xmlns:a="http://schemas.openxmlformats.org/drawingml/2006/main">
            <a:off x="609600" y="64865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27086"/>
                </a:solidFill>
                <a:latin typeface="Arial"/>
                <a:ea typeface="Arial"/>
                <a:cs typeface="Arial"/>
              </a:defRPr>
            </a:pPr>
            <a:r>
              <a:rPr sz="825" b="1">
                <a:solidFill>
                  <a:srgbClr val="627086"/>
                </a:solidFill>
                <a:latin typeface="Arial"/>
                <a:ea typeface="Arial"/>
                <a:cs typeface="Arial"/>
              </a:rPr>
              <a:t>TEAM: Corporate Wallet Digital Twin | Christopher Koen | V3.2.0</a:t>
            </a:r>
          </a:p>
        </p:txBody>
      </p:sp>
      <p:sp>
        <p:nvSpPr>
          <p:cNvPr id="5" name="footer-data-6">
            <a:extLst xmlns:a="http://schemas.openxmlformats.org/drawingml/2006/main">
              <a:ext uri="{FF2B5EF4-FFF2-40B4-BE49-F238E27FC236}">
                <a16:creationId xmlns:a16="http://schemas.microsoft.com/office/drawing/2014/main" id="{F9533333-6E7B-4473-9C8C-25780F633948}"/>
              </a:ext>
            </a:extLst>
          </p:cNvPr>
          <p:cNvSpPr>
            <a:spLocks xmlns:a="http://schemas.openxmlformats.org/drawingml/2006/main" noGrp="1"/>
          </p:cNvSpPr>
          <p:nvPr/>
        </p:nvSpPr>
        <p:spPr>
          <a:xfrm xmlns:a="http://schemas.openxmlformats.org/drawingml/2006/main">
            <a:off x="748665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r">
              <a:buNone/>
              <a:defRPr sz="750" b="1">
                <a:solidFill>
                  <a:srgbClr val="627086"/>
                </a:solidFill>
                <a:latin typeface="Arial"/>
                <a:ea typeface="Arial"/>
                <a:cs typeface="Arial"/>
              </a:defRPr>
            </a:pPr>
            <a:r>
              <a:rPr sz="750" b="1">
                <a:solidFill>
                  <a:srgbClr val="627086"/>
                </a:solidFill>
                <a:latin typeface="Arial"/>
                <a:ea typeface="Arial"/>
                <a:cs typeface="Arial"/>
              </a:rPr>
              <a:t>CONFIDENTIAL SYN BANK ACTIVITY + APPROVED PUBLIC E1 + GOVERNED PRIORS</a:t>
            </a:r>
          </a:p>
        </p:txBody>
      </p:sp>
      <p:sp>
        <p:nvSpPr>
          <p:cNvPr id="6" name="footer-page-6">
            <a:extLst xmlns:a="http://schemas.openxmlformats.org/drawingml/2006/main">
              <a:ext uri="{FF2B5EF4-FFF2-40B4-BE49-F238E27FC236}">
                <a16:creationId xmlns:a16="http://schemas.microsoft.com/office/drawing/2014/main" id="{55DD1F24-B291-41C2-B201-5EBE85341DDA}"/>
              </a:ext>
            </a:extLst>
          </p:cNvPr>
          <p:cNvSpPr>
            <a:spLocks xmlns:a="http://schemas.openxmlformats.org/drawingml/2006/main" noGrp="1"/>
          </p:cNvSpPr>
          <p:nvPr/>
        </p:nvSpPr>
        <p:spPr>
          <a:xfrm xmlns:a="http://schemas.openxmlformats.org/drawingml/2006/main">
            <a:off x="11287125" y="6486525"/>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buNone/>
              <a:defRPr sz="825" b="1">
                <a:solidFill>
                  <a:srgbClr val="627086"/>
                </a:solidFill>
                <a:latin typeface="Arial"/>
                <a:ea typeface="Arial"/>
                <a:cs typeface="Arial"/>
              </a:defRPr>
            </a:pPr>
            <a:r>
              <a:rPr sz="825" b="1">
                <a:solidFill>
                  <a:srgbClr val="627086"/>
                </a:solidFill>
                <a:latin typeface="Arial"/>
                <a:ea typeface="Arial"/>
                <a:cs typeface="Arial"/>
              </a:rPr>
              <a:t>08</a:t>
            </a:r>
          </a:p>
        </p:txBody>
      </p:sp>
      <p:cxnSp>
        <p:nvCxnSpPr>
          <p:cNvPr id="84" name="s6-wallet-rule"/>
          <p:cNvCxnSpPr/>
          <p:nvPr/>
        </p:nvCxnSpPr>
        <p:spPr>
          <a:xfrm xmlns:a="http://schemas.openxmlformats.org/drawingml/2006/main">
            <a:off x="609600" y="1733550"/>
            <a:ext cx="2762250" cy="0"/>
          </a:xfrm>
          <a:prstGeom xmlns:a="http://schemas.openxmlformats.org/drawingml/2006/main" prst="straightConnector1">
            <a:avLst/>
          </a:prstGeom>
          <a:ln xmlns:a="http://schemas.openxmlformats.org/drawingml/2006/main" w="38100">
            <a:solidFill>
              <a:srgbClr val="008B83"/>
            </a:solidFill>
            <a:prstDash val="solid"/>
          </a:ln>
        </p:spPr>
      </p:cxnSp>
      <p:sp>
        <p:nvSpPr>
          <p:cNvPr id="8" name="s6-wallet-value">
            <a:extLst xmlns:a="http://schemas.openxmlformats.org/drawingml/2006/main">
              <a:ext uri="{FF2B5EF4-FFF2-40B4-BE49-F238E27FC236}">
                <a16:creationId xmlns:a16="http://schemas.microsoft.com/office/drawing/2014/main" id="{1AE85D63-8C12-468A-A058-88FA88D8AADB}"/>
              </a:ext>
            </a:extLst>
          </p:cNvPr>
          <p:cNvSpPr>
            <a:spLocks xmlns:a="http://schemas.openxmlformats.org/drawingml/2006/main" noGrp="1"/>
          </p:cNvSpPr>
          <p:nvPr/>
        </p:nvSpPr>
        <p:spPr>
          <a:xfrm xmlns:a="http://schemas.openxmlformats.org/drawingml/2006/main">
            <a:off x="609600" y="190500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8</a:t>
            </a:r>
          </a:p>
        </p:txBody>
      </p:sp>
      <p:sp>
        <p:nvSpPr>
          <p:cNvPr id="9" name="s6-wallet-label">
            <a:extLst xmlns:a="http://schemas.openxmlformats.org/drawingml/2006/main">
              <a:ext uri="{FF2B5EF4-FFF2-40B4-BE49-F238E27FC236}">
                <a16:creationId xmlns:a16="http://schemas.microsoft.com/office/drawing/2014/main" id="{D27EFF17-7C19-401E-8465-85B3049CFD21}"/>
              </a:ext>
            </a:extLst>
          </p:cNvPr>
          <p:cNvSpPr>
            <a:spLocks xmlns:a="http://schemas.openxmlformats.org/drawingml/2006/main" noGrp="1"/>
          </p:cNvSpPr>
          <p:nvPr/>
        </p:nvSpPr>
        <p:spPr>
          <a:xfrm xmlns:a="http://schemas.openxmlformats.org/drawingml/2006/main">
            <a:off x="609600" y="24384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accepted outputs</a:t>
            </a:r>
          </a:p>
        </p:txBody>
      </p:sp>
      <p:sp>
        <p:nvSpPr>
          <p:cNvPr id="10" name="s6-wallet-note">
            <a:extLst xmlns:a="http://schemas.openxmlformats.org/drawingml/2006/main">
              <a:ext uri="{FF2B5EF4-FFF2-40B4-BE49-F238E27FC236}">
                <a16:creationId xmlns:a16="http://schemas.microsoft.com/office/drawing/2014/main" id="{7B254F8C-194F-4785-B639-94DC06E07543}"/>
              </a:ext>
            </a:extLst>
          </p:cNvPr>
          <p:cNvSpPr>
            <a:spLocks xmlns:a="http://schemas.openxmlformats.org/drawingml/2006/main" noGrp="1"/>
          </p:cNvSpPr>
          <p:nvPr/>
        </p:nvSpPr>
        <p:spPr>
          <a:xfrm xmlns:a="http://schemas.openxmlformats.org/drawingml/2006/main">
            <a:off x="609600" y="276225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9 targets · all three showcase clients covered</a:t>
            </a:r>
          </a:p>
        </p:txBody>
      </p:sp>
      <p:cxnSp>
        <p:nvCxnSpPr>
          <p:cNvPr id="88" name="s6-share-rule"/>
          <p:cNvCxnSpPr/>
          <p:nvPr/>
        </p:nvCxnSpPr>
        <p:spPr>
          <a:xfrm xmlns:a="http://schemas.openxmlformats.org/drawingml/2006/main">
            <a:off x="4171950" y="1733550"/>
            <a:ext cx="2762250" cy="0"/>
          </a:xfrm>
          <a:prstGeom xmlns:a="http://schemas.openxmlformats.org/drawingml/2006/main" prst="straightConnector1">
            <a:avLst/>
          </a:prstGeom>
          <a:ln xmlns:a="http://schemas.openxmlformats.org/drawingml/2006/main" w="38100">
            <a:solidFill>
              <a:srgbClr val="0B63E5"/>
            </a:solidFill>
            <a:prstDash val="solid"/>
          </a:ln>
        </p:spPr>
      </p:cxnSp>
      <p:sp>
        <p:nvSpPr>
          <p:cNvPr id="12" name="s6-share-value">
            <a:extLst xmlns:a="http://schemas.openxmlformats.org/drawingml/2006/main">
              <a:ext uri="{FF2B5EF4-FFF2-40B4-BE49-F238E27FC236}">
                <a16:creationId xmlns:a16="http://schemas.microsoft.com/office/drawing/2014/main" id="{4B3086FD-423F-47F2-AB5B-4E54DE9E2B14}"/>
              </a:ext>
            </a:extLst>
          </p:cNvPr>
          <p:cNvSpPr>
            <a:spLocks xmlns:a="http://schemas.openxmlformats.org/drawingml/2006/main" noGrp="1"/>
          </p:cNvSpPr>
          <p:nvPr/>
        </p:nvSpPr>
        <p:spPr>
          <a:xfrm xmlns:a="http://schemas.openxmlformats.org/drawingml/2006/main">
            <a:off x="4171950" y="190500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3</a:t>
            </a:r>
          </a:p>
        </p:txBody>
      </p:sp>
      <p:sp>
        <p:nvSpPr>
          <p:cNvPr id="13" name="s6-share-label">
            <a:extLst xmlns:a="http://schemas.openxmlformats.org/drawingml/2006/main">
              <a:ext uri="{FF2B5EF4-FFF2-40B4-BE49-F238E27FC236}">
                <a16:creationId xmlns:a16="http://schemas.microsoft.com/office/drawing/2014/main" id="{8AE78D56-1FD6-4A6E-862F-EC8D03691079}"/>
              </a:ext>
            </a:extLst>
          </p:cNvPr>
          <p:cNvSpPr>
            <a:spLocks xmlns:a="http://schemas.openxmlformats.org/drawingml/2006/main" noGrp="1"/>
          </p:cNvSpPr>
          <p:nvPr/>
        </p:nvSpPr>
        <p:spPr>
          <a:xfrm xmlns:a="http://schemas.openxmlformats.org/drawingml/2006/main">
            <a:off x="4171950" y="24384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providers accepted</a:t>
            </a:r>
          </a:p>
        </p:txBody>
      </p:sp>
      <p:sp>
        <p:nvSpPr>
          <p:cNvPr id="14" name="s6-share-note">
            <a:extLst xmlns:a="http://schemas.openxmlformats.org/drawingml/2006/main">
              <a:ext uri="{FF2B5EF4-FFF2-40B4-BE49-F238E27FC236}">
                <a16:creationId xmlns:a16="http://schemas.microsoft.com/office/drawing/2014/main" id="{D705F613-E75F-4CF2-8AFD-DF7F1EF2183E}"/>
              </a:ext>
            </a:extLst>
          </p:cNvPr>
          <p:cNvSpPr>
            <a:spLocks xmlns:a="http://schemas.openxmlformats.org/drawingml/2006/main" noGrp="1"/>
          </p:cNvSpPr>
          <p:nvPr/>
        </p:nvSpPr>
        <p:spPr>
          <a:xfrm xmlns:a="http://schemas.openxmlformats.org/drawingml/2006/main">
            <a:off x="4171950" y="276225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OpenAI · Anthropic · Google; exact pinned models</a:t>
            </a:r>
          </a:p>
        </p:txBody>
      </p:sp>
      <p:cxnSp>
        <p:nvCxnSpPr>
          <p:cNvPr id="92" name="s6-narrow-rule"/>
          <p:cNvCxnSpPr/>
          <p:nvPr/>
        </p:nvCxnSpPr>
        <p:spPr>
          <a:xfrm xmlns:a="http://schemas.openxmlformats.org/drawingml/2006/main">
            <a:off x="7734300" y="1733550"/>
            <a:ext cx="2762250" cy="0"/>
          </a:xfrm>
          <a:prstGeom xmlns:a="http://schemas.openxmlformats.org/drawingml/2006/main" prst="straightConnector1">
            <a:avLst/>
          </a:prstGeom>
          <a:ln xmlns:a="http://schemas.openxmlformats.org/drawingml/2006/main" w="38100">
            <a:solidFill>
              <a:srgbClr val="7658D6"/>
            </a:solidFill>
            <a:prstDash val="solid"/>
          </a:ln>
        </p:spPr>
      </p:cxnSp>
      <p:sp>
        <p:nvSpPr>
          <p:cNvPr id="16" name="s6-narrow-value">
            <a:extLst xmlns:a="http://schemas.openxmlformats.org/drawingml/2006/main">
              <a:ext uri="{FF2B5EF4-FFF2-40B4-BE49-F238E27FC236}">
                <a16:creationId xmlns:a16="http://schemas.microsoft.com/office/drawing/2014/main" id="{54B27390-8478-4190-B397-7E345044377F}"/>
              </a:ext>
            </a:extLst>
          </p:cNvPr>
          <p:cNvSpPr>
            <a:spLocks xmlns:a="http://schemas.openxmlformats.org/drawingml/2006/main" noGrp="1"/>
          </p:cNvSpPr>
          <p:nvPr/>
        </p:nvSpPr>
        <p:spPr>
          <a:xfrm xmlns:a="http://schemas.openxmlformats.org/drawingml/2006/main">
            <a:off x="7734300" y="190500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1</a:t>
            </a:r>
          </a:p>
        </p:txBody>
      </p:sp>
      <p:sp>
        <p:nvSpPr>
          <p:cNvPr id="17" name="s6-narrow-label">
            <a:extLst xmlns:a="http://schemas.openxmlformats.org/drawingml/2006/main">
              <a:ext uri="{FF2B5EF4-FFF2-40B4-BE49-F238E27FC236}">
                <a16:creationId xmlns:a16="http://schemas.microsoft.com/office/drawing/2014/main" id="{CA6FF6C8-8BA3-4AF2-84F3-3CF7725E999B}"/>
              </a:ext>
            </a:extLst>
          </p:cNvPr>
          <p:cNvSpPr>
            <a:spLocks xmlns:a="http://schemas.openxmlformats.org/drawingml/2006/main" noGrp="1"/>
          </p:cNvSpPr>
          <p:nvPr/>
        </p:nvSpPr>
        <p:spPr>
          <a:xfrm xmlns:a="http://schemas.openxmlformats.org/drawingml/2006/main">
            <a:off x="7734300" y="24384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unsafe output blocked</a:t>
            </a:r>
          </a:p>
        </p:txBody>
      </p:sp>
      <p:sp>
        <p:nvSpPr>
          <p:cNvPr id="18" name="s6-narrow-note">
            <a:extLst xmlns:a="http://schemas.openxmlformats.org/drawingml/2006/main">
              <a:ext uri="{FF2B5EF4-FFF2-40B4-BE49-F238E27FC236}">
                <a16:creationId xmlns:a16="http://schemas.microsoft.com/office/drawing/2014/main" id="{CF1FE09A-18E6-45F8-A148-97159F3C06CE}"/>
              </a:ext>
            </a:extLst>
          </p:cNvPr>
          <p:cNvSpPr>
            <a:spLocks xmlns:a="http://schemas.openxmlformats.org/drawingml/2006/main" noGrp="1"/>
          </p:cNvSpPr>
          <p:nvPr/>
        </p:nvSpPr>
        <p:spPr>
          <a:xfrm xmlns:a="http://schemas.openxmlformats.org/drawingml/2006/main">
            <a:off x="7734300" y="2762250"/>
            <a:ext cx="276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Claim compiler rejected before publication; fallback retained</a:t>
            </a:r>
          </a:p>
        </p:txBody>
      </p:sp>
      <p:sp>
        <p:nvSpPr>
          <p:cNvPr id="19" name="s6-design">
            <a:extLst xmlns:a="http://schemas.openxmlformats.org/drawingml/2006/main">
              <a:ext uri="{FF2B5EF4-FFF2-40B4-BE49-F238E27FC236}">
                <a16:creationId xmlns:a16="http://schemas.microsoft.com/office/drawing/2014/main" id="{05957727-0C06-4368-99B5-D111F33B9C04}"/>
              </a:ext>
            </a:extLst>
          </p:cNvPr>
          <p:cNvSpPr>
            <a:spLocks xmlns:a="http://schemas.openxmlformats.org/drawingml/2006/main" noGrp="1"/>
          </p:cNvSpPr>
          <p:nvPr/>
        </p:nvSpPr>
        <p:spPr>
          <a:xfrm xmlns:a="http://schemas.openxmlformats.org/drawingml/2006/main">
            <a:off x="609600" y="3714750"/>
            <a:ext cx="6572250" cy="2105025"/>
          </a:xfrm>
          <a:prstGeom xmlns:a="http://schemas.openxmlformats.org/drawingml/2006/main" prst="rect">
            <a:avLst/>
          </a:prstGeom>
          <a:solidFill xmlns:a="http://schemas.openxmlformats.org/drawingml/2006/main">
            <a:srgbClr val="EAF3FF"/>
          </a:solidFill>
          <a:ln xmlns:a="http://schemas.openxmlformats.org/drawingml/2006/main" w="0">
            <a:noFill/>
            <a:prstDash val="solid"/>
          </a:ln>
        </p:spPr>
      </p:sp>
      <p:sp>
        <p:nvSpPr>
          <p:cNvPr id="20" name="s6-design-label">
            <a:extLst xmlns:a="http://schemas.openxmlformats.org/drawingml/2006/main">
              <a:ext uri="{FF2B5EF4-FFF2-40B4-BE49-F238E27FC236}">
                <a16:creationId xmlns:a16="http://schemas.microsoft.com/office/drawing/2014/main" id="{CA532B02-9A0D-4D07-842C-6B95D8A78283}"/>
              </a:ext>
            </a:extLst>
          </p:cNvPr>
          <p:cNvSpPr>
            <a:spLocks xmlns:a="http://schemas.openxmlformats.org/drawingml/2006/main" noGrp="1"/>
          </p:cNvSpPr>
          <p:nvPr/>
        </p:nvSpPr>
        <p:spPr>
          <a:xfrm xmlns:a="http://schemas.openxmlformats.org/drawingml/2006/main">
            <a:off x="857250" y="39624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B63E5"/>
                </a:solidFill>
                <a:latin typeface="Arial"/>
                <a:ea typeface="Arial"/>
                <a:cs typeface="Arial"/>
              </a:defRPr>
            </a:pPr>
            <a:r>
              <a:rPr sz="975" b="1">
                <a:solidFill>
                  <a:srgbClr val="0B63E5"/>
                </a:solidFill>
                <a:latin typeface="Arial"/>
                <a:ea typeface="Arial"/>
                <a:cs typeface="Arial"/>
              </a:rPr>
              <a:t>CONTROLLED WORKFLOW</a:t>
            </a:r>
          </a:p>
        </p:txBody>
      </p:sp>
      <p:sp>
        <p:nvSpPr>
          <p:cNvPr id="21" name="s6-dot-0">
            <a:extLst xmlns:a="http://schemas.openxmlformats.org/drawingml/2006/main">
              <a:ext uri="{FF2B5EF4-FFF2-40B4-BE49-F238E27FC236}">
                <a16:creationId xmlns:a16="http://schemas.microsoft.com/office/drawing/2014/main" id="{537F89AB-AE82-4A47-9F9F-0FD915B21346}"/>
              </a:ext>
            </a:extLst>
          </p:cNvPr>
          <p:cNvSpPr>
            <a:spLocks xmlns:a="http://schemas.openxmlformats.org/drawingml/2006/main" noGrp="1"/>
          </p:cNvSpPr>
          <p:nvPr/>
        </p:nvSpPr>
        <p:spPr>
          <a:xfrm xmlns:a="http://schemas.openxmlformats.org/drawingml/2006/main">
            <a:off x="876300" y="4371975"/>
            <a:ext cx="95250" cy="95250"/>
          </a:xfrm>
          <a:prstGeom xmlns:a="http://schemas.openxmlformats.org/drawingml/2006/main" prst="roundRect">
            <a:avLst>
              <a:gd name="adj" fmla="val 50000"/>
            </a:avLst>
          </a:prstGeom>
          <a:solidFill xmlns:a="http://schemas.openxmlformats.org/drawingml/2006/main">
            <a:srgbClr val="008B83"/>
          </a:solidFill>
          <a:ln xmlns:a="http://schemas.openxmlformats.org/drawingml/2006/main" w="0">
            <a:noFill/>
            <a:prstDash val="solid"/>
          </a:ln>
        </p:spPr>
      </p:sp>
      <p:sp>
        <p:nvSpPr>
          <p:cNvPr id="22" name="s6-line-0">
            <a:extLst xmlns:a="http://schemas.openxmlformats.org/drawingml/2006/main">
              <a:ext uri="{FF2B5EF4-FFF2-40B4-BE49-F238E27FC236}">
                <a16:creationId xmlns:a16="http://schemas.microsoft.com/office/drawing/2014/main" id="{2581C3A7-0531-43CF-974C-F3F21A25448D}"/>
              </a:ext>
            </a:extLst>
          </p:cNvPr>
          <p:cNvSpPr>
            <a:spLocks xmlns:a="http://schemas.openxmlformats.org/drawingml/2006/main" noGrp="1"/>
          </p:cNvSpPr>
          <p:nvPr/>
        </p:nvSpPr>
        <p:spPr>
          <a:xfrm xmlns:a="http://schemas.openxmlformats.org/drawingml/2006/main">
            <a:off x="1143000" y="43053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buNone/>
              <a:defRPr sz="1275" b="0">
                <a:solidFill>
                  <a:srgbClr val="0C1728"/>
                </a:solidFill>
                <a:latin typeface="Arial"/>
                <a:ea typeface="Arial"/>
                <a:cs typeface="Arial"/>
              </a:defRPr>
            </a:pPr>
            <a:r>
              <a:rPr sz="1275" b="0">
                <a:solidFill>
                  <a:srgbClr val="0C1728"/>
                </a:solidFill>
                <a:latin typeface="Arial"/>
                <a:ea typeface="Arial"/>
                <a:cs typeface="Arial"/>
              </a:rPr>
              <a:t>BHP · OpenAI gpt-5.6-sol · accepted</a:t>
            </a:r>
          </a:p>
        </p:txBody>
      </p:sp>
      <p:sp>
        <p:nvSpPr>
          <p:cNvPr id="23" name="s6-dot-1">
            <a:extLst xmlns:a="http://schemas.openxmlformats.org/drawingml/2006/main">
              <a:ext uri="{FF2B5EF4-FFF2-40B4-BE49-F238E27FC236}">
                <a16:creationId xmlns:a16="http://schemas.microsoft.com/office/drawing/2014/main" id="{5221E02D-0ED5-4687-9C3B-B55C79DBBBCB}"/>
              </a:ext>
            </a:extLst>
          </p:cNvPr>
          <p:cNvSpPr>
            <a:spLocks xmlns:a="http://schemas.openxmlformats.org/drawingml/2006/main" noGrp="1"/>
          </p:cNvSpPr>
          <p:nvPr/>
        </p:nvSpPr>
        <p:spPr>
          <a:xfrm xmlns:a="http://schemas.openxmlformats.org/drawingml/2006/main">
            <a:off x="876300" y="4695825"/>
            <a:ext cx="95250" cy="95250"/>
          </a:xfrm>
          <a:prstGeom xmlns:a="http://schemas.openxmlformats.org/drawingml/2006/main" prst="roundRect">
            <a:avLst>
              <a:gd name="adj" fmla="val 50000"/>
            </a:avLst>
          </a:prstGeom>
          <a:solidFill xmlns:a="http://schemas.openxmlformats.org/drawingml/2006/main">
            <a:srgbClr val="008B83"/>
          </a:solidFill>
          <a:ln xmlns:a="http://schemas.openxmlformats.org/drawingml/2006/main" w="0">
            <a:noFill/>
            <a:prstDash val="solid"/>
          </a:ln>
        </p:spPr>
      </p:sp>
      <p:sp>
        <p:nvSpPr>
          <p:cNvPr id="24" name="s6-line-1">
            <a:extLst xmlns:a="http://schemas.openxmlformats.org/drawingml/2006/main">
              <a:ext uri="{FF2B5EF4-FFF2-40B4-BE49-F238E27FC236}">
                <a16:creationId xmlns:a16="http://schemas.microsoft.com/office/drawing/2014/main" id="{67DA7D36-1D01-4F90-A892-185D0DA36C77}"/>
              </a:ext>
            </a:extLst>
          </p:cNvPr>
          <p:cNvSpPr>
            <a:spLocks xmlns:a="http://schemas.openxmlformats.org/drawingml/2006/main" noGrp="1"/>
          </p:cNvSpPr>
          <p:nvPr/>
        </p:nvSpPr>
        <p:spPr>
          <a:xfrm xmlns:a="http://schemas.openxmlformats.org/drawingml/2006/main">
            <a:off x="1143000" y="46291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buNone/>
              <a:defRPr sz="1275" b="0">
                <a:solidFill>
                  <a:srgbClr val="0C1728"/>
                </a:solidFill>
                <a:latin typeface="Arial"/>
                <a:ea typeface="Arial"/>
                <a:cs typeface="Arial"/>
              </a:defRPr>
            </a:pPr>
            <a:r>
              <a:rPr sz="1275" b="0">
                <a:solidFill>
                  <a:srgbClr val="0C1728"/>
                </a:solidFill>
                <a:latin typeface="Arial"/>
                <a:ea typeface="Arial"/>
                <a:cs typeface="Arial"/>
              </a:rPr>
              <a:t>Glencore · Anthropic claude-sonnet-5 · accepted</a:t>
            </a:r>
          </a:p>
        </p:txBody>
      </p:sp>
      <p:sp>
        <p:nvSpPr>
          <p:cNvPr id="25" name="s6-dot-2">
            <a:extLst xmlns:a="http://schemas.openxmlformats.org/drawingml/2006/main">
              <a:ext uri="{FF2B5EF4-FFF2-40B4-BE49-F238E27FC236}">
                <a16:creationId xmlns:a16="http://schemas.microsoft.com/office/drawing/2014/main" id="{FC042356-81D3-4737-B434-7C233A633E82}"/>
              </a:ext>
            </a:extLst>
          </p:cNvPr>
          <p:cNvSpPr>
            <a:spLocks xmlns:a="http://schemas.openxmlformats.org/drawingml/2006/main" noGrp="1"/>
          </p:cNvSpPr>
          <p:nvPr/>
        </p:nvSpPr>
        <p:spPr>
          <a:xfrm xmlns:a="http://schemas.openxmlformats.org/drawingml/2006/main">
            <a:off x="876300" y="5019675"/>
            <a:ext cx="95250" cy="95250"/>
          </a:xfrm>
          <a:prstGeom xmlns:a="http://schemas.openxmlformats.org/drawingml/2006/main" prst="roundRect">
            <a:avLst>
              <a:gd name="adj" fmla="val 50000"/>
            </a:avLst>
          </a:prstGeom>
          <a:solidFill xmlns:a="http://schemas.openxmlformats.org/drawingml/2006/main">
            <a:srgbClr val="008B83"/>
          </a:solidFill>
          <a:ln xmlns:a="http://schemas.openxmlformats.org/drawingml/2006/main" w="0">
            <a:noFill/>
            <a:prstDash val="solid"/>
          </a:ln>
        </p:spPr>
      </p:sp>
      <p:sp>
        <p:nvSpPr>
          <p:cNvPr id="26" name="s6-line-2">
            <a:extLst xmlns:a="http://schemas.openxmlformats.org/drawingml/2006/main">
              <a:ext uri="{FF2B5EF4-FFF2-40B4-BE49-F238E27FC236}">
                <a16:creationId xmlns:a16="http://schemas.microsoft.com/office/drawing/2014/main" id="{980DA0C8-15A2-4C08-81BD-D3C1761C3BC4}"/>
              </a:ext>
            </a:extLst>
          </p:cNvPr>
          <p:cNvSpPr>
            <a:spLocks xmlns:a="http://schemas.openxmlformats.org/drawingml/2006/main" noGrp="1"/>
          </p:cNvSpPr>
          <p:nvPr/>
        </p:nvSpPr>
        <p:spPr>
          <a:xfrm xmlns:a="http://schemas.openxmlformats.org/drawingml/2006/main">
            <a:off x="1143000" y="495300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buNone/>
              <a:defRPr sz="1275" b="0">
                <a:solidFill>
                  <a:srgbClr val="0C1728"/>
                </a:solidFill>
                <a:latin typeface="Arial"/>
                <a:ea typeface="Arial"/>
                <a:cs typeface="Arial"/>
              </a:defRPr>
            </a:pPr>
            <a:r>
              <a:rPr sz="1275" b="0">
                <a:solidFill>
                  <a:srgbClr val="0C1728"/>
                </a:solidFill>
                <a:latin typeface="Arial"/>
                <a:ea typeface="Arial"/>
                <a:cs typeface="Arial"/>
              </a:rPr>
              <a:t>Shoprite · Google gemini-3.6-flash · accepted</a:t>
            </a:r>
          </a:p>
        </p:txBody>
      </p:sp>
      <p:sp>
        <p:nvSpPr>
          <p:cNvPr id="27" name="s6-dot-3">
            <a:extLst xmlns:a="http://schemas.openxmlformats.org/drawingml/2006/main">
              <a:ext uri="{FF2B5EF4-FFF2-40B4-BE49-F238E27FC236}">
                <a16:creationId xmlns:a16="http://schemas.microsoft.com/office/drawing/2014/main" id="{CA00842C-D9A8-40D5-86DF-87BCE6B01143}"/>
              </a:ext>
            </a:extLst>
          </p:cNvPr>
          <p:cNvSpPr>
            <a:spLocks xmlns:a="http://schemas.openxmlformats.org/drawingml/2006/main" noGrp="1"/>
          </p:cNvSpPr>
          <p:nvPr/>
        </p:nvSpPr>
        <p:spPr>
          <a:xfrm xmlns:a="http://schemas.openxmlformats.org/drawingml/2006/main">
            <a:off x="876300" y="5343525"/>
            <a:ext cx="95250" cy="95250"/>
          </a:xfrm>
          <a:prstGeom xmlns:a="http://schemas.openxmlformats.org/drawingml/2006/main" prst="roundRect">
            <a:avLst>
              <a:gd name="adj" fmla="val 50000"/>
            </a:avLst>
          </a:prstGeom>
          <a:solidFill xmlns:a="http://schemas.openxmlformats.org/drawingml/2006/main">
            <a:srgbClr val="008B83"/>
          </a:solidFill>
          <a:ln xmlns:a="http://schemas.openxmlformats.org/drawingml/2006/main" w="0">
            <a:noFill/>
            <a:prstDash val="solid"/>
          </a:ln>
        </p:spPr>
      </p:sp>
      <p:sp>
        <p:nvSpPr>
          <p:cNvPr id="28" name="s6-line-3">
            <a:extLst xmlns:a="http://schemas.openxmlformats.org/drawingml/2006/main">
              <a:ext uri="{FF2B5EF4-FFF2-40B4-BE49-F238E27FC236}">
                <a16:creationId xmlns:a16="http://schemas.microsoft.com/office/drawing/2014/main" id="{D49635A1-4E27-4414-AA52-B8741A125B4D}"/>
              </a:ext>
            </a:extLst>
          </p:cNvPr>
          <p:cNvSpPr>
            <a:spLocks xmlns:a="http://schemas.openxmlformats.org/drawingml/2006/main" noGrp="1"/>
          </p:cNvSpPr>
          <p:nvPr/>
        </p:nvSpPr>
        <p:spPr>
          <a:xfrm xmlns:a="http://schemas.openxmlformats.org/drawingml/2006/main">
            <a:off x="1143000" y="5276850"/>
            <a:ext cx="571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392"/>
          </a:bodyPr>
          <a:lstStyle xmlns:a="http://schemas.openxmlformats.org/drawingml/2006/main"/>
          <a:p xmlns:a="http://schemas.openxmlformats.org/drawingml/2006/main">
            <a:pPr algn="l">
              <a:buNone/>
              <a:defRPr sz="1275" b="0">
                <a:solidFill>
                  <a:srgbClr val="0C1728"/>
                </a:solidFill>
                <a:latin typeface="Arial"/>
                <a:ea typeface="Arial"/>
                <a:cs typeface="Arial"/>
              </a:defRPr>
            </a:pPr>
            <a:r>
              <a:rPr sz="1275" b="0">
                <a:solidFill>
                  <a:srgbClr val="0C1728"/>
                </a:solidFill>
                <a:latin typeface="Arial"/>
                <a:ea typeface="Arial"/>
                <a:cs typeface="Arial"/>
              </a:rPr>
              <a:t>One Anthropic/BHP output blocked; deterministic fallback retained</a:t>
            </a:r>
          </a:p>
        </p:txBody>
      </p:sp>
      <p:sp>
        <p:nvSpPr>
          <p:cNvPr id="29" name="s6-boundary">
            <a:extLst xmlns:a="http://schemas.openxmlformats.org/drawingml/2006/main">
              <a:ext uri="{FF2B5EF4-FFF2-40B4-BE49-F238E27FC236}">
                <a16:creationId xmlns:a16="http://schemas.microsoft.com/office/drawing/2014/main" id="{3AD1566D-AF29-4339-A7D7-83E118845CF7}"/>
              </a:ext>
            </a:extLst>
          </p:cNvPr>
          <p:cNvSpPr>
            <a:spLocks xmlns:a="http://schemas.openxmlformats.org/drawingml/2006/main" noGrp="1"/>
          </p:cNvSpPr>
          <p:nvPr/>
        </p:nvSpPr>
        <p:spPr>
          <a:xfrm xmlns:a="http://schemas.openxmlformats.org/drawingml/2006/main">
            <a:off x="7524750" y="3714750"/>
            <a:ext cx="3771900" cy="2105025"/>
          </a:xfrm>
          <a:prstGeom xmlns:a="http://schemas.openxmlformats.org/drawingml/2006/main" prst="rect">
            <a:avLst/>
          </a:prstGeom>
          <a:solidFill xmlns:a="http://schemas.openxmlformats.org/drawingml/2006/main">
            <a:srgbClr val="FFF4DF"/>
          </a:solidFill>
          <a:ln xmlns:a="http://schemas.openxmlformats.org/drawingml/2006/main" w="0">
            <a:noFill/>
            <a:prstDash val="solid"/>
          </a:ln>
        </p:spPr>
      </p:sp>
      <p:sp>
        <p:nvSpPr>
          <p:cNvPr id="30" name="s6-boundary-label">
            <a:extLst xmlns:a="http://schemas.openxmlformats.org/drawingml/2006/main">
              <a:ext uri="{FF2B5EF4-FFF2-40B4-BE49-F238E27FC236}">
                <a16:creationId xmlns:a16="http://schemas.microsoft.com/office/drawing/2014/main" id="{63C41553-A63B-47E9-92FE-3FFB3C02F0E1}"/>
              </a:ext>
            </a:extLst>
          </p:cNvPr>
          <p:cNvSpPr>
            <a:spLocks xmlns:a="http://schemas.openxmlformats.org/drawingml/2006/main" noGrp="1"/>
          </p:cNvSpPr>
          <p:nvPr/>
        </p:nvSpPr>
        <p:spPr>
          <a:xfrm xmlns:a="http://schemas.openxmlformats.org/drawingml/2006/main">
            <a:off x="7772400" y="39624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E2951C"/>
                </a:solidFill>
                <a:latin typeface="Arial"/>
                <a:ea typeface="Arial"/>
                <a:cs typeface="Arial"/>
              </a:defRPr>
            </a:pPr>
            <a:r>
              <a:rPr sz="975" b="1">
                <a:solidFill>
                  <a:srgbClr val="E2951C"/>
                </a:solidFill>
                <a:latin typeface="Arial"/>
                <a:ea typeface="Arial"/>
                <a:cs typeface="Arial"/>
              </a:rPr>
              <a:t>CLAIM BOUNDARY</a:t>
            </a:r>
          </a:p>
        </p:txBody>
      </p:sp>
      <p:sp>
        <p:nvSpPr>
          <p:cNvPr id="31" name="s6-boundary-title">
            <a:extLst xmlns:a="http://schemas.openxmlformats.org/drawingml/2006/main">
              <a:ext uri="{FF2B5EF4-FFF2-40B4-BE49-F238E27FC236}">
                <a16:creationId xmlns:a16="http://schemas.microsoft.com/office/drawing/2014/main" id="{673C5F22-BFDE-40D5-91A6-FB9E4116193E}"/>
              </a:ext>
            </a:extLst>
          </p:cNvPr>
          <p:cNvSpPr>
            <a:spLocks xmlns:a="http://schemas.openxmlformats.org/drawingml/2006/main" noGrp="1"/>
          </p:cNvSpPr>
          <p:nvPr/>
        </p:nvSpPr>
        <p:spPr>
          <a:xfrm xmlns:a="http://schemas.openxmlformats.org/drawingml/2006/main">
            <a:off x="7772400" y="4333875"/>
            <a:ext cx="3143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950" b="1">
                <a:solidFill>
                  <a:srgbClr val="0F1F33"/>
                </a:solidFill>
                <a:latin typeface="Arial"/>
                <a:ea typeface="Arial"/>
                <a:cs typeface="Arial"/>
              </a:defRPr>
            </a:pPr>
            <a:r>
              <a:rPr sz="1950" b="1">
                <a:solidFill>
                  <a:srgbClr val="0F1F33"/>
                </a:solidFill>
                <a:latin typeface="Arial"/>
                <a:ea typeface="Arial"/>
                <a:cs typeface="Arial"/>
              </a:rPr>
              <a:t>8 accepted;</a:t>
            </a:r>
          </a:p>
          <a:p xmlns:a="http://schemas.openxmlformats.org/drawingml/2006/main">
            <a:pPr algn="l">
              <a:buNone/>
              <a:defRPr sz="1950" b="1">
                <a:solidFill>
                  <a:srgbClr val="0F1F33"/>
                </a:solidFill>
                <a:latin typeface="Arial"/>
                <a:ea typeface="Arial"/>
                <a:cs typeface="Arial"/>
              </a:defRPr>
            </a:pPr>
            <a:r>
              <a:rPr sz="1950" b="1">
                <a:solidFill>
                  <a:srgbClr val="0F1F33"/>
                </a:solidFill>
                <a:latin typeface="Arial"/>
                <a:ea typeface="Arial"/>
                <a:cs typeface="Arial"/>
              </a:rPr>
              <a:t>one blocked safely</a:t>
            </a:r>
          </a:p>
        </p:txBody>
      </p:sp>
      <p:sp>
        <p:nvSpPr>
          <p:cNvPr id="32" name="s6-boundary-copy">
            <a:extLst xmlns:a="http://schemas.openxmlformats.org/drawingml/2006/main">
              <a:ext uri="{FF2B5EF4-FFF2-40B4-BE49-F238E27FC236}">
                <a16:creationId xmlns:a16="http://schemas.microsoft.com/office/drawing/2014/main" id="{19B5B1A7-8705-4956-9F44-0A179FAA3ED7}"/>
              </a:ext>
            </a:extLst>
          </p:cNvPr>
          <p:cNvSpPr>
            <a:spLocks xmlns:a="http://schemas.openxmlformats.org/drawingml/2006/main" noGrp="1"/>
          </p:cNvSpPr>
          <p:nvPr/>
        </p:nvSpPr>
        <p:spPr>
          <a:xfrm xmlns:a="http://schemas.openxmlformats.org/drawingml/2006/main">
            <a:off x="7772400" y="521970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p xmlns:a="http://schemas.openxmlformats.org/drawingml/2006/main">
            <a:pPr algn="l">
              <a:buNone/>
              <a:defRPr sz="1275" b="0">
                <a:solidFill>
                  <a:srgbClr val="627086"/>
                </a:solidFill>
                <a:latin typeface="Arial"/>
                <a:ea typeface="Arial"/>
                <a:cs typeface="Arial"/>
              </a:defRPr>
            </a:pPr>
            <a:r>
              <a:rPr sz="1275" b="0">
                <a:solidFill>
                  <a:srgbClr val="627086"/>
                </a:solidFill>
                <a:latin typeface="Arial"/>
                <a:ea typeface="Arial"/>
                <a:cs typeface="Arial"/>
              </a:rPr>
              <a:t>Every accepted output passed schema, number, sign, currency, citation, abstention and unsupported-claim checks. This is hackathon external-provider evaluation—not bank-authorized LIVE_GENAI.</a:t>
            </a:r>
          </a:p>
        </p:txBody>
      </p:sp>
    </p:spTree>
    <p:extLst>
      <p:ext uri="{BB962C8B-B14F-4D97-AF65-F5344CB8AC3E}">
        <p14:creationId xmlns:p14="http://schemas.microsoft.com/office/powerpoint/2010/main" val="63984162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7" name="eyebrow-8">
            <a:extLst xmlns:a="http://schemas.openxmlformats.org/drawingml/2006/main">
              <a:ext uri="{FF2B5EF4-FFF2-40B4-BE49-F238E27FC236}">
                <a16:creationId xmlns:a16="http://schemas.microsoft.com/office/drawing/2014/main" id="{E3BE7863-3C4B-40B2-924E-533958ED5CFB}"/>
              </a:ext>
            </a:extLst>
          </p:cNvPr>
          <p:cNvSpPr>
            <a:spLocks xmlns:a="http://schemas.openxmlformats.org/drawingml/2006/main" noGrp="1"/>
          </p:cNvSpPr>
          <p:nvPr/>
        </p:nvSpPr>
        <p:spPr>
          <a:xfrm xmlns:a="http://schemas.openxmlformats.org/drawingml/2006/main">
            <a:off x="609600" y="3238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l">
              <a:buNone/>
              <a:defRPr sz="975" b="1">
                <a:solidFill>
                  <a:srgbClr val="0B63E5"/>
                </a:solidFill>
                <a:latin typeface="Arial"/>
                <a:ea typeface="Arial"/>
                <a:cs typeface="Arial"/>
              </a:defRPr>
            </a:pPr>
            <a:r>
              <a:rPr sz="975" b="1">
                <a:solidFill>
                  <a:srgbClr val="0B63E5"/>
                </a:solidFill>
                <a:latin typeface="Arial"/>
                <a:ea typeface="Arial"/>
                <a:cs typeface="Arial"/>
              </a:rPr>
              <a:t>ANALYTICAL TRUST + PROMOTION BOUNDARY</a:t>
            </a:r>
          </a:p>
        </p:txBody>
      </p:sp>
      <p:sp>
        <p:nvSpPr>
          <p:cNvPr id="2" name="title-8">
            <a:extLst xmlns:a="http://schemas.openxmlformats.org/drawingml/2006/main">
              <a:ext uri="{FF2B5EF4-FFF2-40B4-BE49-F238E27FC236}">
                <a16:creationId xmlns:a16="http://schemas.microsoft.com/office/drawing/2014/main" id="{1E78FC11-1660-4D85-A710-4FE57F3E30E9}"/>
              </a:ext>
            </a:extLst>
          </p:cNvPr>
          <p:cNvSpPr>
            <a:spLocks xmlns:a="http://schemas.openxmlformats.org/drawingml/2006/main" noGrp="1"/>
          </p:cNvSpPr>
          <p:nvPr/>
        </p:nvSpPr>
        <p:spPr>
          <a:xfrm xmlns:a="http://schemas.openxmlformats.org/drawingml/2006/main">
            <a:off x="609600" y="657225"/>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p xmlns:a="http://schemas.openxmlformats.org/drawingml/2006/main">
            <a:pPr algn="l">
              <a:buNone/>
              <a:defRPr sz="3150" b="1">
                <a:solidFill>
                  <a:srgbClr val="0C1728"/>
                </a:solidFill>
                <a:latin typeface="Arial"/>
                <a:ea typeface="Arial"/>
                <a:cs typeface="Arial"/>
              </a:defRPr>
            </a:pPr>
            <a:r>
              <a:rPr sz="3150" b="1">
                <a:solidFill>
                  <a:srgbClr val="0C1728"/>
                </a:solidFill>
                <a:latin typeface="Arial"/>
                <a:ea typeface="Arial"/>
                <a:cs typeface="Arial"/>
              </a:rPr>
              <a:t>Trade Finance stays first; the portfolio mix still moves</a:t>
            </a:r>
          </a:p>
        </p:txBody>
      </p:sp>
      <p:cxnSp>
        <p:nvCxnSpPr>
          <p:cNvPr id="178" name="title-rule-8"/>
          <p:cNvCxnSpPr/>
          <p:nvPr/>
        </p:nvCxnSpPr>
        <p:spPr>
          <a:xfrm xmlns:a="http://schemas.openxmlformats.org/drawingml/2006/main">
            <a:off x="609600" y="1381125"/>
            <a:ext cx="10972800" cy="0"/>
          </a:xfrm>
          <a:prstGeom xmlns:a="http://schemas.openxmlformats.org/drawingml/2006/main" prst="straightConnector1">
            <a:avLst/>
          </a:prstGeom>
          <a:ln xmlns:a="http://schemas.openxmlformats.org/drawingml/2006/main" w="9525">
            <a:solidFill>
              <a:srgbClr val="D7DEE8"/>
            </a:solidFill>
            <a:prstDash val="solid"/>
          </a:ln>
        </p:spPr>
      </p:cxnSp>
      <p:sp>
        <p:nvSpPr>
          <p:cNvPr id="4" name="footer-team-8">
            <a:extLst xmlns:a="http://schemas.openxmlformats.org/drawingml/2006/main">
              <a:ext uri="{FF2B5EF4-FFF2-40B4-BE49-F238E27FC236}">
                <a16:creationId xmlns:a16="http://schemas.microsoft.com/office/drawing/2014/main" id="{BBEA1D29-F9FB-423D-A9B0-AD48D74E630D}"/>
              </a:ext>
            </a:extLst>
          </p:cNvPr>
          <p:cNvSpPr>
            <a:spLocks xmlns:a="http://schemas.openxmlformats.org/drawingml/2006/main" noGrp="1"/>
          </p:cNvSpPr>
          <p:nvPr/>
        </p:nvSpPr>
        <p:spPr>
          <a:xfrm xmlns:a="http://schemas.openxmlformats.org/drawingml/2006/main">
            <a:off x="609600" y="6486525"/>
            <a:ext cx="685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627086"/>
                </a:solidFill>
                <a:latin typeface="Arial"/>
                <a:ea typeface="Arial"/>
                <a:cs typeface="Arial"/>
              </a:defRPr>
            </a:pPr>
            <a:r>
              <a:rPr sz="825" b="1">
                <a:solidFill>
                  <a:srgbClr val="627086"/>
                </a:solidFill>
                <a:latin typeface="Arial"/>
                <a:ea typeface="Arial"/>
                <a:cs typeface="Arial"/>
              </a:rPr>
              <a:t>TEAM: Corporate Wallet Digital Twin | Christopher Koen | V3.2.0</a:t>
            </a:r>
          </a:p>
        </p:txBody>
      </p:sp>
      <p:sp>
        <p:nvSpPr>
          <p:cNvPr id="5" name="footer-data-8">
            <a:extLst xmlns:a="http://schemas.openxmlformats.org/drawingml/2006/main">
              <a:ext uri="{FF2B5EF4-FFF2-40B4-BE49-F238E27FC236}">
                <a16:creationId xmlns:a16="http://schemas.microsoft.com/office/drawing/2014/main" id="{0538EE51-4AB2-4E49-9787-5A672474BEEF}"/>
              </a:ext>
            </a:extLst>
          </p:cNvPr>
          <p:cNvSpPr>
            <a:spLocks xmlns:a="http://schemas.openxmlformats.org/drawingml/2006/main" noGrp="1"/>
          </p:cNvSpPr>
          <p:nvPr/>
        </p:nvSpPr>
        <p:spPr>
          <a:xfrm xmlns:a="http://schemas.openxmlformats.org/drawingml/2006/main">
            <a:off x="7486650" y="64865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r">
              <a:buNone/>
              <a:defRPr sz="750" b="1">
                <a:solidFill>
                  <a:srgbClr val="627086"/>
                </a:solidFill>
                <a:latin typeface="Arial"/>
                <a:ea typeface="Arial"/>
                <a:cs typeface="Arial"/>
              </a:defRPr>
            </a:pPr>
            <a:r>
              <a:rPr sz="750" b="1">
                <a:solidFill>
                  <a:srgbClr val="627086"/>
                </a:solidFill>
                <a:latin typeface="Arial"/>
                <a:ea typeface="Arial"/>
                <a:cs typeface="Arial"/>
              </a:rPr>
              <a:t>CONFIDENTIAL SYN BANK ACTIVITY + APPROVED PUBLIC E1 + GOVERNED PRIORS</a:t>
            </a:r>
          </a:p>
        </p:txBody>
      </p:sp>
      <p:sp>
        <p:nvSpPr>
          <p:cNvPr id="6" name="footer-page-8">
            <a:extLst xmlns:a="http://schemas.openxmlformats.org/drawingml/2006/main">
              <a:ext uri="{FF2B5EF4-FFF2-40B4-BE49-F238E27FC236}">
                <a16:creationId xmlns:a16="http://schemas.microsoft.com/office/drawing/2014/main" id="{00BAC427-4164-4DAB-808C-918E249A0DD9}"/>
              </a:ext>
            </a:extLst>
          </p:cNvPr>
          <p:cNvSpPr>
            <a:spLocks xmlns:a="http://schemas.openxmlformats.org/drawingml/2006/main" noGrp="1"/>
          </p:cNvSpPr>
          <p:nvPr/>
        </p:nvSpPr>
        <p:spPr>
          <a:xfrm xmlns:a="http://schemas.openxmlformats.org/drawingml/2006/main">
            <a:off x="11287125" y="6486525"/>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r">
              <a:buNone/>
              <a:defRPr sz="825" b="1">
                <a:solidFill>
                  <a:srgbClr val="627086"/>
                </a:solidFill>
                <a:latin typeface="Arial"/>
                <a:ea typeface="Arial"/>
                <a:cs typeface="Arial"/>
              </a:defRPr>
            </a:pPr>
            <a:r>
              <a:rPr sz="825" b="1">
                <a:solidFill>
                  <a:srgbClr val="627086"/>
                </a:solidFill>
                <a:latin typeface="Arial"/>
                <a:ea typeface="Arial"/>
                <a:cs typeface="Arial"/>
              </a:rPr>
              <a:t>09</a:t>
            </a:r>
          </a:p>
        </p:txBody>
      </p:sp>
      <p:cxnSp>
        <p:nvCxnSpPr>
          <p:cNvPr id="182" name="s8-link-0"/>
          <p:cNvCxnSpPr/>
          <p:nvPr/>
        </p:nvCxnSpPr>
        <p:spPr>
          <a:xfrm xmlns:a="http://schemas.openxmlformats.org/drawingml/2006/main">
            <a:off x="1733550" y="2905125"/>
            <a:ext cx="885825" cy="0"/>
          </a:xfrm>
          <a:prstGeom xmlns:a="http://schemas.openxmlformats.org/drawingml/2006/main" prst="straightConnector1">
            <a:avLst/>
          </a:prstGeom>
          <a:ln xmlns:a="http://schemas.openxmlformats.org/drawingml/2006/main" w="28575">
            <a:solidFill>
              <a:srgbClr val="D7DEE8"/>
            </a:solidFill>
            <a:prstDash val="solid"/>
          </a:ln>
        </p:spPr>
      </p:cxnSp>
      <p:cxnSp>
        <p:nvCxnSpPr>
          <p:cNvPr id="183" name="s8-link-1"/>
          <p:cNvCxnSpPr/>
          <p:nvPr/>
        </p:nvCxnSpPr>
        <p:spPr>
          <a:xfrm xmlns:a="http://schemas.openxmlformats.org/drawingml/2006/main">
            <a:off x="3876675" y="2905125"/>
            <a:ext cx="885825" cy="0"/>
          </a:xfrm>
          <a:prstGeom xmlns:a="http://schemas.openxmlformats.org/drawingml/2006/main" prst="straightConnector1">
            <a:avLst/>
          </a:prstGeom>
          <a:ln xmlns:a="http://schemas.openxmlformats.org/drawingml/2006/main" w="28575">
            <a:solidFill>
              <a:srgbClr val="D7DEE8"/>
            </a:solidFill>
            <a:prstDash val="solid"/>
          </a:ln>
        </p:spPr>
      </p:cxnSp>
      <p:cxnSp>
        <p:nvCxnSpPr>
          <p:cNvPr id="184" name="s8-link-2"/>
          <p:cNvCxnSpPr/>
          <p:nvPr/>
        </p:nvCxnSpPr>
        <p:spPr>
          <a:xfrm xmlns:a="http://schemas.openxmlformats.org/drawingml/2006/main">
            <a:off x="6019800" y="2905125"/>
            <a:ext cx="885825" cy="0"/>
          </a:xfrm>
          <a:prstGeom xmlns:a="http://schemas.openxmlformats.org/drawingml/2006/main" prst="straightConnector1">
            <a:avLst/>
          </a:prstGeom>
          <a:ln xmlns:a="http://schemas.openxmlformats.org/drawingml/2006/main" w="28575">
            <a:solidFill>
              <a:srgbClr val="D7DEE8"/>
            </a:solidFill>
            <a:prstDash val="solid"/>
          </a:ln>
        </p:spPr>
      </p:cxnSp>
      <p:cxnSp>
        <p:nvCxnSpPr>
          <p:cNvPr id="185" name="s8-link-3"/>
          <p:cNvCxnSpPr/>
          <p:nvPr/>
        </p:nvCxnSpPr>
        <p:spPr>
          <a:xfrm xmlns:a="http://schemas.openxmlformats.org/drawingml/2006/main">
            <a:off x="8162925" y="2905125"/>
            <a:ext cx="885825" cy="0"/>
          </a:xfrm>
          <a:prstGeom xmlns:a="http://schemas.openxmlformats.org/drawingml/2006/main" prst="straightConnector1">
            <a:avLst/>
          </a:prstGeom>
          <a:ln xmlns:a="http://schemas.openxmlformats.org/drawingml/2006/main" w="28575">
            <a:solidFill>
              <a:srgbClr val="D7DEE8"/>
            </a:solidFill>
            <a:prstDash val="solid"/>
          </a:ln>
        </p:spPr>
      </p:cxnSp>
      <p:sp>
        <p:nvSpPr>
          <p:cNvPr id="11" name="s8-stage-0">
            <a:extLst xmlns:a="http://schemas.openxmlformats.org/drawingml/2006/main">
              <a:ext uri="{FF2B5EF4-FFF2-40B4-BE49-F238E27FC236}">
                <a16:creationId xmlns:a16="http://schemas.microsoft.com/office/drawing/2014/main" id="{B416DE64-DD74-44D4-9BC7-CBFD683FF0F6}"/>
              </a:ext>
            </a:extLst>
          </p:cNvPr>
          <p:cNvSpPr>
            <a:spLocks xmlns:a="http://schemas.openxmlformats.org/drawingml/2006/main" noGrp="1"/>
          </p:cNvSpPr>
          <p:nvPr/>
        </p:nvSpPr>
        <p:spPr>
          <a:xfrm xmlns:a="http://schemas.openxmlformats.org/drawingml/2006/main">
            <a:off x="609600" y="2076450"/>
            <a:ext cx="1809750" cy="1666875"/>
          </a:xfrm>
          <a:prstGeom xmlns:a="http://schemas.openxmlformats.org/drawingml/2006/main" prst="roundRect">
            <a:avLst>
              <a:gd name="adj" fmla="val 4571"/>
            </a:avLst>
          </a:prstGeom>
          <a:solidFill xmlns:a="http://schemas.openxmlformats.org/drawingml/2006/main">
            <a:srgbClr val="EAF3FF"/>
          </a:solidFill>
          <a:ln xmlns:a="http://schemas.openxmlformats.org/drawingml/2006/main" w="9525">
            <a:solidFill>
              <a:srgbClr val="D7DEE8"/>
            </a:solidFill>
            <a:prstDash val="solid"/>
          </a:ln>
        </p:spPr>
      </p:sp>
      <p:sp>
        <p:nvSpPr>
          <p:cNvPr id="12" name="s8-num-0">
            <a:extLst xmlns:a="http://schemas.openxmlformats.org/drawingml/2006/main">
              <a:ext uri="{FF2B5EF4-FFF2-40B4-BE49-F238E27FC236}">
                <a16:creationId xmlns:a16="http://schemas.microsoft.com/office/drawing/2014/main" id="{6C194FCB-9502-4B35-B4DF-7A85F277E192}"/>
              </a:ext>
            </a:extLst>
          </p:cNvPr>
          <p:cNvSpPr>
            <a:spLocks xmlns:a="http://schemas.openxmlformats.org/drawingml/2006/main" noGrp="1"/>
          </p:cNvSpPr>
          <p:nvPr/>
        </p:nvSpPr>
        <p:spPr>
          <a:xfrm xmlns:a="http://schemas.openxmlformats.org/drawingml/2006/main">
            <a:off x="762000" y="22669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buNone/>
              <a:defRPr sz="1650" b="1">
                <a:solidFill>
                  <a:srgbClr val="0B63E5"/>
                </a:solidFill>
                <a:latin typeface="Arial"/>
                <a:ea typeface="Arial"/>
                <a:cs typeface="Arial"/>
              </a:defRPr>
            </a:pPr>
            <a:r>
              <a:rPr sz="1650" b="1">
                <a:solidFill>
                  <a:srgbClr val="0B63E5"/>
                </a:solidFill>
                <a:latin typeface="Arial"/>
                <a:ea typeface="Arial"/>
                <a:cs typeface="Arial"/>
              </a:rPr>
              <a:t>1</a:t>
            </a:r>
          </a:p>
        </p:txBody>
      </p:sp>
      <p:sp>
        <p:nvSpPr>
          <p:cNvPr id="13" name="s8-title-0">
            <a:extLst xmlns:a="http://schemas.openxmlformats.org/drawingml/2006/main">
              <a:ext uri="{FF2B5EF4-FFF2-40B4-BE49-F238E27FC236}">
                <a16:creationId xmlns:a16="http://schemas.microsoft.com/office/drawing/2014/main" id="{3B3A07E6-26DE-4767-A3E8-325CEF1665AD}"/>
              </a:ext>
            </a:extLst>
          </p:cNvPr>
          <p:cNvSpPr>
            <a:spLocks xmlns:a="http://schemas.openxmlformats.org/drawingml/2006/main" noGrp="1"/>
          </p:cNvSpPr>
          <p:nvPr/>
        </p:nvSpPr>
        <p:spPr>
          <a:xfrm xmlns:a="http://schemas.openxmlformats.org/drawingml/2006/main">
            <a:off x="762000" y="26860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0C1728"/>
                </a:solidFill>
                <a:latin typeface="Arial"/>
                <a:ea typeface="Arial"/>
                <a:cs typeface="Arial"/>
              </a:defRPr>
            </a:pPr>
            <a:r>
              <a:rPr sz="1875" b="1">
                <a:solidFill>
                  <a:srgbClr val="0C1728"/>
                </a:solidFill>
                <a:latin typeface="Arial"/>
                <a:ea typeface="Arial"/>
                <a:cs typeface="Arial"/>
              </a:rPr>
              <a:t>Stress</a:t>
            </a:r>
          </a:p>
        </p:txBody>
      </p:sp>
      <p:sp>
        <p:nvSpPr>
          <p:cNvPr id="14" name="s8-copy-0">
            <a:extLst xmlns:a="http://schemas.openxmlformats.org/drawingml/2006/main">
              <a:ext uri="{FF2B5EF4-FFF2-40B4-BE49-F238E27FC236}">
                <a16:creationId xmlns:a16="http://schemas.microsoft.com/office/drawing/2014/main" id="{E3D7BFA8-ACA3-432A-8E07-9A443C062F12}"/>
              </a:ext>
            </a:extLst>
          </p:cNvPr>
          <p:cNvSpPr>
            <a:spLocks xmlns:a="http://schemas.openxmlformats.org/drawingml/2006/main" noGrp="1"/>
          </p:cNvSpPr>
          <p:nvPr/>
        </p:nvSpPr>
        <p:spPr>
          <a:xfrm xmlns:a="http://schemas.openxmlformats.org/drawingml/2006/main">
            <a:off x="762000" y="3133725"/>
            <a:ext cx="1485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27086"/>
                </a:solidFill>
                <a:latin typeface="Arial"/>
                <a:ea typeface="Arial"/>
                <a:cs typeface="Arial"/>
              </a:defRPr>
            </a:pPr>
            <a:r>
              <a:rPr sz="1200" b="0">
                <a:solidFill>
                  <a:srgbClr val="627086"/>
                </a:solidFill>
                <a:latin typeface="Arial"/>
                <a:ea typeface="Arial"/>
                <a:cs typeface="Arial"/>
              </a:rPr>
              <a:t>10,000 correlated scenario draws</a:t>
            </a:r>
          </a:p>
        </p:txBody>
      </p:sp>
      <p:sp>
        <p:nvSpPr>
          <p:cNvPr id="15" name="s8-stage-1">
            <a:extLst xmlns:a="http://schemas.openxmlformats.org/drawingml/2006/main">
              <a:ext uri="{FF2B5EF4-FFF2-40B4-BE49-F238E27FC236}">
                <a16:creationId xmlns:a16="http://schemas.microsoft.com/office/drawing/2014/main" id="{1394FB5E-59E8-4720-88A5-50B852C57A43}"/>
              </a:ext>
            </a:extLst>
          </p:cNvPr>
          <p:cNvSpPr>
            <a:spLocks xmlns:a="http://schemas.openxmlformats.org/drawingml/2006/main" noGrp="1"/>
          </p:cNvSpPr>
          <p:nvPr/>
        </p:nvSpPr>
        <p:spPr>
          <a:xfrm xmlns:a="http://schemas.openxmlformats.org/drawingml/2006/main">
            <a:off x="2752725" y="2076450"/>
            <a:ext cx="1809750" cy="1666875"/>
          </a:xfrm>
          <a:prstGeom xmlns:a="http://schemas.openxmlformats.org/drawingml/2006/main" prst="roundRect">
            <a:avLst>
              <a:gd name="adj" fmla="val 4571"/>
            </a:avLst>
          </a:prstGeom>
          <a:solidFill xmlns:a="http://schemas.openxmlformats.org/drawingml/2006/main">
            <a:srgbClr val="E7F5F2"/>
          </a:solidFill>
          <a:ln xmlns:a="http://schemas.openxmlformats.org/drawingml/2006/main" w="9525">
            <a:solidFill>
              <a:srgbClr val="D7DEE8"/>
            </a:solidFill>
            <a:prstDash val="solid"/>
          </a:ln>
        </p:spPr>
      </p:sp>
      <p:sp>
        <p:nvSpPr>
          <p:cNvPr id="16" name="s8-num-1">
            <a:extLst xmlns:a="http://schemas.openxmlformats.org/drawingml/2006/main">
              <a:ext uri="{FF2B5EF4-FFF2-40B4-BE49-F238E27FC236}">
                <a16:creationId xmlns:a16="http://schemas.microsoft.com/office/drawing/2014/main" id="{D4330A39-507A-40B9-AF7F-88F08F9CFAD7}"/>
              </a:ext>
            </a:extLst>
          </p:cNvPr>
          <p:cNvSpPr>
            <a:spLocks xmlns:a="http://schemas.openxmlformats.org/drawingml/2006/main" noGrp="1"/>
          </p:cNvSpPr>
          <p:nvPr/>
        </p:nvSpPr>
        <p:spPr>
          <a:xfrm xmlns:a="http://schemas.openxmlformats.org/drawingml/2006/main">
            <a:off x="2905125" y="22669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buNone/>
              <a:defRPr sz="1650" b="1">
                <a:solidFill>
                  <a:srgbClr val="008B83"/>
                </a:solidFill>
                <a:latin typeface="Arial"/>
                <a:ea typeface="Arial"/>
                <a:cs typeface="Arial"/>
              </a:defRPr>
            </a:pPr>
            <a:r>
              <a:rPr sz="1650" b="1">
                <a:solidFill>
                  <a:srgbClr val="008B83"/>
                </a:solidFill>
                <a:latin typeface="Arial"/>
                <a:ea typeface="Arial"/>
                <a:cs typeface="Arial"/>
              </a:rPr>
              <a:t>2</a:t>
            </a:r>
          </a:p>
        </p:txBody>
      </p:sp>
      <p:sp>
        <p:nvSpPr>
          <p:cNvPr id="17" name="s8-title-1">
            <a:extLst xmlns:a="http://schemas.openxmlformats.org/drawingml/2006/main">
              <a:ext uri="{FF2B5EF4-FFF2-40B4-BE49-F238E27FC236}">
                <a16:creationId xmlns:a16="http://schemas.microsoft.com/office/drawing/2014/main" id="{F0D21B9A-AE3B-44BA-A071-B6E957F53E09}"/>
              </a:ext>
            </a:extLst>
          </p:cNvPr>
          <p:cNvSpPr>
            <a:spLocks xmlns:a="http://schemas.openxmlformats.org/drawingml/2006/main" noGrp="1"/>
          </p:cNvSpPr>
          <p:nvPr/>
        </p:nvSpPr>
        <p:spPr>
          <a:xfrm xmlns:a="http://schemas.openxmlformats.org/drawingml/2006/main">
            <a:off x="2905125" y="26860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0C1728"/>
                </a:solidFill>
                <a:latin typeface="Arial"/>
                <a:ea typeface="Arial"/>
                <a:cs typeface="Arial"/>
              </a:defRPr>
            </a:pPr>
            <a:r>
              <a:rPr sz="1875" b="1">
                <a:solidFill>
                  <a:srgbClr val="0C1728"/>
                </a:solidFill>
                <a:latin typeface="Arial"/>
                <a:ea typeface="Arial"/>
                <a:cs typeface="Arial"/>
              </a:rPr>
              <a:t>Prior</a:t>
            </a:r>
          </a:p>
        </p:txBody>
      </p:sp>
      <p:sp>
        <p:nvSpPr>
          <p:cNvPr id="18" name="s8-copy-1">
            <a:extLst xmlns:a="http://schemas.openxmlformats.org/drawingml/2006/main">
              <a:ext uri="{FF2B5EF4-FFF2-40B4-BE49-F238E27FC236}">
                <a16:creationId xmlns:a16="http://schemas.microsoft.com/office/drawing/2014/main" id="{32A2414F-1E71-4E74-A760-1EAACAC49DF6}"/>
              </a:ext>
            </a:extLst>
          </p:cNvPr>
          <p:cNvSpPr>
            <a:spLocks xmlns:a="http://schemas.openxmlformats.org/drawingml/2006/main" noGrp="1"/>
          </p:cNvSpPr>
          <p:nvPr/>
        </p:nvSpPr>
        <p:spPr>
          <a:xfrm xmlns:a="http://schemas.openxmlformats.org/drawingml/2006/main">
            <a:off x="2905125" y="3133725"/>
            <a:ext cx="1485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27086"/>
                </a:solidFill>
                <a:latin typeface="Arial"/>
                <a:ea typeface="Arial"/>
                <a:cs typeface="Arial"/>
              </a:defRPr>
            </a:pPr>
            <a:r>
              <a:rPr sz="1200" b="0">
                <a:solidFill>
                  <a:srgbClr val="627086"/>
                </a:solidFill>
                <a:latin typeface="Arial"/>
                <a:ea typeface="Arial"/>
                <a:cs typeface="Arial"/>
              </a:rPr>
              <a:t>E1 weight 0.20 / 0.35 / 0.50</a:t>
            </a:r>
          </a:p>
        </p:txBody>
      </p:sp>
      <p:sp>
        <p:nvSpPr>
          <p:cNvPr id="19" name="s8-stage-2">
            <a:extLst xmlns:a="http://schemas.openxmlformats.org/drawingml/2006/main">
              <a:ext uri="{FF2B5EF4-FFF2-40B4-BE49-F238E27FC236}">
                <a16:creationId xmlns:a16="http://schemas.microsoft.com/office/drawing/2014/main" id="{597A8FA3-2C00-4037-B671-294999977BF0}"/>
              </a:ext>
            </a:extLst>
          </p:cNvPr>
          <p:cNvSpPr>
            <a:spLocks xmlns:a="http://schemas.openxmlformats.org/drawingml/2006/main" noGrp="1"/>
          </p:cNvSpPr>
          <p:nvPr/>
        </p:nvSpPr>
        <p:spPr>
          <a:xfrm xmlns:a="http://schemas.openxmlformats.org/drawingml/2006/main">
            <a:off x="4895850" y="2076450"/>
            <a:ext cx="1809750" cy="1666875"/>
          </a:xfrm>
          <a:prstGeom xmlns:a="http://schemas.openxmlformats.org/drawingml/2006/main" prst="roundRect">
            <a:avLst>
              <a:gd name="adj" fmla="val 4571"/>
            </a:avLst>
          </a:prstGeom>
          <a:solidFill xmlns:a="http://schemas.openxmlformats.org/drawingml/2006/main">
            <a:srgbClr val="EAF3FF"/>
          </a:solidFill>
          <a:ln xmlns:a="http://schemas.openxmlformats.org/drawingml/2006/main" w="9525">
            <a:solidFill>
              <a:srgbClr val="D7DEE8"/>
            </a:solidFill>
            <a:prstDash val="solid"/>
          </a:ln>
        </p:spPr>
      </p:sp>
      <p:sp>
        <p:nvSpPr>
          <p:cNvPr id="20" name="s8-num-2">
            <a:extLst xmlns:a="http://schemas.openxmlformats.org/drawingml/2006/main">
              <a:ext uri="{FF2B5EF4-FFF2-40B4-BE49-F238E27FC236}">
                <a16:creationId xmlns:a16="http://schemas.microsoft.com/office/drawing/2014/main" id="{00BD6BB1-DA50-458A-923A-3F380FE3378F}"/>
              </a:ext>
            </a:extLst>
          </p:cNvPr>
          <p:cNvSpPr>
            <a:spLocks xmlns:a="http://schemas.openxmlformats.org/drawingml/2006/main" noGrp="1"/>
          </p:cNvSpPr>
          <p:nvPr/>
        </p:nvSpPr>
        <p:spPr>
          <a:xfrm xmlns:a="http://schemas.openxmlformats.org/drawingml/2006/main">
            <a:off x="5048250" y="22669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buNone/>
              <a:defRPr sz="1650" b="1">
                <a:solidFill>
                  <a:srgbClr val="E2951C"/>
                </a:solidFill>
                <a:latin typeface="Arial"/>
                <a:ea typeface="Arial"/>
                <a:cs typeface="Arial"/>
              </a:defRPr>
            </a:pPr>
            <a:r>
              <a:rPr sz="1650" b="1">
                <a:solidFill>
                  <a:srgbClr val="E2951C"/>
                </a:solidFill>
                <a:latin typeface="Arial"/>
                <a:ea typeface="Arial"/>
                <a:cs typeface="Arial"/>
              </a:rPr>
              <a:t>3</a:t>
            </a:r>
          </a:p>
        </p:txBody>
      </p:sp>
      <p:sp>
        <p:nvSpPr>
          <p:cNvPr id="21" name="s8-title-2">
            <a:extLst xmlns:a="http://schemas.openxmlformats.org/drawingml/2006/main">
              <a:ext uri="{FF2B5EF4-FFF2-40B4-BE49-F238E27FC236}">
                <a16:creationId xmlns:a16="http://schemas.microsoft.com/office/drawing/2014/main" id="{6E622450-1947-4807-A1DC-3BC641DFD9B3}"/>
              </a:ext>
            </a:extLst>
          </p:cNvPr>
          <p:cNvSpPr>
            <a:spLocks xmlns:a="http://schemas.openxmlformats.org/drawingml/2006/main" noGrp="1"/>
          </p:cNvSpPr>
          <p:nvPr/>
        </p:nvSpPr>
        <p:spPr>
          <a:xfrm xmlns:a="http://schemas.openxmlformats.org/drawingml/2006/main">
            <a:off x="5048250" y="26860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0C1728"/>
                </a:solidFill>
                <a:latin typeface="Arial"/>
                <a:ea typeface="Arial"/>
                <a:cs typeface="Arial"/>
              </a:defRPr>
            </a:pPr>
            <a:r>
              <a:rPr sz="1875" b="1">
                <a:solidFill>
                  <a:srgbClr val="0C1728"/>
                </a:solidFill>
                <a:latin typeface="Arial"/>
                <a:ea typeface="Arial"/>
                <a:cs typeface="Arial"/>
              </a:rPr>
              <a:t>Coverage</a:t>
            </a:r>
          </a:p>
        </p:txBody>
      </p:sp>
      <p:sp>
        <p:nvSpPr>
          <p:cNvPr id="22" name="s8-copy-2">
            <a:extLst xmlns:a="http://schemas.openxmlformats.org/drawingml/2006/main">
              <a:ext uri="{FF2B5EF4-FFF2-40B4-BE49-F238E27FC236}">
                <a16:creationId xmlns:a16="http://schemas.microsoft.com/office/drawing/2014/main" id="{0BE8D46E-DA8F-4D7B-832F-853B4C75286A}"/>
              </a:ext>
            </a:extLst>
          </p:cNvPr>
          <p:cNvSpPr>
            <a:spLocks xmlns:a="http://schemas.openxmlformats.org/drawingml/2006/main" noGrp="1"/>
          </p:cNvSpPr>
          <p:nvPr/>
        </p:nvSpPr>
        <p:spPr>
          <a:xfrm xmlns:a="http://schemas.openxmlformats.org/drawingml/2006/main">
            <a:off x="5048250" y="3133725"/>
            <a:ext cx="1485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27086"/>
                </a:solidFill>
                <a:latin typeface="Arial"/>
                <a:ea typeface="Arial"/>
                <a:cs typeface="Arial"/>
              </a:defRPr>
            </a:pPr>
            <a:r>
              <a:rPr sz="1200" b="0">
                <a:solidFill>
                  <a:srgbClr val="627086"/>
                </a:solidFill>
                <a:latin typeface="Arial"/>
                <a:ea typeface="Arial"/>
                <a:cs typeface="Arial"/>
              </a:rPr>
              <a:t>Known-truth only; no E3 claim</a:t>
            </a:r>
          </a:p>
        </p:txBody>
      </p:sp>
      <p:sp>
        <p:nvSpPr>
          <p:cNvPr id="23" name="s8-stage-3">
            <a:extLst xmlns:a="http://schemas.openxmlformats.org/drawingml/2006/main">
              <a:ext uri="{FF2B5EF4-FFF2-40B4-BE49-F238E27FC236}">
                <a16:creationId xmlns:a16="http://schemas.microsoft.com/office/drawing/2014/main" id="{B5B82F11-5883-4E3E-BA84-174C42DCA51A}"/>
              </a:ext>
            </a:extLst>
          </p:cNvPr>
          <p:cNvSpPr>
            <a:spLocks xmlns:a="http://schemas.openxmlformats.org/drawingml/2006/main" noGrp="1"/>
          </p:cNvSpPr>
          <p:nvPr/>
        </p:nvSpPr>
        <p:spPr>
          <a:xfrm xmlns:a="http://schemas.openxmlformats.org/drawingml/2006/main">
            <a:off x="7038975" y="2076450"/>
            <a:ext cx="1809750" cy="1666875"/>
          </a:xfrm>
          <a:prstGeom xmlns:a="http://schemas.openxmlformats.org/drawingml/2006/main" prst="roundRect">
            <a:avLst>
              <a:gd name="adj" fmla="val 4571"/>
            </a:avLst>
          </a:prstGeom>
          <a:solidFill xmlns:a="http://schemas.openxmlformats.org/drawingml/2006/main">
            <a:srgbClr val="E7F5F2"/>
          </a:solidFill>
          <a:ln xmlns:a="http://schemas.openxmlformats.org/drawingml/2006/main" w="9525">
            <a:solidFill>
              <a:srgbClr val="D7DEE8"/>
            </a:solidFill>
            <a:prstDash val="solid"/>
          </a:ln>
        </p:spPr>
      </p:sp>
      <p:sp>
        <p:nvSpPr>
          <p:cNvPr id="24" name="s8-num-3">
            <a:extLst xmlns:a="http://schemas.openxmlformats.org/drawingml/2006/main">
              <a:ext uri="{FF2B5EF4-FFF2-40B4-BE49-F238E27FC236}">
                <a16:creationId xmlns:a16="http://schemas.microsoft.com/office/drawing/2014/main" id="{5187568C-3785-4E47-BB50-F192DE5C7F6A}"/>
              </a:ext>
            </a:extLst>
          </p:cNvPr>
          <p:cNvSpPr>
            <a:spLocks xmlns:a="http://schemas.openxmlformats.org/drawingml/2006/main" noGrp="1"/>
          </p:cNvSpPr>
          <p:nvPr/>
        </p:nvSpPr>
        <p:spPr>
          <a:xfrm xmlns:a="http://schemas.openxmlformats.org/drawingml/2006/main">
            <a:off x="7191375" y="22669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buNone/>
              <a:defRPr sz="1650" b="1">
                <a:solidFill>
                  <a:srgbClr val="7658D6"/>
                </a:solidFill>
                <a:latin typeface="Arial"/>
                <a:ea typeface="Arial"/>
                <a:cs typeface="Arial"/>
              </a:defRPr>
            </a:pPr>
            <a:r>
              <a:rPr sz="1650" b="1">
                <a:solidFill>
                  <a:srgbClr val="7658D6"/>
                </a:solidFill>
                <a:latin typeface="Arial"/>
                <a:ea typeface="Arial"/>
                <a:cs typeface="Arial"/>
              </a:rPr>
              <a:t>4</a:t>
            </a:r>
          </a:p>
        </p:txBody>
      </p:sp>
      <p:sp>
        <p:nvSpPr>
          <p:cNvPr id="25" name="s8-title-3">
            <a:extLst xmlns:a="http://schemas.openxmlformats.org/drawingml/2006/main">
              <a:ext uri="{FF2B5EF4-FFF2-40B4-BE49-F238E27FC236}">
                <a16:creationId xmlns:a16="http://schemas.microsoft.com/office/drawing/2014/main" id="{1AAB9F8C-74AA-4DA9-A510-7E96B786D5BD}"/>
              </a:ext>
            </a:extLst>
          </p:cNvPr>
          <p:cNvSpPr>
            <a:spLocks xmlns:a="http://schemas.openxmlformats.org/drawingml/2006/main" noGrp="1"/>
          </p:cNvSpPr>
          <p:nvPr/>
        </p:nvSpPr>
        <p:spPr>
          <a:xfrm xmlns:a="http://schemas.openxmlformats.org/drawingml/2006/main">
            <a:off x="7191375" y="26860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0C1728"/>
                </a:solidFill>
                <a:latin typeface="Arial"/>
                <a:ea typeface="Arial"/>
                <a:cs typeface="Arial"/>
              </a:defRPr>
            </a:pPr>
            <a:r>
              <a:rPr sz="1875" b="1">
                <a:solidFill>
                  <a:srgbClr val="0C1728"/>
                </a:solidFill>
                <a:latin typeface="Arial"/>
                <a:ea typeface="Arial"/>
                <a:cs typeface="Arial"/>
              </a:rPr>
              <a:t>Selection</a:t>
            </a:r>
          </a:p>
        </p:txBody>
      </p:sp>
      <p:sp>
        <p:nvSpPr>
          <p:cNvPr id="26" name="s8-copy-3">
            <a:extLst xmlns:a="http://schemas.openxmlformats.org/drawingml/2006/main">
              <a:ext uri="{FF2B5EF4-FFF2-40B4-BE49-F238E27FC236}">
                <a16:creationId xmlns:a16="http://schemas.microsoft.com/office/drawing/2014/main" id="{87B7DC59-F499-4386-ABD9-3F3E6D37B8A8}"/>
              </a:ext>
            </a:extLst>
          </p:cNvPr>
          <p:cNvSpPr>
            <a:spLocks xmlns:a="http://schemas.openxmlformats.org/drawingml/2006/main" noGrp="1"/>
          </p:cNvSpPr>
          <p:nvPr/>
        </p:nvSpPr>
        <p:spPr>
          <a:xfrm xmlns:a="http://schemas.openxmlformats.org/drawingml/2006/main">
            <a:off x="7191375" y="3133725"/>
            <a:ext cx="1485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72"/>
          </a:bodyPr>
          <a:lstStyle xmlns:a="http://schemas.openxmlformats.org/drawingml/2006/main"/>
          <a:p xmlns:a="http://schemas.openxmlformats.org/drawingml/2006/main">
            <a:pPr algn="l">
              <a:buNone/>
              <a:defRPr sz="1200" b="0">
                <a:solidFill>
                  <a:srgbClr val="627086"/>
                </a:solidFill>
                <a:latin typeface="Arial"/>
                <a:ea typeface="Arial"/>
                <a:cs typeface="Arial"/>
              </a:defRPr>
            </a:pPr>
            <a:r>
              <a:rPr sz="1200" b="0">
                <a:solidFill>
                  <a:srgbClr val="627086"/>
                </a:solidFill>
                <a:latin typeface="Arial"/>
                <a:ea typeface="Arial"/>
                <a:cs typeface="Arial"/>
              </a:rPr>
              <a:t>Top-eight composition is not invariant</a:t>
            </a:r>
          </a:p>
        </p:txBody>
      </p:sp>
      <p:sp>
        <p:nvSpPr>
          <p:cNvPr id="27" name="s8-stage-4">
            <a:extLst xmlns:a="http://schemas.openxmlformats.org/drawingml/2006/main">
              <a:ext uri="{FF2B5EF4-FFF2-40B4-BE49-F238E27FC236}">
                <a16:creationId xmlns:a16="http://schemas.microsoft.com/office/drawing/2014/main" id="{9E8D03A3-FE39-45A6-96E7-90958973D4FB}"/>
              </a:ext>
            </a:extLst>
          </p:cNvPr>
          <p:cNvSpPr>
            <a:spLocks xmlns:a="http://schemas.openxmlformats.org/drawingml/2006/main" noGrp="1"/>
          </p:cNvSpPr>
          <p:nvPr/>
        </p:nvSpPr>
        <p:spPr>
          <a:xfrm xmlns:a="http://schemas.openxmlformats.org/drawingml/2006/main">
            <a:off x="9182100" y="2076450"/>
            <a:ext cx="1809750" cy="1666875"/>
          </a:xfrm>
          <a:prstGeom xmlns:a="http://schemas.openxmlformats.org/drawingml/2006/main" prst="roundRect">
            <a:avLst>
              <a:gd name="adj" fmla="val 4571"/>
            </a:avLst>
          </a:prstGeom>
          <a:solidFill xmlns:a="http://schemas.openxmlformats.org/drawingml/2006/main">
            <a:srgbClr val="EAF3FF"/>
          </a:solidFill>
          <a:ln xmlns:a="http://schemas.openxmlformats.org/drawingml/2006/main" w="9525">
            <a:solidFill>
              <a:srgbClr val="D7DEE8"/>
            </a:solidFill>
            <a:prstDash val="solid"/>
          </a:ln>
        </p:spPr>
      </p:sp>
      <p:sp>
        <p:nvSpPr>
          <p:cNvPr id="28" name="s8-num-4">
            <a:extLst xmlns:a="http://schemas.openxmlformats.org/drawingml/2006/main">
              <a:ext uri="{FF2B5EF4-FFF2-40B4-BE49-F238E27FC236}">
                <a16:creationId xmlns:a16="http://schemas.microsoft.com/office/drawing/2014/main" id="{8FE1E30B-C228-4670-8A6D-79B8CA2A30F4}"/>
              </a:ext>
            </a:extLst>
          </p:cNvPr>
          <p:cNvSpPr>
            <a:spLocks xmlns:a="http://schemas.openxmlformats.org/drawingml/2006/main" noGrp="1"/>
          </p:cNvSpPr>
          <p:nvPr/>
        </p:nvSpPr>
        <p:spPr>
          <a:xfrm xmlns:a="http://schemas.openxmlformats.org/drawingml/2006/main">
            <a:off x="9334500" y="2266950"/>
            <a:ext cx="342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buNone/>
              <a:defRPr sz="1650" b="1">
                <a:solidFill>
                  <a:srgbClr val="0C1728"/>
                </a:solidFill>
                <a:latin typeface="Arial"/>
                <a:ea typeface="Arial"/>
                <a:cs typeface="Arial"/>
              </a:defRPr>
            </a:pPr>
            <a:r>
              <a:rPr sz="1650" b="1">
                <a:solidFill>
                  <a:srgbClr val="0C1728"/>
                </a:solidFill>
                <a:latin typeface="Arial"/>
                <a:ea typeface="Arial"/>
                <a:cs typeface="Arial"/>
              </a:rPr>
              <a:t>5</a:t>
            </a:r>
          </a:p>
        </p:txBody>
      </p:sp>
      <p:sp>
        <p:nvSpPr>
          <p:cNvPr id="29" name="s8-title-4">
            <a:extLst xmlns:a="http://schemas.openxmlformats.org/drawingml/2006/main">
              <a:ext uri="{FF2B5EF4-FFF2-40B4-BE49-F238E27FC236}">
                <a16:creationId xmlns:a16="http://schemas.microsoft.com/office/drawing/2014/main" id="{72D2EE35-B185-4AE3-ABF9-CFBD4D87F5FC}"/>
              </a:ext>
            </a:extLst>
          </p:cNvPr>
          <p:cNvSpPr>
            <a:spLocks xmlns:a="http://schemas.openxmlformats.org/drawingml/2006/main" noGrp="1"/>
          </p:cNvSpPr>
          <p:nvPr/>
        </p:nvSpPr>
        <p:spPr>
          <a:xfrm xmlns:a="http://schemas.openxmlformats.org/drawingml/2006/main">
            <a:off x="9334500" y="26860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buNone/>
              <a:defRPr sz="1875" b="1">
                <a:solidFill>
                  <a:srgbClr val="0C1728"/>
                </a:solidFill>
                <a:latin typeface="Arial"/>
                <a:ea typeface="Arial"/>
                <a:cs typeface="Arial"/>
              </a:defRPr>
            </a:pPr>
            <a:r>
              <a:rPr sz="1875" b="1">
                <a:solidFill>
                  <a:srgbClr val="0C1728"/>
                </a:solidFill>
                <a:latin typeface="Arial"/>
                <a:ea typeface="Arial"/>
                <a:cs typeface="Arial"/>
              </a:rPr>
              <a:t>Permission</a:t>
            </a:r>
          </a:p>
        </p:txBody>
      </p:sp>
      <p:sp>
        <p:nvSpPr>
          <p:cNvPr id="30" name="s8-copy-4">
            <a:extLst xmlns:a="http://schemas.openxmlformats.org/drawingml/2006/main">
              <a:ext uri="{FF2B5EF4-FFF2-40B4-BE49-F238E27FC236}">
                <a16:creationId xmlns:a16="http://schemas.microsoft.com/office/drawing/2014/main" id="{BB391761-1144-4411-BDA9-0C4320354D52}"/>
              </a:ext>
            </a:extLst>
          </p:cNvPr>
          <p:cNvSpPr>
            <a:spLocks xmlns:a="http://schemas.openxmlformats.org/drawingml/2006/main" noGrp="1"/>
          </p:cNvSpPr>
          <p:nvPr/>
        </p:nvSpPr>
        <p:spPr>
          <a:xfrm xmlns:a="http://schemas.openxmlformats.org/drawingml/2006/main">
            <a:off x="9334500" y="3133725"/>
            <a:ext cx="1485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916"/>
          </a:bodyPr>
          <a:lstStyle xmlns:a="http://schemas.openxmlformats.org/drawingml/2006/main"/>
          <a:p xmlns:a="http://schemas.openxmlformats.org/drawingml/2006/main">
            <a:pPr algn="l">
              <a:buNone/>
              <a:defRPr sz="1200" b="0">
                <a:solidFill>
                  <a:srgbClr val="627086"/>
                </a:solidFill>
                <a:latin typeface="Arial"/>
                <a:ea typeface="Arial"/>
                <a:cs typeface="Arial"/>
              </a:defRPr>
            </a:pPr>
            <a:r>
              <a:rPr sz="1200" b="0">
                <a:solidFill>
                  <a:srgbClr val="627086"/>
                </a:solidFill>
                <a:latin typeface="Arial"/>
                <a:ea typeface="Arial"/>
                <a:cs typeface="Arial"/>
              </a:rPr>
              <a:t>Real: OFFLINE
Rehearsal: SHADOW</a:t>
            </a:r>
          </a:p>
        </p:txBody>
      </p:sp>
      <p:cxnSp>
        <p:nvCxnSpPr>
          <p:cNvPr id="206" name="s8-checks-rule"/>
          <p:cNvCxnSpPr/>
          <p:nvPr/>
        </p:nvCxnSpPr>
        <p:spPr>
          <a:xfrm xmlns:a="http://schemas.openxmlformats.org/drawingml/2006/main">
            <a:off x="609600" y="4438650"/>
            <a:ext cx="2381250" cy="0"/>
          </a:xfrm>
          <a:prstGeom xmlns:a="http://schemas.openxmlformats.org/drawingml/2006/main" prst="straightConnector1">
            <a:avLst/>
          </a:prstGeom>
          <a:ln xmlns:a="http://schemas.openxmlformats.org/drawingml/2006/main" w="38100">
            <a:solidFill>
              <a:srgbClr val="0B63E5"/>
            </a:solidFill>
            <a:prstDash val="solid"/>
          </a:ln>
        </p:spPr>
      </p:cxnSp>
      <p:sp>
        <p:nvSpPr>
          <p:cNvPr id="32" name="s8-checks-value">
            <a:extLst xmlns:a="http://schemas.openxmlformats.org/drawingml/2006/main">
              <a:ext uri="{FF2B5EF4-FFF2-40B4-BE49-F238E27FC236}">
                <a16:creationId xmlns:a16="http://schemas.microsoft.com/office/drawing/2014/main" id="{70E78E76-AAAA-4364-A45E-37627D328455}"/>
              </a:ext>
            </a:extLst>
          </p:cNvPr>
          <p:cNvSpPr>
            <a:spLocks xmlns:a="http://schemas.openxmlformats.org/drawingml/2006/main" noGrp="1"/>
          </p:cNvSpPr>
          <p:nvPr/>
        </p:nvSpPr>
        <p:spPr>
          <a:xfrm xmlns:a="http://schemas.openxmlformats.org/drawingml/2006/main">
            <a:off x="609600" y="46101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10k</a:t>
            </a:r>
          </a:p>
        </p:txBody>
      </p:sp>
      <p:sp>
        <p:nvSpPr>
          <p:cNvPr id="33" name="s8-checks-label">
            <a:extLst xmlns:a="http://schemas.openxmlformats.org/drawingml/2006/main">
              <a:ext uri="{FF2B5EF4-FFF2-40B4-BE49-F238E27FC236}">
                <a16:creationId xmlns:a16="http://schemas.microsoft.com/office/drawing/2014/main" id="{D43164D6-AAC6-4717-AE21-05DF4994520D}"/>
              </a:ext>
            </a:extLst>
          </p:cNvPr>
          <p:cNvSpPr>
            <a:spLocks xmlns:a="http://schemas.openxmlformats.org/drawingml/2006/main" noGrp="1"/>
          </p:cNvSpPr>
          <p:nvPr/>
        </p:nvSpPr>
        <p:spPr>
          <a:xfrm xmlns:a="http://schemas.openxmlformats.org/drawingml/2006/main">
            <a:off x="609600" y="5143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scenario draws</a:t>
            </a:r>
          </a:p>
        </p:txBody>
      </p:sp>
      <p:sp>
        <p:nvSpPr>
          <p:cNvPr id="34" name="s8-checks-note">
            <a:extLst xmlns:a="http://schemas.openxmlformats.org/drawingml/2006/main">
              <a:ext uri="{FF2B5EF4-FFF2-40B4-BE49-F238E27FC236}">
                <a16:creationId xmlns:a16="http://schemas.microsoft.com/office/drawing/2014/main" id="{AFE9E91B-2AE2-482D-943B-72FF8090C6E1}"/>
              </a:ext>
            </a:extLst>
          </p:cNvPr>
          <p:cNvSpPr>
            <a:spLocks xmlns:a="http://schemas.openxmlformats.org/drawingml/2006/main" noGrp="1"/>
          </p:cNvSpPr>
          <p:nvPr/>
        </p:nvSpPr>
        <p:spPr>
          <a:xfrm xmlns:a="http://schemas.openxmlformats.org/drawingml/2006/main">
            <a:off x="609600" y="54673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Rates, wallet, share and commercial inputs</a:t>
            </a:r>
          </a:p>
        </p:txBody>
      </p:sp>
      <p:cxnSp>
        <p:nvCxnSpPr>
          <p:cNvPr id="210" name="s8-cases-rule"/>
          <p:cNvCxnSpPr/>
          <p:nvPr/>
        </p:nvCxnSpPr>
        <p:spPr>
          <a:xfrm xmlns:a="http://schemas.openxmlformats.org/drawingml/2006/main">
            <a:off x="3390900" y="4438650"/>
            <a:ext cx="2381250" cy="0"/>
          </a:xfrm>
          <a:prstGeom xmlns:a="http://schemas.openxmlformats.org/drawingml/2006/main" prst="straightConnector1">
            <a:avLst/>
          </a:prstGeom>
          <a:ln xmlns:a="http://schemas.openxmlformats.org/drawingml/2006/main" w="38100">
            <a:solidFill>
              <a:srgbClr val="7658D6"/>
            </a:solidFill>
            <a:prstDash val="solid"/>
          </a:ln>
        </p:spPr>
      </p:cxnSp>
      <p:sp>
        <p:nvSpPr>
          <p:cNvPr id="36" name="s8-cases-value">
            <a:extLst xmlns:a="http://schemas.openxmlformats.org/drawingml/2006/main">
              <a:ext uri="{FF2B5EF4-FFF2-40B4-BE49-F238E27FC236}">
                <a16:creationId xmlns:a16="http://schemas.microsoft.com/office/drawing/2014/main" id="{D8457571-ECA1-4B7D-8CD2-B558FE6845FE}"/>
              </a:ext>
            </a:extLst>
          </p:cNvPr>
          <p:cNvSpPr>
            <a:spLocks xmlns:a="http://schemas.openxmlformats.org/drawingml/2006/main" noGrp="1"/>
          </p:cNvSpPr>
          <p:nvPr/>
        </p:nvSpPr>
        <p:spPr>
          <a:xfrm xmlns:a="http://schemas.openxmlformats.org/drawingml/2006/main">
            <a:off x="3390900" y="46101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100%</a:t>
            </a:r>
          </a:p>
        </p:txBody>
      </p:sp>
      <p:sp>
        <p:nvSpPr>
          <p:cNvPr id="37" name="s8-cases-label">
            <a:extLst xmlns:a="http://schemas.openxmlformats.org/drawingml/2006/main">
              <a:ext uri="{FF2B5EF4-FFF2-40B4-BE49-F238E27FC236}">
                <a16:creationId xmlns:a16="http://schemas.microsoft.com/office/drawing/2014/main" id="{748A3F37-FD86-4FA3-9A58-041E12FE2593}"/>
              </a:ext>
            </a:extLst>
          </p:cNvPr>
          <p:cNvSpPr>
            <a:spLocks xmlns:a="http://schemas.openxmlformats.org/drawingml/2006/main" noGrp="1"/>
          </p:cNvSpPr>
          <p:nvPr/>
        </p:nvSpPr>
        <p:spPr>
          <a:xfrm xmlns:a="http://schemas.openxmlformats.org/drawingml/2006/main">
            <a:off x="3390900" y="5143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TF first-ranked</a:t>
            </a:r>
          </a:p>
        </p:txBody>
      </p:sp>
      <p:sp>
        <p:nvSpPr>
          <p:cNvPr id="38" name="s8-cases-note">
            <a:extLst xmlns:a="http://schemas.openxmlformats.org/drawingml/2006/main">
              <a:ext uri="{FF2B5EF4-FFF2-40B4-BE49-F238E27FC236}">
                <a16:creationId xmlns:a16="http://schemas.microsoft.com/office/drawing/2014/main" id="{C2D618FC-F541-4555-B033-A1FCD5476A54}"/>
              </a:ext>
            </a:extLst>
          </p:cNvPr>
          <p:cNvSpPr>
            <a:spLocks xmlns:a="http://schemas.openxmlformats.org/drawingml/2006/main" noGrp="1"/>
          </p:cNvSpPr>
          <p:nvPr/>
        </p:nvSpPr>
        <p:spPr>
          <a:xfrm xmlns:a="http://schemas.openxmlformats.org/drawingml/2006/main">
            <a:off x="3390900" y="54673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Global sensitivity—not a hard-coded winner</a:t>
            </a:r>
          </a:p>
        </p:txBody>
      </p:sp>
      <p:cxnSp>
        <p:nvCxnSpPr>
          <p:cNvPr id="214" name="s8-stress-rule"/>
          <p:cNvCxnSpPr/>
          <p:nvPr/>
        </p:nvCxnSpPr>
        <p:spPr>
          <a:xfrm xmlns:a="http://schemas.openxmlformats.org/drawingml/2006/main">
            <a:off x="6172200" y="4438650"/>
            <a:ext cx="2381250" cy="0"/>
          </a:xfrm>
          <a:prstGeom xmlns:a="http://schemas.openxmlformats.org/drawingml/2006/main" prst="straightConnector1">
            <a:avLst/>
          </a:prstGeom>
          <a:ln xmlns:a="http://schemas.openxmlformats.org/drawingml/2006/main" w="38100">
            <a:solidFill>
              <a:srgbClr val="E2951C"/>
            </a:solidFill>
            <a:prstDash val="solid"/>
          </a:ln>
        </p:spPr>
      </p:cxnSp>
      <p:sp>
        <p:nvSpPr>
          <p:cNvPr id="40" name="s8-stress-value">
            <a:extLst xmlns:a="http://schemas.openxmlformats.org/drawingml/2006/main">
              <a:ext uri="{FF2B5EF4-FFF2-40B4-BE49-F238E27FC236}">
                <a16:creationId xmlns:a16="http://schemas.microsoft.com/office/drawing/2014/main" id="{79CADD48-F427-48B1-B0B4-49A478351BA1}"/>
              </a:ext>
            </a:extLst>
          </p:cNvPr>
          <p:cNvSpPr>
            <a:spLocks xmlns:a="http://schemas.openxmlformats.org/drawingml/2006/main" noGrp="1"/>
          </p:cNvSpPr>
          <p:nvPr/>
        </p:nvSpPr>
        <p:spPr>
          <a:xfrm xmlns:a="http://schemas.openxmlformats.org/drawingml/2006/main">
            <a:off x="6172200" y="46101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87.8%</a:t>
            </a:r>
          </a:p>
        </p:txBody>
      </p:sp>
      <p:sp>
        <p:nvSpPr>
          <p:cNvPr id="41" name="s8-stress-label">
            <a:extLst xmlns:a="http://schemas.openxmlformats.org/drawingml/2006/main">
              <a:ext uri="{FF2B5EF4-FFF2-40B4-BE49-F238E27FC236}">
                <a16:creationId xmlns:a16="http://schemas.microsoft.com/office/drawing/2014/main" id="{F2D8BF75-70A0-4B1F-9C7B-877980F8218B}"/>
              </a:ext>
            </a:extLst>
          </p:cNvPr>
          <p:cNvSpPr>
            <a:spLocks xmlns:a="http://schemas.openxmlformats.org/drawingml/2006/main" noGrp="1"/>
          </p:cNvSpPr>
          <p:nvPr/>
        </p:nvSpPr>
        <p:spPr>
          <a:xfrm xmlns:a="http://schemas.openxmlformats.org/drawingml/2006/main">
            <a:off x="6172200" y="5143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TF majority dominance</a:t>
            </a:r>
          </a:p>
        </p:txBody>
      </p:sp>
      <p:sp>
        <p:nvSpPr>
          <p:cNvPr id="42" name="s8-stress-note">
            <a:extLst xmlns:a="http://schemas.openxmlformats.org/drawingml/2006/main">
              <a:ext uri="{FF2B5EF4-FFF2-40B4-BE49-F238E27FC236}">
                <a16:creationId xmlns:a16="http://schemas.microsoft.com/office/drawing/2014/main" id="{36241C21-692C-41D5-85D7-4948982799CC}"/>
              </a:ext>
            </a:extLst>
          </p:cNvPr>
          <p:cNvSpPr>
            <a:spLocks xmlns:a="http://schemas.openxmlformats.org/drawingml/2006/main" noGrp="1"/>
          </p:cNvSpPr>
          <p:nvPr/>
        </p:nvSpPr>
        <p:spPr>
          <a:xfrm xmlns:a="http://schemas.openxmlformats.org/drawingml/2006/main">
            <a:off x="6172200" y="54673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Absolute economics still varies materially</a:t>
            </a:r>
          </a:p>
        </p:txBody>
      </p:sp>
      <p:cxnSp>
        <p:nvCxnSpPr>
          <p:cNvPr id="218" name="s8-fail-rule"/>
          <p:cNvCxnSpPr/>
          <p:nvPr/>
        </p:nvCxnSpPr>
        <p:spPr>
          <a:xfrm xmlns:a="http://schemas.openxmlformats.org/drawingml/2006/main">
            <a:off x="8953500" y="4438650"/>
            <a:ext cx="2381250" cy="0"/>
          </a:xfrm>
          <a:prstGeom xmlns:a="http://schemas.openxmlformats.org/drawingml/2006/main" prst="straightConnector1">
            <a:avLst/>
          </a:prstGeom>
          <a:ln xmlns:a="http://schemas.openxmlformats.org/drawingml/2006/main" w="38100">
            <a:solidFill>
              <a:srgbClr val="008B83"/>
            </a:solidFill>
            <a:prstDash val="solid"/>
          </a:ln>
        </p:spPr>
      </p:cxnSp>
      <p:sp>
        <p:nvSpPr>
          <p:cNvPr id="44" name="s8-fail-value">
            <a:extLst xmlns:a="http://schemas.openxmlformats.org/drawingml/2006/main">
              <a:ext uri="{FF2B5EF4-FFF2-40B4-BE49-F238E27FC236}">
                <a16:creationId xmlns:a16="http://schemas.microsoft.com/office/drawing/2014/main" id="{4305D1F8-1CE9-46D0-B5FE-DC212B5ED7A4}"/>
              </a:ext>
            </a:extLst>
          </p:cNvPr>
          <p:cNvSpPr>
            <a:spLocks xmlns:a="http://schemas.openxmlformats.org/drawingml/2006/main" noGrp="1"/>
          </p:cNvSpPr>
          <p:nvPr/>
        </p:nvSpPr>
        <p:spPr>
          <a:xfrm xmlns:a="http://schemas.openxmlformats.org/drawingml/2006/main">
            <a:off x="8953500" y="46101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495"/>
          </a:bodyPr>
          <a:lstStyle xmlns:a="http://schemas.openxmlformats.org/drawingml/2006/main"/>
          <a:p xmlns:a="http://schemas.openxmlformats.org/drawingml/2006/main">
            <a:pPr algn="l">
              <a:buNone/>
              <a:defRPr sz="2775" b="1">
                <a:solidFill>
                  <a:srgbClr val="0C1728"/>
                </a:solidFill>
                <a:latin typeface="Arial"/>
                <a:ea typeface="Arial"/>
                <a:cs typeface="Arial"/>
              </a:defRPr>
            </a:pPr>
            <a:r>
              <a:rPr sz="2775" b="1">
                <a:solidFill>
                  <a:srgbClr val="0C1728"/>
                </a:solidFill>
                <a:latin typeface="Arial"/>
                <a:ea typeface="Arial"/>
                <a:cs typeface="Arial"/>
              </a:rPr>
              <a:t>0</a:t>
            </a:r>
          </a:p>
        </p:txBody>
      </p:sp>
      <p:sp>
        <p:nvSpPr>
          <p:cNvPr id="45" name="s8-fail-label">
            <a:extLst xmlns:a="http://schemas.openxmlformats.org/drawingml/2006/main">
              <a:ext uri="{FF2B5EF4-FFF2-40B4-BE49-F238E27FC236}">
                <a16:creationId xmlns:a16="http://schemas.microsoft.com/office/drawing/2014/main" id="{7848A7C9-8815-41ED-B94B-44CBD55C021C}"/>
              </a:ext>
            </a:extLst>
          </p:cNvPr>
          <p:cNvSpPr>
            <a:spLocks xmlns:a="http://schemas.openxmlformats.org/drawingml/2006/main" noGrp="1"/>
          </p:cNvSpPr>
          <p:nvPr/>
        </p:nvSpPr>
        <p:spPr>
          <a:xfrm xmlns:a="http://schemas.openxmlformats.org/drawingml/2006/main">
            <a:off x="8953500" y="51435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buNone/>
              <a:defRPr sz="1275" b="1">
                <a:solidFill>
                  <a:srgbClr val="0C1728"/>
                </a:solidFill>
                <a:latin typeface="Arial"/>
                <a:ea typeface="Arial"/>
                <a:cs typeface="Arial"/>
              </a:defRPr>
            </a:pPr>
            <a:r>
              <a:rPr sz="1275" b="1">
                <a:solidFill>
                  <a:srgbClr val="0C1728"/>
                </a:solidFill>
                <a:latin typeface="Arial"/>
                <a:ea typeface="Arial"/>
                <a:cs typeface="Arial"/>
              </a:rPr>
              <a:t>elapsed bank days</a:t>
            </a:r>
          </a:p>
        </p:txBody>
      </p:sp>
      <p:sp>
        <p:nvSpPr>
          <p:cNvPr id="46" name="s8-fail-note">
            <a:extLst xmlns:a="http://schemas.openxmlformats.org/drawingml/2006/main">
              <a:ext uri="{FF2B5EF4-FFF2-40B4-BE49-F238E27FC236}">
                <a16:creationId xmlns:a16="http://schemas.microsoft.com/office/drawing/2014/main" id="{78AFFBBC-FFA9-4353-81AC-CDAEFADAA35C}"/>
              </a:ext>
            </a:extLst>
          </p:cNvPr>
          <p:cNvSpPr>
            <a:spLocks xmlns:a="http://schemas.openxmlformats.org/drawingml/2006/main" noGrp="1"/>
          </p:cNvSpPr>
          <p:nvPr/>
        </p:nvSpPr>
        <p:spPr>
          <a:xfrm xmlns:a="http://schemas.openxmlformats.org/drawingml/2006/main">
            <a:off x="8953500" y="5467350"/>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125" b="0">
                <a:solidFill>
                  <a:srgbClr val="627086"/>
                </a:solidFill>
                <a:latin typeface="Arial"/>
                <a:ea typeface="Arial"/>
                <a:cs typeface="Arial"/>
              </a:defRPr>
            </a:pPr>
            <a:r>
              <a:rPr sz="1125" b="0">
                <a:solidFill>
                  <a:srgbClr val="627086"/>
                </a:solidFill>
                <a:latin typeface="Arial"/>
                <a:ea typeface="Arial"/>
                <a:cs typeface="Arial"/>
              </a:rPr>
              <a:t>PMR 100% · BER 0% · rehearsed only to SHADOW_READY</a:t>
            </a:r>
          </a:p>
        </p:txBody>
      </p:sp>
    </p:spTree>
    <p:extLst>
      <p:ext uri="{BB962C8B-B14F-4D97-AF65-F5344CB8AC3E}">
        <p14:creationId xmlns:p14="http://schemas.microsoft.com/office/powerpoint/2010/main" val="413119166"/>
      </p:ext>
    </p:extLst>
  </p:cSld>
</p:sld>
</file>

<file path=ppt/slides/slide10.xml><?xml version="1.0" encoding="utf-8"?>
<p:sld xmlns:p="http://schemas.openxmlformats.org/presentationml/2006/main">
  <p:cSld>
    <p:bg>
      <p:bgPr>
        <a:solidFill xmlns:a="http://schemas.openxmlformats.org/drawingml/2006/main">
          <a:srgbClr val="071321"/>
        </a:solidFill>
      </p:bgPr>
    </p:bg>
    <p:spTree>
      <p:nvGrpSpPr>
        <p:cNvPr id="1" name=""/>
        <p:cNvGrpSpPr/>
        <p:nvPr/>
      </p:nvGrpSpPr>
      <p:grpSpPr>
        <a:xfrm xmlns:a="http://schemas.openxmlformats.org/drawingml/2006/main"/>
      </p:grpSpPr>
      <p:sp>
        <p:nvSpPr>
          <p:cNvPr id="19" name="s10-kicker">
            <a:extLst xmlns:a="http://schemas.openxmlformats.org/drawingml/2006/main">
              <a:ext uri="{FF2B5EF4-FFF2-40B4-BE49-F238E27FC236}">
                <a16:creationId xmlns:a16="http://schemas.microsoft.com/office/drawing/2014/main" id="{71C6F305-F54F-4AD8-BBAD-77DCEDD02F10}"/>
              </a:ext>
            </a:extLst>
          </p:cNvPr>
          <p:cNvSpPr>
            <a:spLocks xmlns:a="http://schemas.openxmlformats.org/drawingml/2006/main" noGrp="1"/>
          </p:cNvSpPr>
          <p:nvPr/>
        </p:nvSpPr>
        <p:spPr>
          <a:xfrm xmlns:a="http://schemas.openxmlformats.org/drawingml/2006/main">
            <a:off x="609600" y="4572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l">
              <a:buNone/>
              <a:defRPr sz="1050" b="1">
                <a:solidFill>
                  <a:srgbClr val="7CB6FF"/>
                </a:solidFill>
                <a:latin typeface="Arial"/>
                <a:ea typeface="Arial"/>
                <a:cs typeface="Arial"/>
              </a:defRPr>
            </a:pPr>
            <a:r>
              <a:rPr sz="1050" b="1">
                <a:solidFill>
                  <a:srgbClr val="7CB6FF"/>
                </a:solidFill>
                <a:latin typeface="Arial"/>
                <a:ea typeface="Arial"/>
                <a:cs typeface="Arial"/>
              </a:rPr>
              <a:t>THE DECISION</a:t>
            </a:r>
          </a:p>
        </p:txBody>
      </p:sp>
      <p:sp>
        <p:nvSpPr>
          <p:cNvPr id="2" name="s10-title">
            <a:extLst xmlns:a="http://schemas.openxmlformats.org/drawingml/2006/main">
              <a:ext uri="{FF2B5EF4-FFF2-40B4-BE49-F238E27FC236}">
                <a16:creationId xmlns:a16="http://schemas.microsoft.com/office/drawing/2014/main" id="{7E88C5EB-8E92-4D5E-8985-8FFB80460AE1}"/>
              </a:ext>
            </a:extLst>
          </p:cNvPr>
          <p:cNvSpPr>
            <a:spLocks xmlns:a="http://schemas.openxmlformats.org/drawingml/2006/main" noGrp="1"/>
          </p:cNvSpPr>
          <p:nvPr/>
        </p:nvSpPr>
        <p:spPr>
          <a:xfrm xmlns:a="http://schemas.openxmlformats.org/drawingml/2006/main">
            <a:off x="609600" y="1066800"/>
            <a:ext cx="7239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388"/>
          </a:bodyPr>
          <a:lstStyle xmlns:a="http://schemas.openxmlformats.org/drawingml/2006/main"/>
          <a:p xmlns:a="http://schemas.openxmlformats.org/drawingml/2006/main">
            <a:pPr algn="l">
              <a:buNone/>
              <a:defRPr sz="3675" b="1">
                <a:solidFill>
                  <a:srgbClr val="FFFFFF"/>
                </a:solidFill>
                <a:latin typeface="Arial"/>
                <a:ea typeface="Arial"/>
                <a:cs typeface="Arial"/>
              </a:defRPr>
            </a:pPr>
            <a:r>
              <a:rPr sz="3675" b="1">
                <a:solidFill>
                  <a:srgbClr val="FFFFFF"/>
                </a:solidFill>
                <a:latin typeface="Arial"/>
                <a:ea typeface="Arial"/>
                <a:cs typeface="Arial"/>
              </a:rPr>
              <a:t>See the wallet.</a:t>
            </a:r>
          </a:p>
          <a:p xmlns:a="http://schemas.openxmlformats.org/drawingml/2006/main">
            <a:pPr algn="l">
              <a:buNone/>
              <a:defRPr sz="3675" b="1">
                <a:solidFill>
                  <a:srgbClr val="FFFFFF"/>
                </a:solidFill>
                <a:latin typeface="Arial"/>
                <a:ea typeface="Arial"/>
                <a:cs typeface="Arial"/>
              </a:defRPr>
            </a:pPr>
            <a:r>
              <a:rPr sz="3675" b="1">
                <a:solidFill>
                  <a:srgbClr val="FFFFFF"/>
                </a:solidFill>
                <a:latin typeface="Arial"/>
                <a:ea typeface="Arial"/>
                <a:cs typeface="Arial"/>
              </a:rPr>
              <a:t>Size the gap.</a:t>
            </a:r>
          </a:p>
          <a:p xmlns:a="http://schemas.openxmlformats.org/drawingml/2006/main">
            <a:pPr algn="l">
              <a:buNone/>
              <a:defRPr sz="3675" b="1">
                <a:solidFill>
                  <a:srgbClr val="FFFFFF"/>
                </a:solidFill>
                <a:latin typeface="Arial"/>
                <a:ea typeface="Arial"/>
                <a:cs typeface="Arial"/>
              </a:defRPr>
            </a:pPr>
            <a:r>
              <a:rPr sz="3675" b="1">
                <a:solidFill>
                  <a:srgbClr val="FFFFFF"/>
                </a:solidFill>
                <a:latin typeface="Arial"/>
                <a:ea typeface="Arial"/>
                <a:cs typeface="Arial"/>
              </a:rPr>
              <a:t>Choose the conversation.</a:t>
            </a:r>
          </a:p>
        </p:txBody>
      </p:sp>
      <p:sp>
        <p:nvSpPr>
          <p:cNvPr id="3" name="s10-subtitle">
            <a:extLst xmlns:a="http://schemas.openxmlformats.org/drawingml/2006/main">
              <a:ext uri="{FF2B5EF4-FFF2-40B4-BE49-F238E27FC236}">
                <a16:creationId xmlns:a16="http://schemas.microsoft.com/office/drawing/2014/main" id="{7EA1814A-A2FC-41B7-9193-3C7C4E8DE6B5}"/>
              </a:ext>
            </a:extLst>
          </p:cNvPr>
          <p:cNvSpPr>
            <a:spLocks xmlns:a="http://schemas.openxmlformats.org/drawingml/2006/main" noGrp="1"/>
          </p:cNvSpPr>
          <p:nvPr/>
        </p:nvSpPr>
        <p:spPr>
          <a:xfrm xmlns:a="http://schemas.openxmlformats.org/drawingml/2006/main">
            <a:off x="609600" y="2638425"/>
            <a:ext cx="7429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17"/>
          </a:bodyPr>
          <a:lstStyle xmlns:a="http://schemas.openxmlformats.org/drawingml/2006/main"/>
          <a:p xmlns:a="http://schemas.openxmlformats.org/drawingml/2006/main">
            <a:pPr algn="l">
              <a:buNone/>
              <a:defRPr sz="1725" b="0">
                <a:solidFill>
                  <a:srgbClr val="C7D5E8"/>
                </a:solidFill>
                <a:latin typeface="Arial"/>
                <a:ea typeface="Arial"/>
                <a:cs typeface="Arial"/>
              </a:defRPr>
            </a:pPr>
            <a:r>
              <a:rPr sz="1725" b="0">
                <a:solidFill>
                  <a:srgbClr val="C7D5E8"/>
                </a:solidFill>
                <a:latin typeface="Arial"/>
                <a:ea typeface="Arial"/>
                <a:cs typeface="Arial"/>
              </a:rPr>
              <a:t>The highest-value discovery starts with Glencore Trade Finance, then BHP. Eight priority conversations turn governed wallet intervals into a focused coverage plan.</a:t>
            </a:r>
          </a:p>
        </p:txBody>
      </p:sp>
      <p:cxnSp>
        <p:nvCxnSpPr>
          <p:cNvPr id="58" name="s10-step-rule-0"/>
          <p:cNvCxnSpPr/>
          <p:nvPr/>
        </p:nvCxnSpPr>
        <p:spPr>
          <a:xfrm xmlns:a="http://schemas.openxmlformats.org/drawingml/2006/main">
            <a:off x="609600" y="4143375"/>
            <a:ext cx="3105150" cy="0"/>
          </a:xfrm>
          <a:prstGeom xmlns:a="http://schemas.openxmlformats.org/drawingml/2006/main" prst="straightConnector1">
            <a:avLst/>
          </a:prstGeom>
          <a:ln xmlns:a="http://schemas.openxmlformats.org/drawingml/2006/main" w="38100">
            <a:solidFill>
              <a:srgbClr val="69A7F7"/>
            </a:solidFill>
            <a:prstDash val="solid"/>
          </a:ln>
        </p:spPr>
      </p:cxnSp>
      <p:sp>
        <p:nvSpPr>
          <p:cNvPr id="5" name="s10-step-num-0">
            <a:extLst xmlns:a="http://schemas.openxmlformats.org/drawingml/2006/main">
              <a:ext uri="{FF2B5EF4-FFF2-40B4-BE49-F238E27FC236}">
                <a16:creationId xmlns:a16="http://schemas.microsoft.com/office/drawing/2014/main" id="{238D21C1-DA30-41DA-9400-AF41A46BECB0}"/>
              </a:ext>
            </a:extLst>
          </p:cNvPr>
          <p:cNvSpPr>
            <a:spLocks xmlns:a="http://schemas.openxmlformats.org/drawingml/2006/main" noGrp="1"/>
          </p:cNvSpPr>
          <p:nvPr/>
        </p:nvSpPr>
        <p:spPr>
          <a:xfrm xmlns:a="http://schemas.openxmlformats.org/drawingml/2006/main">
            <a:off x="609600" y="4381500"/>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buNone/>
              <a:defRPr sz="1050" b="1">
                <a:solidFill>
                  <a:srgbClr val="7CB6FF"/>
                </a:solidFill>
                <a:latin typeface="Arial"/>
                <a:ea typeface="Arial"/>
                <a:cs typeface="Arial"/>
              </a:defRPr>
            </a:pPr>
            <a:r>
              <a:rPr sz="1050" b="1">
                <a:solidFill>
                  <a:srgbClr val="7CB6FF"/>
                </a:solidFill>
                <a:latin typeface="Arial"/>
                <a:ea typeface="Arial"/>
                <a:cs typeface="Arial"/>
              </a:rPr>
              <a:t>01</a:t>
            </a:r>
          </a:p>
        </p:txBody>
      </p:sp>
      <p:sp>
        <p:nvSpPr>
          <p:cNvPr id="6" name="s10-step-title-0">
            <a:extLst xmlns:a="http://schemas.openxmlformats.org/drawingml/2006/main">
              <a:ext uri="{FF2B5EF4-FFF2-40B4-BE49-F238E27FC236}">
                <a16:creationId xmlns:a16="http://schemas.microsoft.com/office/drawing/2014/main" id="{C0F296F1-97E4-4C17-AD67-E972321D4AF1}"/>
              </a:ext>
            </a:extLst>
          </p:cNvPr>
          <p:cNvSpPr>
            <a:spLocks xmlns:a="http://schemas.openxmlformats.org/drawingml/2006/main" noGrp="1"/>
          </p:cNvSpPr>
          <p:nvPr/>
        </p:nvSpPr>
        <p:spPr>
          <a:xfrm xmlns:a="http://schemas.openxmlformats.org/drawingml/2006/main">
            <a:off x="609600" y="4733925"/>
            <a:ext cx="3105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See the wallet</a:t>
            </a:r>
          </a:p>
        </p:txBody>
      </p:sp>
      <p:sp>
        <p:nvSpPr>
          <p:cNvPr id="7" name="s10-step-copy-0">
            <a:extLst xmlns:a="http://schemas.openxmlformats.org/drawingml/2006/main">
              <a:ext uri="{FF2B5EF4-FFF2-40B4-BE49-F238E27FC236}">
                <a16:creationId xmlns:a16="http://schemas.microsoft.com/office/drawing/2014/main" id="{38A49CAF-0448-42A4-A8E9-55790E10B172}"/>
              </a:ext>
            </a:extLst>
          </p:cNvPr>
          <p:cNvSpPr>
            <a:spLocks xmlns:a="http://schemas.openxmlformats.org/drawingml/2006/main" noGrp="1"/>
          </p:cNvSpPr>
          <p:nvPr/>
        </p:nvSpPr>
        <p:spPr>
          <a:xfrm xmlns:a="http://schemas.openxmlformats.org/drawingml/2006/main">
            <a:off x="609600" y="5334000"/>
            <a:ext cx="3105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9FB1C9"/>
                </a:solidFill>
                <a:latin typeface="Arial"/>
                <a:ea typeface="Arial"/>
                <a:cs typeface="Arial"/>
              </a:defRPr>
            </a:pPr>
            <a:r>
              <a:rPr sz="1275" b="0">
                <a:solidFill>
                  <a:srgbClr val="9FB1C9"/>
                </a:solidFill>
                <a:latin typeface="Arial"/>
                <a:ea typeface="Arial"/>
                <a:cs typeface="Arial"/>
              </a:rPr>
              <a:t>Twenty relationships × five products reveal where observed activity sits below a governed total-wallet interval.</a:t>
            </a:r>
          </a:p>
        </p:txBody>
      </p:sp>
      <p:cxnSp>
        <p:nvCxnSpPr>
          <p:cNvPr id="62" name="s10-step-rule-1"/>
          <p:cNvCxnSpPr/>
          <p:nvPr/>
        </p:nvCxnSpPr>
        <p:spPr>
          <a:xfrm xmlns:a="http://schemas.openxmlformats.org/drawingml/2006/main">
            <a:off x="4210050" y="4143375"/>
            <a:ext cx="3105150" cy="0"/>
          </a:xfrm>
          <a:prstGeom xmlns:a="http://schemas.openxmlformats.org/drawingml/2006/main" prst="straightConnector1">
            <a:avLst/>
          </a:prstGeom>
          <a:ln xmlns:a="http://schemas.openxmlformats.org/drawingml/2006/main" w="38100">
            <a:solidFill>
              <a:srgbClr val="69A7F7"/>
            </a:solidFill>
            <a:prstDash val="solid"/>
          </a:ln>
        </p:spPr>
      </p:cxnSp>
      <p:sp>
        <p:nvSpPr>
          <p:cNvPr id="9" name="s10-step-num-1">
            <a:extLst xmlns:a="http://schemas.openxmlformats.org/drawingml/2006/main">
              <a:ext uri="{FF2B5EF4-FFF2-40B4-BE49-F238E27FC236}">
                <a16:creationId xmlns:a16="http://schemas.microsoft.com/office/drawing/2014/main" id="{32BBD710-970C-4D52-BBB5-B3163C1DFE90}"/>
              </a:ext>
            </a:extLst>
          </p:cNvPr>
          <p:cNvSpPr>
            <a:spLocks xmlns:a="http://schemas.openxmlformats.org/drawingml/2006/main" noGrp="1"/>
          </p:cNvSpPr>
          <p:nvPr/>
        </p:nvSpPr>
        <p:spPr>
          <a:xfrm xmlns:a="http://schemas.openxmlformats.org/drawingml/2006/main">
            <a:off x="4210050" y="4381500"/>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buNone/>
              <a:defRPr sz="1050" b="1">
                <a:solidFill>
                  <a:srgbClr val="7CB6FF"/>
                </a:solidFill>
                <a:latin typeface="Arial"/>
                <a:ea typeface="Arial"/>
                <a:cs typeface="Arial"/>
              </a:defRPr>
            </a:pPr>
            <a:r>
              <a:rPr sz="1050" b="1">
                <a:solidFill>
                  <a:srgbClr val="7CB6FF"/>
                </a:solidFill>
                <a:latin typeface="Arial"/>
                <a:ea typeface="Arial"/>
                <a:cs typeface="Arial"/>
              </a:rPr>
              <a:t>02</a:t>
            </a:r>
          </a:p>
        </p:txBody>
      </p:sp>
      <p:sp>
        <p:nvSpPr>
          <p:cNvPr id="10" name="s10-step-title-1">
            <a:extLst xmlns:a="http://schemas.openxmlformats.org/drawingml/2006/main">
              <a:ext uri="{FF2B5EF4-FFF2-40B4-BE49-F238E27FC236}">
                <a16:creationId xmlns:a16="http://schemas.microsoft.com/office/drawing/2014/main" id="{908A8357-7431-4A00-AA58-99BF52E31C3A}"/>
              </a:ext>
            </a:extLst>
          </p:cNvPr>
          <p:cNvSpPr>
            <a:spLocks xmlns:a="http://schemas.openxmlformats.org/drawingml/2006/main" noGrp="1"/>
          </p:cNvSpPr>
          <p:nvPr/>
        </p:nvSpPr>
        <p:spPr>
          <a:xfrm xmlns:a="http://schemas.openxmlformats.org/drawingml/2006/main">
            <a:off x="4210050" y="4733925"/>
            <a:ext cx="3105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Size the gap</a:t>
            </a:r>
          </a:p>
        </p:txBody>
      </p:sp>
      <p:sp>
        <p:nvSpPr>
          <p:cNvPr id="11" name="s10-step-copy-1">
            <a:extLst xmlns:a="http://schemas.openxmlformats.org/drawingml/2006/main">
              <a:ext uri="{FF2B5EF4-FFF2-40B4-BE49-F238E27FC236}">
                <a16:creationId xmlns:a16="http://schemas.microsoft.com/office/drawing/2014/main" id="{F4604711-2998-4E86-B185-B8DA6E8A1F1F}"/>
              </a:ext>
            </a:extLst>
          </p:cNvPr>
          <p:cNvSpPr>
            <a:spLocks xmlns:a="http://schemas.openxmlformats.org/drawingml/2006/main" noGrp="1"/>
          </p:cNvSpPr>
          <p:nvPr/>
        </p:nvSpPr>
        <p:spPr>
          <a:xfrm xmlns:a="http://schemas.openxmlformats.org/drawingml/2006/main">
            <a:off x="4210050" y="5334000"/>
            <a:ext cx="3105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9FB1C9"/>
                </a:solidFill>
                <a:latin typeface="Arial"/>
                <a:ea typeface="Arial"/>
                <a:cs typeface="Arial"/>
              </a:defRPr>
            </a:pPr>
            <a:r>
              <a:rPr sz="1275" b="0">
                <a:solidFill>
                  <a:srgbClr val="9FB1C9"/>
                </a:solidFill>
                <a:latin typeface="Arial"/>
                <a:ea typeface="Arial"/>
                <a:cs typeface="Arial"/>
              </a:rPr>
              <a:t>Target-share scenarios convert the interval into contestable activity and transparent commercial value.</a:t>
            </a:r>
          </a:p>
        </p:txBody>
      </p:sp>
      <p:cxnSp>
        <p:nvCxnSpPr>
          <p:cNvPr id="66" name="s10-step-rule-2"/>
          <p:cNvCxnSpPr/>
          <p:nvPr/>
        </p:nvCxnSpPr>
        <p:spPr>
          <a:xfrm xmlns:a="http://schemas.openxmlformats.org/drawingml/2006/main">
            <a:off x="7810500" y="4143375"/>
            <a:ext cx="3105150" cy="0"/>
          </a:xfrm>
          <a:prstGeom xmlns:a="http://schemas.openxmlformats.org/drawingml/2006/main" prst="straightConnector1">
            <a:avLst/>
          </a:prstGeom>
          <a:ln xmlns:a="http://schemas.openxmlformats.org/drawingml/2006/main" w="38100">
            <a:solidFill>
              <a:srgbClr val="E2951C"/>
            </a:solidFill>
            <a:prstDash val="solid"/>
          </a:ln>
        </p:spPr>
      </p:cxnSp>
      <p:sp>
        <p:nvSpPr>
          <p:cNvPr id="13" name="s10-step-num-2">
            <a:extLst xmlns:a="http://schemas.openxmlformats.org/drawingml/2006/main">
              <a:ext uri="{FF2B5EF4-FFF2-40B4-BE49-F238E27FC236}">
                <a16:creationId xmlns:a16="http://schemas.microsoft.com/office/drawing/2014/main" id="{74563C8A-6C34-4D43-975D-2FE18893490D}"/>
              </a:ext>
            </a:extLst>
          </p:cNvPr>
          <p:cNvSpPr>
            <a:spLocks xmlns:a="http://schemas.openxmlformats.org/drawingml/2006/main" noGrp="1"/>
          </p:cNvSpPr>
          <p:nvPr/>
        </p:nvSpPr>
        <p:spPr>
          <a:xfrm xmlns:a="http://schemas.openxmlformats.org/drawingml/2006/main">
            <a:off x="7810500" y="4381500"/>
            <a:ext cx="419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l">
              <a:buNone/>
              <a:defRPr sz="1050" b="1">
                <a:solidFill>
                  <a:srgbClr val="7CB6FF"/>
                </a:solidFill>
                <a:latin typeface="Arial"/>
                <a:ea typeface="Arial"/>
                <a:cs typeface="Arial"/>
              </a:defRPr>
            </a:pPr>
            <a:r>
              <a:rPr sz="1050" b="1">
                <a:solidFill>
                  <a:srgbClr val="7CB6FF"/>
                </a:solidFill>
                <a:latin typeface="Arial"/>
                <a:ea typeface="Arial"/>
                <a:cs typeface="Arial"/>
              </a:rPr>
              <a:t>03</a:t>
            </a:r>
          </a:p>
        </p:txBody>
      </p:sp>
      <p:sp>
        <p:nvSpPr>
          <p:cNvPr id="14" name="s10-step-title-2">
            <a:extLst xmlns:a="http://schemas.openxmlformats.org/drawingml/2006/main">
              <a:ext uri="{FF2B5EF4-FFF2-40B4-BE49-F238E27FC236}">
                <a16:creationId xmlns:a16="http://schemas.microsoft.com/office/drawing/2014/main" id="{79B21AD7-B082-4A09-9360-C4401FD36846}"/>
              </a:ext>
            </a:extLst>
          </p:cNvPr>
          <p:cNvSpPr>
            <a:spLocks xmlns:a="http://schemas.openxmlformats.org/drawingml/2006/main" noGrp="1"/>
          </p:cNvSpPr>
          <p:nvPr/>
        </p:nvSpPr>
        <p:spPr>
          <a:xfrm xmlns:a="http://schemas.openxmlformats.org/drawingml/2006/main">
            <a:off x="7810500" y="4733925"/>
            <a:ext cx="3105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Choose the conversation</a:t>
            </a:r>
          </a:p>
        </p:txBody>
      </p:sp>
      <p:sp>
        <p:nvSpPr>
          <p:cNvPr id="15" name="s10-step-copy-2">
            <a:extLst xmlns:a="http://schemas.openxmlformats.org/drawingml/2006/main">
              <a:ext uri="{FF2B5EF4-FFF2-40B4-BE49-F238E27FC236}">
                <a16:creationId xmlns:a16="http://schemas.microsoft.com/office/drawing/2014/main" id="{1742C1B2-A7D0-458D-B9BC-06BABC4F9ABB}"/>
              </a:ext>
            </a:extLst>
          </p:cNvPr>
          <p:cNvSpPr>
            <a:spLocks xmlns:a="http://schemas.openxmlformats.org/drawingml/2006/main" noGrp="1"/>
          </p:cNvSpPr>
          <p:nvPr/>
        </p:nvSpPr>
        <p:spPr>
          <a:xfrm xmlns:a="http://schemas.openxmlformats.org/drawingml/2006/main">
            <a:off x="7810500" y="5334000"/>
            <a:ext cx="31051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9FB1C9"/>
                </a:solidFill>
                <a:latin typeface="Arial"/>
                <a:ea typeface="Arial"/>
                <a:cs typeface="Arial"/>
              </a:defRPr>
            </a:pPr>
            <a:r>
              <a:rPr sz="1275" b="0">
                <a:solidFill>
                  <a:srgbClr val="9FB1C9"/>
                </a:solidFill>
                <a:latin typeface="Arial"/>
                <a:ea typeface="Arial"/>
                <a:cs typeface="Arial"/>
              </a:rPr>
              <a:t>Stakeholder, issue, bundle, dated trigger, feasibility and the next-best question make the gap actionable.</a:t>
            </a:r>
          </a:p>
        </p:txBody>
      </p:sp>
      <p:sp>
        <p:nvSpPr>
          <p:cNvPr id="16" name="s10-close">
            <a:extLst xmlns:a="http://schemas.openxmlformats.org/drawingml/2006/main">
              <a:ext uri="{FF2B5EF4-FFF2-40B4-BE49-F238E27FC236}">
                <a16:creationId xmlns:a16="http://schemas.microsoft.com/office/drawing/2014/main" id="{D790BBC6-FEEE-4DE7-8BE3-C35B4E618C59}"/>
              </a:ext>
            </a:extLst>
          </p:cNvPr>
          <p:cNvSpPr>
            <a:spLocks xmlns:a="http://schemas.openxmlformats.org/drawingml/2006/main" noGrp="1"/>
          </p:cNvSpPr>
          <p:nvPr/>
        </p:nvSpPr>
        <p:spPr>
          <a:xfrm xmlns:a="http://schemas.openxmlformats.org/drawingml/2006/main">
            <a:off x="609600" y="6343650"/>
            <a:ext cx="952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buNone/>
              <a:defRPr sz="1275" b="1">
                <a:solidFill>
                  <a:srgbClr val="FFFFFF"/>
                </a:solidFill>
                <a:latin typeface="Arial"/>
                <a:ea typeface="Arial"/>
                <a:cs typeface="Arial"/>
              </a:defRPr>
            </a:pPr>
            <a:r>
              <a:rPr sz="1275" b="1">
                <a:solidFill>
                  <a:srgbClr val="FFFFFF"/>
                </a:solidFill>
                <a:latin typeface="Arial"/>
                <a:ea typeface="Arial"/>
                <a:cs typeface="Arial"/>
              </a:rPr>
              <a:t>Hackathon ready. Real state OFFLINE_CANDIDATE; rehearsal SHADOW_READY; bank production NOT_PROMOTABLE.</a:t>
            </a:r>
          </a:p>
        </p:txBody>
      </p:sp>
      <p:sp>
        <p:nvSpPr>
          <p:cNvPr id="17" name="s10-team">
            <a:extLst xmlns:a="http://schemas.openxmlformats.org/drawingml/2006/main">
              <a:ext uri="{FF2B5EF4-FFF2-40B4-BE49-F238E27FC236}">
                <a16:creationId xmlns:a16="http://schemas.microsoft.com/office/drawing/2014/main" id="{2DFEA64C-B21E-476D-9DB5-823C313B9721}"/>
              </a:ext>
            </a:extLst>
          </p:cNvPr>
          <p:cNvSpPr>
            <a:spLocks xmlns:a="http://schemas.openxmlformats.org/drawingml/2006/main" noGrp="1"/>
          </p:cNvSpPr>
          <p:nvPr/>
        </p:nvSpPr>
        <p:spPr>
          <a:xfrm xmlns:a="http://schemas.openxmlformats.org/drawingml/2006/main">
            <a:off x="8096250" y="6343650"/>
            <a:ext cx="3486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r">
              <a:buNone/>
              <a:defRPr sz="900" b="1">
                <a:solidFill>
                  <a:srgbClr val="8FA5BD"/>
                </a:solidFill>
                <a:latin typeface="Arial"/>
                <a:ea typeface="Arial"/>
                <a:cs typeface="Arial"/>
              </a:defRPr>
            </a:pPr>
            <a:r>
              <a:rPr sz="900" b="1">
                <a:solidFill>
                  <a:srgbClr val="8FA5BD"/>
                </a:solidFill>
                <a:latin typeface="Arial"/>
                <a:ea typeface="Arial"/>
                <a:cs typeface="Arial"/>
              </a:rPr>
              <a:t>Corporate Wallet Digital Twin | Christopher Koen | V3.2.0</a:t>
            </a:r>
          </a:p>
        </p:txBody>
      </p:sp>
      <p:sp>
        <p:nvSpPr>
          <p:cNvPr id="18" name="s10-repository">
            <a:extLst xmlns:a="http://schemas.openxmlformats.org/drawingml/2006/main">
              <a:ext uri="{FF2B5EF4-FFF2-40B4-BE49-F238E27FC236}">
                <a16:creationId xmlns:a16="http://schemas.microsoft.com/office/drawing/2014/main" id="{9A8C3A41-0D53-41F9-943F-CE1F0E07577A}"/>
              </a:ext>
            </a:extLst>
          </p:cNvPr>
          <p:cNvSpPr>
            <a:spLocks xmlns:a="http://schemas.openxmlformats.org/drawingml/2006/main" noGrp="1"/>
          </p:cNvSpPr>
          <p:nvPr/>
        </p:nvSpPr>
        <p:spPr>
          <a:xfrm xmlns:a="http://schemas.openxmlformats.org/drawingml/2006/main">
            <a:off x="609600" y="6076950"/>
            <a:ext cx="819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3636"/>
          </a:bodyPr>
          <a:lstStyle xmlns:a="http://schemas.openxmlformats.org/drawingml/2006/main"/>
          <a:p xmlns:a="http://schemas.openxmlformats.org/drawingml/2006/main">
            <a:pPr algn="l">
              <a:buNone/>
              <a:defRPr sz="825" b="1">
                <a:solidFill>
                  <a:srgbClr val="7CB6FF"/>
                </a:solidFill>
                <a:latin typeface="Arial"/>
                <a:ea typeface="Arial"/>
                <a:cs typeface="Arial"/>
              </a:defRPr>
            </a:pPr>
            <a:r>
              <a:rPr sz="825" b="1">
                <a:solidFill>
                  <a:srgbClr val="7CB6FF"/>
                </a:solidFill>
                <a:latin typeface="Arial"/>
                <a:ea typeface="Arial"/>
                <a:cs typeface="Arial"/>
              </a:rPr>
              <a:t>CODE: https://github.com/ChristopherJohannesKoen/corporate-wallet-digital-twin-hackathon-2026-public</a:t>
            </a:r>
          </a:p>
        </p:txBody>
      </p:sp>
    </p:spTree>
    <p:extLst>
      <p:ext uri="{BB962C8B-B14F-4D97-AF65-F5344CB8AC3E}">
        <p14:creationId xmlns:p14="http://schemas.microsoft.com/office/powerpoint/2010/main" val="13838946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2026-08-15T13:45:35.2070000Z</dcterms:created>
  <dcterms:modified xsi:type="dcterms:W3CDTF">2026-08-15T13:45:35.2070000Z</dcterms:modified>
</coreProperties>
</file>