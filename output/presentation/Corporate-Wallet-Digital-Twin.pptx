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c38a66b505a4373" /><Relationship Type="http://schemas.openxmlformats.org/officeDocument/2006/relationships/extended-properties" Target="/docProps/app.xml" Id="R90c6a7bbef0249fb" /><Relationship Type="http://schemas.openxmlformats.org/officeDocument/2006/relationships/officeDocument" Target="/ppt/presentation.xml" Id="Rafa6277944df477f" /></Relationships>
</file>

<file path=ppt/presentation.xml><?xml version="1.0" encoding="utf-8"?>
<p:presentation xmlns:p="http://schemas.openxmlformats.org/presentationml/2006/main">
  <p:sldMasterIdLst>
    <p:sldMasterId xmlns:r="http://schemas.openxmlformats.org/officeDocument/2006/relationships" id="2147483648" r:id="R0e6a1ae0dbeb43ec"/>
  </p:sldMasterIdLst>
  <p:notesMasterIdLst>
    <p:notesMasterId xmlns:r="http://schemas.openxmlformats.org/officeDocument/2006/relationships" r:id="R7439a0cc94464d79"/>
  </p:notesMasterIdLst>
  <p:sldIdLst>
    <p:sldId xmlns:r="http://schemas.openxmlformats.org/officeDocument/2006/relationships" id="256" r:id="R7cd4c181f0c24394"/>
    <p:sldId xmlns:r="http://schemas.openxmlformats.org/officeDocument/2006/relationships" id="257" r:id="R203f467eca994407"/>
    <p:sldId xmlns:r="http://schemas.openxmlformats.org/officeDocument/2006/relationships" id="258" r:id="R9af28401cca84ad2"/>
    <p:sldId xmlns:r="http://schemas.openxmlformats.org/officeDocument/2006/relationships" id="259" r:id="R764231041c9947f8"/>
    <p:sldId xmlns:r="http://schemas.openxmlformats.org/officeDocument/2006/relationships" id="260" r:id="Rdc3ea98cb75944a2"/>
    <p:sldId xmlns:r="http://schemas.openxmlformats.org/officeDocument/2006/relationships" id="261" r:id="R9447e146db444dd9"/>
    <p:sldId xmlns:r="http://schemas.openxmlformats.org/officeDocument/2006/relationships" id="262" r:id="R5891d8c8af0f4e3c"/>
    <p:sldId xmlns:r="http://schemas.openxmlformats.org/officeDocument/2006/relationships" id="263" r:id="Reefa20804bd74c25"/>
    <p:sldId xmlns:r="http://schemas.openxmlformats.org/officeDocument/2006/relationships" id="264" r:id="R4e6c6db2e7e24b87"/>
    <p:sldId xmlns:r="http://schemas.openxmlformats.org/officeDocument/2006/relationships" id="265" r:id="Ra5283b935b634ea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ab8c8d3d694607" /><Relationship Type="http://schemas.openxmlformats.org/officeDocument/2006/relationships/slideMaster" Target="/ppt/slideMasters/slideMaster1.xml" Id="R0e6a1ae0dbeb43ec" /><Relationship Type="http://schemas.openxmlformats.org/officeDocument/2006/relationships/notesMaster" Target="/ppt/notesMasters/notesMaster1.xml" Id="R7439a0cc94464d79" /><Relationship Type="http://schemas.openxmlformats.org/officeDocument/2006/relationships/presProps" Target="/ppt/presProps.xml" Id="R27f6cf8e155e4351" /><Relationship Type="http://schemas.openxmlformats.org/officeDocument/2006/relationships/tableStyles" Target="/ppt/tableStyles.xml" Id="R2aadb310256a4861" /><Relationship Type="http://schemas.openxmlformats.org/officeDocument/2006/relationships/slide" Target="/ppt/slides/slide1.xml" Id="R7cd4c181f0c24394" /><Relationship Type="http://schemas.openxmlformats.org/officeDocument/2006/relationships/slide" Target="/ppt/slides/slide2.xml" Id="R203f467eca994407" /><Relationship Type="http://schemas.openxmlformats.org/officeDocument/2006/relationships/slide" Target="/ppt/slides/slide3.xml" Id="R9af28401cca84ad2" /><Relationship Type="http://schemas.openxmlformats.org/officeDocument/2006/relationships/slide" Target="/ppt/slides/slide4.xml" Id="R764231041c9947f8" /><Relationship Type="http://schemas.openxmlformats.org/officeDocument/2006/relationships/slide" Target="/ppt/slides/slide5.xml" Id="Rdc3ea98cb75944a2" /><Relationship Type="http://schemas.openxmlformats.org/officeDocument/2006/relationships/slide" Target="/ppt/slides/slide6.xml" Id="R9447e146db444dd9" /><Relationship Type="http://schemas.openxmlformats.org/officeDocument/2006/relationships/slide" Target="/ppt/slides/slide7.xml" Id="R5891d8c8af0f4e3c" /><Relationship Type="http://schemas.openxmlformats.org/officeDocument/2006/relationships/slide" Target="/ppt/slides/slide8.xml" Id="Reefa20804bd74c25" /><Relationship Type="http://schemas.openxmlformats.org/officeDocument/2006/relationships/slide" Target="/ppt/slides/slide9.xml" Id="R4e6c6db2e7e24b87" /><Relationship Type="http://schemas.openxmlformats.org/officeDocument/2006/relationships/slide" Target="/ppt/slides/slide10.xml" Id="Ra5283b935b634e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3ee8093c53548f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e9bcd6b558e4908" /><Relationship Type="http://schemas.openxmlformats.org/officeDocument/2006/relationships/notesMaster" Target="/ppt/notesMasters/notesMaster1.xml" Id="Rac824200dfa4462f" /></Relationships>
</file>

<file path=ppt/notesSlides/_rels/notesSlide2.xml.rels>&#65279;<?xml version="1.0" encoding="utf-8"?><Relationships xmlns="http://schemas.openxmlformats.org/package/2006/relationships"><Relationship Type="http://schemas.openxmlformats.org/officeDocument/2006/relationships/slide" Target="/ppt/slides/slide2.xml" Id="Rfadff2a7773e44f1" /><Relationship Type="http://schemas.openxmlformats.org/officeDocument/2006/relationships/notesMaster" Target="/ppt/notesMasters/notesMaster1.xml" Id="R0186a987bd684ce6" /></Relationships>
</file>

<file path=ppt/notesSlides/_rels/notesSlide3.xml.rels>&#65279;<?xml version="1.0" encoding="utf-8"?><Relationships xmlns="http://schemas.openxmlformats.org/package/2006/relationships"><Relationship Type="http://schemas.openxmlformats.org/officeDocument/2006/relationships/slide" Target="/ppt/slides/slide3.xml" Id="Rc8e6a6c55d1b4321" /><Relationship Type="http://schemas.openxmlformats.org/officeDocument/2006/relationships/notesMaster" Target="/ppt/notesMasters/notesMaster1.xml" Id="Reed3575a2f454340" /></Relationships>
</file>

<file path=ppt/notesSlides/_rels/notesSlide4.xml.rels>&#65279;<?xml version="1.0" encoding="utf-8"?><Relationships xmlns="http://schemas.openxmlformats.org/package/2006/relationships"><Relationship Type="http://schemas.openxmlformats.org/officeDocument/2006/relationships/slide" Target="/ppt/slides/slide4.xml" Id="R6c133509b1d14666" /><Relationship Type="http://schemas.openxmlformats.org/officeDocument/2006/relationships/notesMaster" Target="/ppt/notesMasters/notesMaster1.xml" Id="R78c0d92ebfad47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1b2b3979de4d21" /><Relationship Type="http://schemas.openxmlformats.org/officeDocument/2006/relationships/notesMaster" Target="/ppt/notesMasters/notesMaster1.xml" Id="R8b31134092a64007" /></Relationships>
</file>

<file path=ppt/notesSlides/_rels/notesSlide6.xml.rels>&#65279;<?xml version="1.0" encoding="utf-8"?><Relationships xmlns="http://schemas.openxmlformats.org/package/2006/relationships"><Relationship Type="http://schemas.openxmlformats.org/officeDocument/2006/relationships/slide" Target="/ppt/slides/slide6.xml" Id="Rc3db4190599b4624" /><Relationship Type="http://schemas.openxmlformats.org/officeDocument/2006/relationships/notesMaster" Target="/ppt/notesMasters/notesMaster1.xml" Id="Rb66ac0b26af244a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82482c0341e4af1" /><Relationship Type="http://schemas.openxmlformats.org/officeDocument/2006/relationships/notesMaster" Target="/ppt/notesMasters/notesMaster1.xml" Id="Raebf11d77d944b32" /></Relationships>
</file>

<file path=ppt/notesSlides/_rels/notesSlide8.xml.rels>&#65279;<?xml version="1.0" encoding="utf-8"?><Relationships xmlns="http://schemas.openxmlformats.org/package/2006/relationships"><Relationship Type="http://schemas.openxmlformats.org/officeDocument/2006/relationships/slide" Target="/ppt/slides/slide8.xml" Id="Rc3930a481ab94361" /><Relationship Type="http://schemas.openxmlformats.org/officeDocument/2006/relationships/notesMaster" Target="/ppt/notesMasters/notesMaster1.xml" Id="R7aea9828983044c7" /></Relationships>
</file>

<file path=ppt/notesSlides/_rels/notesSlide9.xml.rels>&#65279;<?xml version="1.0" encoding="utf-8"?><Relationships xmlns="http://schemas.openxmlformats.org/package/2006/relationships"><Relationship Type="http://schemas.openxmlformats.org/officeDocument/2006/relationships/slide" Target="/ppt/slides/slide9.xml" Id="Rcc6c6769585a4f74" /><Relationship Type="http://schemas.openxmlformats.org/officeDocument/2006/relationships/notesMaster" Target="/ppt/notesMasters/notesMaster1.xml" Id="R8f9623dc857f48f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ed403f3ebfa4b7c" /><Relationship Type="http://schemas.openxmlformats.org/officeDocument/2006/relationships/notesMaster" Target="/ppt/notesMasters/notesMaster1.xml" Id="R17def2f9f318459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contestable scenario contribution. Teal underlines mark the fifteen approved E1 cells; amber marks the eighty-five prior-led cells. Judges can toggle observed activity, posterior wallet, estimated share, contestable gap and evidence status.</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outputs/audit/Public-Facts-Anchor-Register-V3.1.1.xlsx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It resolves a role, problem, solution bundle, engagement window and next-best question from the wallet gap. Missing credit, conduct, operational or integration feasibility converts the action into discovery; it never silently passes.</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The same sanitized pack is prepared for BHP, Glencore and Shoprite across OpenAI, Anthropic and Google. Because no fresh rotated credential and explicit acknowledgement were supplied, all nine target runs remain NOT_EXECUTED. Deterministic briefs remain visible and accepted; no live claim is fabricated.</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what the implementation proves. Mechanical checks validate data and equations. A known-truth synthetic panel assesses interval behavior. Posterior and ranking diagnostics are predictive model evidence. E3 observations, approved economics, live-provider adjudication and causal RM outcomes remain external gates.</a:t>
            </a:r>
          </a:p>
          <a:p xmlns:a="http://schemas.openxmlformats.org/drawingml/2006/main">
            <a:r>
              <a:t/>
            </a:r>
          </a:p>
          <a:p xmlns:a="http://schemas.openxmlformats.org/drawingml/2006/main">
            <a:r>
              <a:t>[Sources]</a:t>
            </a:r>
          </a:p>
          <a:p xmlns:a="http://schemas.openxmlformats.org/drawingml/2006/main">
            <a:r>
              <a:t>- outputs/v2_validation/measurement_policy_sensitivity.json</a:t>
            </a:r>
          </a:p>
          <a:p xmlns:a="http://schemas.openxmlformats.org/drawingml/2006/main">
            <a:r>
              <a:t>- outputs/v2_validation/offline_validation_report.json</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commercial story and honest boundary. V3.1.1 is a reproducible hackathon submission once the artifact and public-access gates pass. Bank production stays NOT_PROMOTABLE until representative external calibration, approved bank economics and controls, live provider adjudication and qualified RM outcomes exist.</a:t>
            </a:r>
          </a:p>
          <a:p xmlns:a="http://schemas.openxmlformats.org/drawingml/2006/main">
            <a:r>
              <a:t/>
            </a:r>
          </a:p>
          <a:p xmlns:a="http://schemas.openxmlformats.org/drawingml/2006/main">
            <a:r>
              <a:t>[Sources]</a:t>
            </a:r>
          </a:p>
          <a:p xmlns:a="http://schemas.openxmlformats.org/drawingml/2006/main">
            <a:r>
              <a:t>- docs/v31_implementation_status.md</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042a9e939f04b5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e9e282245be4fbe" /><Relationship Type="http://schemas.openxmlformats.org/officeDocument/2006/relationships/slideLayout" Target="/ppt/slideLayouts/slideLayout1.xml" Id="R82c7dfec022d475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2c7dfec022d475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44e9b97f1574c7e" /><Relationship Type="http://schemas.openxmlformats.org/officeDocument/2006/relationships/image" Target="/ppt/media/image.png" Id="Rae945cacb570493c" /><Relationship Type="http://schemas.openxmlformats.org/officeDocument/2006/relationships/notesSlide" Target="/ppt/notesSlides/notesSlide1.xml" Id="R3a1bb871393343b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4a6af98c43e4664" /><Relationship Type="http://schemas.openxmlformats.org/officeDocument/2006/relationships/notesSlide" Target="/ppt/notesSlides/notesSlide2.xml" Id="R71e6da7ee88a4b2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3e791d6b2a44cd6" /><Relationship Type="http://schemas.openxmlformats.org/officeDocument/2006/relationships/notesSlide" Target="/ppt/notesSlides/notesSlide3.xml" Id="R176399ff236140c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c66576458744504" /><Relationship Type="http://schemas.openxmlformats.org/officeDocument/2006/relationships/chart" Target="/ppt/slides/charts/chart1.xml" Id="R0fbd3b2c23b74aa2" /><Relationship Type="http://schemas.openxmlformats.org/officeDocument/2006/relationships/notesSlide" Target="/ppt/notesSlides/notesSlide4.xml" Id="R9edbb5dd6bfe4f6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8dac42e235849fc" /><Relationship Type="http://schemas.openxmlformats.org/officeDocument/2006/relationships/image" Target="/ppt/media/image2.png" Id="Rf80bbded097e405f" /><Relationship Type="http://schemas.openxmlformats.org/officeDocument/2006/relationships/notesSlide" Target="/ppt/notesSlides/notesSlide5.xml" Id="R685c4dcffde045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270d50064814f3d" /><Relationship Type="http://schemas.openxmlformats.org/officeDocument/2006/relationships/notesSlide" Target="/ppt/notesSlides/notesSlide6.xml" Id="Rd7a4733e2df14a9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4e33ff7a1a04d29" /><Relationship Type="http://schemas.openxmlformats.org/officeDocument/2006/relationships/notesSlide" Target="/ppt/notesSlides/notesSlide7.xml" Id="Rf5d9001ec98942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f9ef32ef772445e" /><Relationship Type="http://schemas.openxmlformats.org/officeDocument/2006/relationships/notesSlide" Target="/ppt/notesSlides/notesSlide8.xml" Id="R89498c0b8ac2421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09a0a8e404d4e94" /><Relationship Type="http://schemas.openxmlformats.org/officeDocument/2006/relationships/notesSlide" Target="/ppt/notesSlides/notesSlide9.xml" Id="Rb246fcbe699b417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770c0e3a8094333" /><Relationship Type="http://schemas.openxmlformats.org/officeDocument/2006/relationships/notesSlide" Target="/ppt/notesSlides/notesSlide10.xml" Id="Rd57a9a60ab36438c"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ae945cacb570493c"/>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V3.1.1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V3.1.1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0fbd3b2c23b74aa2"/>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heatmap makes the latent opportunity actionable</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71D95F7E-7CB4-4974-9A17-1C177BB5F6EA}"/>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f80bbded097e405f"/>
          <a:stretch xmlns:a="http://schemas.openxmlformats.org/drawingml/2006/main"/>
        </p:blipFill>
        <p:spPr>
          <a:xfrm xmlns:a="http://schemas.openxmlformats.org/drawingml/2006/main">
            <a:off x="1991798" y="1524000"/>
            <a:ext cx="8208404"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 WHAT TO ASK</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36.0%</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90-day baseline</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Transparent—not calibrated hazard</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primary VOI question</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Only if it can change the decision</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 / 3</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showcase fallback briefs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BHP · Glencore · Shoprite; deterministic and validated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9</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comparative target runs</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 three clients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live runs executed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Fresh rotated credentials and acknowledgement absent</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Resolve exact provider model; no silent substitution</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Send approved public evidence + minimal synthetic aggregates only</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Validate schema, every number, sign, currency and citation</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Provider failure returns the deterministic brief</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2"/>
          </a:bodyPr>
          <a:lstStyle xmlns:a="http://schemas.openxmlformats.org/drawingml/2006/main"/>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Strong mechanics,</a:t>
            </a:r>
          </a:p>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not empirical E3 accuracy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The report records all nine runs as NOT_EXECUTED. It will not present provider access failure as successful evaluation.</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VALIDATION HIERARCHY</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Each claim earns the strongest label its evidence permits</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Mechanical</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66"/>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Contracts, identities, arithmetic, PIT lineage</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Known truth</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7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Synthetic panel coverage, width and CRPS</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Predictive</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03"/>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Posterior intervals and ranking stability</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External</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09"/>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E3 calibration, approved rates and live eval</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Causal</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2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Qualified randomized RM outcome history</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wallet identities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 ≥ A; q=A/T; G=max(q*T−A,0)</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88.0%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base 90% coverage</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Known-truth E1 weight 0.35 arm</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first-rank frequency</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10,000-draw global benchmark</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measured-share claims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E3 multibank observation exists</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Find the gap.</a:t>
            </a:r>
          </a:p>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Plan the conversation.</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370"/>
          </a:bodyPr>
          <a:lstStyle xmlns:a="http://schemas.openxmlformats.org/drawingml/2006/main"/>
          <a:p xmlns:a="http://schemas.openxmlformats.org/drawingml/2006/main">
            <a:pPr algn="l">
              <a:buNone/>
              <a:defRPr sz="1800" b="0">
                <a:solidFill>
                  <a:srgbClr val="C7D5E8"/>
                </a:solidFill>
                <a:latin typeface="Arial"/>
                <a:ea typeface="Arial"/>
                <a:cs typeface="Arial"/>
              </a:defRPr>
            </a:pPr>
            <a:r>
              <a:rPr sz="1800" b="0">
                <a:solidFill>
                  <a:srgbClr val="C7D5E8"/>
                </a:solidFill>
                <a:latin typeface="Arial"/>
                <a:ea typeface="Arial"/>
                <a:cs typeface="Arial"/>
              </a:rPr>
              <a:t>V3.1.1 converts partial bank observation into a governed wallet interval, a commercial scenario and a relationship action—while preserving every evidence boundary.</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Demonstrate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approval-authoritative anchors, intervals and contestable gaps.</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11"/>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Run eight discovery conversations</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Decision Twin adds stakeholder, business issue, bundle, timing, feasibility and the highest-VOI question.</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Earn production</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E3 panel, bank rates and controls, live provider adjudication, RM pilot and randomized outcomes.</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Submission mechanics validated; live-provider proof remains an explicit gate. Bank-production claims stay fail-closed.</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V3.1.1</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2026-08-12T20:06:10.9430000Z</dcterms:created>
  <dcterms:modified xsi:type="dcterms:W3CDTF">2026-08-12T20:06:10.9430000Z</dcterms:modified>
</coreProperties>
</file>