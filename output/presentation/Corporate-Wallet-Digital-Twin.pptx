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ba13a4f85b34945" /><Relationship Type="http://schemas.openxmlformats.org/officeDocument/2006/relationships/extended-properties" Target="/docProps/app.xml" Id="R3c3cf68437eb43a9" /><Relationship Type="http://schemas.openxmlformats.org/officeDocument/2006/relationships/officeDocument" Target="/ppt/presentation.xml" Id="Rca5f528c6f494914" /></Relationships>
</file>

<file path=ppt/presentation.xml><?xml version="1.0" encoding="utf-8"?>
<p:presentation xmlns:p="http://schemas.openxmlformats.org/presentationml/2006/main">
  <p:sldMasterIdLst>
    <p:sldMasterId xmlns:r="http://schemas.openxmlformats.org/officeDocument/2006/relationships" id="2147483648" r:id="R8daa969c1e7e49ac"/>
  </p:sldMasterIdLst>
  <p:notesMasterIdLst>
    <p:notesMasterId xmlns:r="http://schemas.openxmlformats.org/officeDocument/2006/relationships" r:id="Rdccb669c3c2e4ee7"/>
  </p:notesMasterIdLst>
  <p:sldIdLst>
    <p:sldId xmlns:r="http://schemas.openxmlformats.org/officeDocument/2006/relationships" id="256" r:id="R8211039cc12c425f"/>
    <p:sldId xmlns:r="http://schemas.openxmlformats.org/officeDocument/2006/relationships" id="257" r:id="Rbb5315d7e4f64ef6"/>
    <p:sldId xmlns:r="http://schemas.openxmlformats.org/officeDocument/2006/relationships" id="258" r:id="Rde9daf82df5a465f"/>
    <p:sldId xmlns:r="http://schemas.openxmlformats.org/officeDocument/2006/relationships" id="259" r:id="R78e34e27d4a44ade"/>
    <p:sldId xmlns:r="http://schemas.openxmlformats.org/officeDocument/2006/relationships" id="260" r:id="R4022ec93010d4e53"/>
    <p:sldId xmlns:r="http://schemas.openxmlformats.org/officeDocument/2006/relationships" id="261" r:id="R3bdac356dbcf4fed"/>
    <p:sldId xmlns:r="http://schemas.openxmlformats.org/officeDocument/2006/relationships" id="262" r:id="R0d18da680fec4ef0"/>
    <p:sldId xmlns:r="http://schemas.openxmlformats.org/officeDocument/2006/relationships" id="263" r:id="Rb0e958ef32364b61"/>
    <p:sldId xmlns:r="http://schemas.openxmlformats.org/officeDocument/2006/relationships" id="264" r:id="Re1a517219cef4b17"/>
    <p:sldId xmlns:r="http://schemas.openxmlformats.org/officeDocument/2006/relationships" id="265" r:id="Rad77c17a5586475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5beb34ce85a4f34" /><Relationship Type="http://schemas.openxmlformats.org/officeDocument/2006/relationships/slideMaster" Target="/ppt/slideMasters/slideMaster1.xml" Id="R8daa969c1e7e49ac" /><Relationship Type="http://schemas.openxmlformats.org/officeDocument/2006/relationships/notesMaster" Target="/ppt/notesMasters/notesMaster1.xml" Id="Rdccb669c3c2e4ee7" /><Relationship Type="http://schemas.openxmlformats.org/officeDocument/2006/relationships/presProps" Target="/ppt/presProps.xml" Id="R328ed259979b4c3e" /><Relationship Type="http://schemas.openxmlformats.org/officeDocument/2006/relationships/tableStyles" Target="/ppt/tableStyles.xml" Id="R479aafbb3dbf4e36" /><Relationship Type="http://schemas.openxmlformats.org/officeDocument/2006/relationships/slide" Target="/ppt/slides/slide1.xml" Id="R8211039cc12c425f" /><Relationship Type="http://schemas.openxmlformats.org/officeDocument/2006/relationships/slide" Target="/ppt/slides/slide2.xml" Id="Rbb5315d7e4f64ef6" /><Relationship Type="http://schemas.openxmlformats.org/officeDocument/2006/relationships/slide" Target="/ppt/slides/slide3.xml" Id="Rde9daf82df5a465f" /><Relationship Type="http://schemas.openxmlformats.org/officeDocument/2006/relationships/slide" Target="/ppt/slides/slide4.xml" Id="R78e34e27d4a44ade" /><Relationship Type="http://schemas.openxmlformats.org/officeDocument/2006/relationships/slide" Target="/ppt/slides/slide5.xml" Id="R4022ec93010d4e53" /><Relationship Type="http://schemas.openxmlformats.org/officeDocument/2006/relationships/slide" Target="/ppt/slides/slide6.xml" Id="R3bdac356dbcf4fed" /><Relationship Type="http://schemas.openxmlformats.org/officeDocument/2006/relationships/slide" Target="/ppt/slides/slide7.xml" Id="R0d18da680fec4ef0" /><Relationship Type="http://schemas.openxmlformats.org/officeDocument/2006/relationships/slide" Target="/ppt/slides/slide8.xml" Id="Rb0e958ef32364b61" /><Relationship Type="http://schemas.openxmlformats.org/officeDocument/2006/relationships/slide" Target="/ppt/slides/slide9.xml" Id="Re1a517219cef4b17" /><Relationship Type="http://schemas.openxmlformats.org/officeDocument/2006/relationships/slide" Target="/ppt/slides/slide10.xml" Id="Rad77c17a5586475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ac74ec1a1ed409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ed00113a28c4926" /><Relationship Type="http://schemas.openxmlformats.org/officeDocument/2006/relationships/notesMaster" Target="/ppt/notesMasters/notesMaster1.xml" Id="R973b99447a684800"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f54148a46f4d69" /><Relationship Type="http://schemas.openxmlformats.org/officeDocument/2006/relationships/notesMaster" Target="/ppt/notesMasters/notesMaster1.xml" Id="R196c185c189b4a1a" /></Relationships>
</file>

<file path=ppt/notesSlides/_rels/notesSlide3.xml.rels>&#65279;<?xml version="1.0" encoding="utf-8"?><Relationships xmlns="http://schemas.openxmlformats.org/package/2006/relationships"><Relationship Type="http://schemas.openxmlformats.org/officeDocument/2006/relationships/slide" Target="/ppt/slides/slide3.xml" Id="Rfbb1c9a640f745dc" /><Relationship Type="http://schemas.openxmlformats.org/officeDocument/2006/relationships/notesMaster" Target="/ppt/notesMasters/notesMaster1.xml" Id="R56413b4a5a724b70" /></Relationships>
</file>

<file path=ppt/notesSlides/_rels/notesSlide4.xml.rels>&#65279;<?xml version="1.0" encoding="utf-8"?><Relationships xmlns="http://schemas.openxmlformats.org/package/2006/relationships"><Relationship Type="http://schemas.openxmlformats.org/officeDocument/2006/relationships/slide" Target="/ppt/slides/slide4.xml" Id="R41b74ff2f4e34866" /><Relationship Type="http://schemas.openxmlformats.org/officeDocument/2006/relationships/notesMaster" Target="/ppt/notesMasters/notesMaster1.xml" Id="Rd9c45b3bf8dd4d8a" /></Relationships>
</file>

<file path=ppt/notesSlides/_rels/notesSlide5.xml.rels>&#65279;<?xml version="1.0" encoding="utf-8"?><Relationships xmlns="http://schemas.openxmlformats.org/package/2006/relationships"><Relationship Type="http://schemas.openxmlformats.org/officeDocument/2006/relationships/slide" Target="/ppt/slides/slide5.xml" Id="R7207a932c867474f" /><Relationship Type="http://schemas.openxmlformats.org/officeDocument/2006/relationships/notesMaster" Target="/ppt/notesMasters/notesMaster1.xml" Id="Rcecf3ffcb0b4443a" /></Relationships>
</file>

<file path=ppt/notesSlides/_rels/notesSlide6.xml.rels>&#65279;<?xml version="1.0" encoding="utf-8"?><Relationships xmlns="http://schemas.openxmlformats.org/package/2006/relationships"><Relationship Type="http://schemas.openxmlformats.org/officeDocument/2006/relationships/slide" Target="/ppt/slides/slide6.xml" Id="Rfe3c55d62bf64d65" /><Relationship Type="http://schemas.openxmlformats.org/officeDocument/2006/relationships/notesMaster" Target="/ppt/notesMasters/notesMaster1.xml" Id="R50859545be014b7c" /></Relationships>
</file>

<file path=ppt/notesSlides/_rels/notesSlide7.xml.rels>&#65279;<?xml version="1.0" encoding="utf-8"?><Relationships xmlns="http://schemas.openxmlformats.org/package/2006/relationships"><Relationship Type="http://schemas.openxmlformats.org/officeDocument/2006/relationships/slide" Target="/ppt/slides/slide7.xml" Id="R6972a3e3252b432b" /><Relationship Type="http://schemas.openxmlformats.org/officeDocument/2006/relationships/notesMaster" Target="/ppt/notesMasters/notesMaster1.xml" Id="Ra6159d2c9f0f4209" /></Relationships>
</file>

<file path=ppt/notesSlides/_rels/notesSlide8.xml.rels>&#65279;<?xml version="1.0" encoding="utf-8"?><Relationships xmlns="http://schemas.openxmlformats.org/package/2006/relationships"><Relationship Type="http://schemas.openxmlformats.org/officeDocument/2006/relationships/slide" Target="/ppt/slides/slide8.xml" Id="Ra43299b558244318" /><Relationship Type="http://schemas.openxmlformats.org/officeDocument/2006/relationships/notesMaster" Target="/ppt/notesMasters/notesMaster1.xml" Id="R101ac8debb4d4faf" /></Relationships>
</file>

<file path=ppt/notesSlides/_rels/notesSlide9.xml.rels>&#65279;<?xml version="1.0" encoding="utf-8"?><Relationships xmlns="http://schemas.openxmlformats.org/package/2006/relationships"><Relationship Type="http://schemas.openxmlformats.org/officeDocument/2006/relationships/slide" Target="/ppt/slides/slide9.xml" Id="Rdf2cca4c930942c0" /><Relationship Type="http://schemas.openxmlformats.org/officeDocument/2006/relationships/notesMaster" Target="/ppt/notesMasters/notesMaster1.xml" Id="Rdbd915d66cf34a3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ba3cdab038d4c8f" /><Relationship Type="http://schemas.openxmlformats.org/officeDocument/2006/relationships/notesMaster" Target="/ppt/notesMasters/notesMaster1.xml" Id="Rfe929c6496b440e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commercial answer: Syn Bank observes only its own activity. The solution estimates an interval for total client wallet and bank share, sizes the contestable gap, then turns it into an evidence-backed relationship-manager conversation.</a:t>
            </a:r>
          </a:p>
          <a:p xmlns:a="http://schemas.openxmlformats.org/drawingml/2006/main">
            <a:r>
              <a:t/>
            </a:r>
          </a:p>
          <a:p xmlns:a="http://schemas.openxmlformats.org/drawingml/2006/main">
            <a:r>
              <a:t>[Sources]</a:t>
            </a:r>
          </a:p>
          <a:p xmlns:a="http://schemas.openxmlformats.org/drawingml/2006/main">
            <a:r>
              <a:t>- dashboard/app/data/wallet-v311-fixture.json</a:t>
            </a:r>
          </a:p>
          <a:p xmlns:a="http://schemas.openxmlformats.org/drawingml/2006/main">
            <a:r>
              <a:t>- outputs/v2_validation/measurement_policy_sensitivity.json</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core identification problem using A=qT. A is observed in supplied Syn Bank activity; T and q are not. Approved public anchors can narrow plausible T, while governed priors form a posterior interval. Nothing in this chain directly observes competitor transactions.</a:t>
            </a:r>
          </a:p>
          <a:p xmlns:a="http://schemas.openxmlformats.org/drawingml/2006/main">
            <a:r>
              <a:t/>
            </a:r>
          </a:p>
          <a:p xmlns:a="http://schemas.openxmlformats.org/drawingml/2006/main">
            <a:r>
              <a:t>[Sources]</a:t>
            </a:r>
          </a:p>
          <a:p xmlns:a="http://schemas.openxmlformats.org/drawingml/2006/main">
            <a:r>
              <a:t>- src/wallet_twin_v2/wallet_model.py</a:t>
            </a:r>
          </a:p>
          <a:p xmlns:a="http://schemas.openxmlformats.org/drawingml/2006/main">
            <a:r>
              <a:t>- src/wallet_twin_v2/measurement_policy.py</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supplied-data chain. Transaction legs produce Collections, Payments and a liquidity-flow opportunity proxy. Cross-border activity provides an FX exposure proxy; instruments provide Trade Finance activity. The conceptual problem statement mentions fifty clients, while the supplied archive contains twenty relationships; all twenty are modelled.</a:t>
            </a:r>
          </a:p>
          <a:p xmlns:a="http://schemas.openxmlformats.org/drawingml/2006/main">
            <a:r>
              <a:t/>
            </a:r>
          </a:p>
          <a:p xmlns:a="http://schemas.openxmlformats.org/drawingml/2006/main">
            <a:r>
              <a:t>[Sources]</a:t>
            </a:r>
          </a:p>
          <a:p xmlns:a="http://schemas.openxmlformats.org/drawingml/2006/main">
            <a:r>
              <a:t>- notebooks/01_wallet_twin_demo.ipynb</a:t>
            </a:r>
          </a:p>
          <a:p xmlns:a="http://schemas.openxmlformats.org/drawingml/2006/main">
            <a:r>
              <a:t>- output/notebook/01_wallet_twin_demo.html</a:t>
            </a:r>
          </a:p>
          <a:p xmlns:a="http://schemas.openxmlformats.org/drawingml/2006/main">
            <a:r>
              <a:t>- dashboard/app/data/wallet-v311-fixture.json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Approval is authoritative. Thirty-one approved facts activate fifteen client–product anchors for BHP, Glencore and Shoprite; fifty-one candidates remain pending and cannot alter estimation. The active E1 pooling weight is 0.35, with 0.20 and 0.50 evaluated as sensitivity arms.</a:t>
            </a:r>
          </a:p>
          <a:p xmlns:a="http://schemas.openxmlformats.org/drawingml/2006/main">
            <a:r>
              <a:t/>
            </a:r>
          </a:p>
          <a:p xmlns:a="http://schemas.openxmlformats.org/drawingml/2006/main">
            <a:r>
              <a:t>[Sources]</a:t>
            </a:r>
          </a:p>
          <a:p xmlns:a="http://schemas.openxmlformats.org/drawingml/2006/main">
            <a:r>
              <a:t>- outputs/v2_validation/public_evidence_qa.json</a:t>
            </a:r>
          </a:p>
          <a:p xmlns:a="http://schemas.openxmlformats.org/drawingml/2006/main">
            <a:r>
              <a:t>- outputs/v2_validation/measurement_policy_sensitivity.json</a:t>
            </a:r>
          </a:p>
          <a:p xmlns:a="http://schemas.openxmlformats.org/drawingml/2006/main">
            <a:r>
              <a:t>- src/wallet_twin_v2/measurement_policy.py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actual rendered Wallet Portfolio view. The default colour encodes contestable scenario contribution. Teal underlines mark the fifteen approved E1 cells; amber marks the eighty-five prior-led cells. Judges can toggle observed activity, posterior wallet, estimated share, contestable gap and evidence status.</a:t>
            </a:r>
          </a:p>
          <a:p xmlns:a="http://schemas.openxmlformats.org/drawingml/2006/main">
            <a:r>
              <a:t/>
            </a:r>
          </a:p>
          <a:p xmlns:a="http://schemas.openxmlformats.org/drawingml/2006/main">
            <a:r>
              <a:t>[Sources]</a:t>
            </a:r>
          </a:p>
          <a:p xmlns:a="http://schemas.openxmlformats.org/drawingml/2006/main">
            <a:r>
              <a:t>- dashboard/app/Dashboard.tsx</a:t>
            </a:r>
          </a:p>
          <a:p xmlns:a="http://schemas.openxmlformats.org/drawingml/2006/main">
            <a:r>
              <a:t>- dashboard/app/data/wallet-v311-fixture.json</a:t>
            </a:r>
          </a:p>
          <a:p xmlns:a="http://schemas.openxmlformats.org/drawingml/2006/main">
            <a:r>
              <a:t>- src/wallet_twin_v31/wallet_portfolio.py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the BHP Trade Finance cell. Syn Bank observes A=R1.445bn. Approved issuer accounting anchors constrain the total-wallet measurement; the posterior T spans R5.15bn–R22.08bn, implying q=6.5%–28.0%. A 40% target-share scenario creates a median contestable activity gap of R2.126bn and R7.367m representative scenario contribution.</a:t>
            </a:r>
          </a:p>
          <a:p xmlns:a="http://schemas.openxmlformats.org/drawingml/2006/main">
            <a:r>
              <a:t/>
            </a:r>
          </a:p>
          <a:p xmlns:a="http://schemas.openxmlformats.org/drawingml/2006/main">
            <a:r>
              <a:t>[Sources]</a:t>
            </a:r>
          </a:p>
          <a:p xmlns:a="http://schemas.openxmlformats.org/drawingml/2006/main">
            <a:r>
              <a:t>- dashboard/app/data/wallet-v311-fixture.json — E01-trade-finance</a:t>
            </a:r>
          </a:p>
          <a:p xmlns:a="http://schemas.openxmlformats.org/drawingml/2006/main">
            <a:r>
              <a:t>- BHP Annual Report 2025 — approved facts BHP-2025-COST, INV and AP</a:t>
            </a:r>
          </a:p>
          <a:p xmlns:a="http://schemas.openxmlformats.org/drawingml/2006/main">
            <a:r>
              <a:t>- outputs/audit/Public-Facts-Anchor-Register-V3.1.1.xlsx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Decision Twin remains the action layer, not a replacement for share-of-wallet estimation. It resolves a role, problem, solution bundle, engagement window and next-best question from the wallet gap. Missing credit, conduct, operational or integration feasibility converts the action into discovery; it never silently passes.</a:t>
            </a:r>
          </a:p>
          <a:p xmlns:a="http://schemas.openxmlformats.org/drawingml/2006/main">
            <a:r>
              <a:t/>
            </a:r>
          </a:p>
          <a:p xmlns:a="http://schemas.openxmlformats.org/drawingml/2006/main">
            <a:r>
              <a:t>[Sources]</a:t>
            </a:r>
          </a:p>
          <a:p xmlns:a="http://schemas.openxmlformats.org/drawingml/2006/main">
            <a:r>
              <a:t>- outputs/v31/v31_coverage_plan.json</a:t>
            </a:r>
          </a:p>
          <a:p xmlns:a="http://schemas.openxmlformats.org/drawingml/2006/main">
            <a:r>
              <a:t>- src/wallet_twin_v31/conversations.py</a:t>
            </a:r>
          </a:p>
          <a:p xmlns:a="http://schemas.openxmlformats.org/drawingml/2006/main">
            <a:r>
              <a:t>- src/wallet_twin_v31/questions.py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GenAI is a bounded narrator. The same sanitized pack is prepared for BHP, Glencore and Shoprite across OpenAI, Anthropic and Google. Because no fresh rotated credential and explicit acknowledgement were supplied, all nine target runs remain NOT_EXECUTED. Deterministic briefs remain visible and accepted; no live claim is fabricated.</a:t>
            </a:r>
          </a:p>
          <a:p xmlns:a="http://schemas.openxmlformats.org/drawingml/2006/main">
            <a:r>
              <a:t/>
            </a:r>
          </a:p>
          <a:p xmlns:a="http://schemas.openxmlformats.org/drawingml/2006/main">
            <a:r>
              <a:t>[Sources]</a:t>
            </a:r>
          </a:p>
          <a:p xmlns:a="http://schemas.openxmlformats.org/drawingml/2006/main">
            <a:r>
              <a:t>- outputs/v2_validation/live_provider_comparison.json</a:t>
            </a:r>
          </a:p>
          <a:p xmlns:a="http://schemas.openxmlformats.org/drawingml/2006/main">
            <a:r>
              <a:t>- outputs/v2_validation/genai_golden_eval.json</a:t>
            </a:r>
          </a:p>
          <a:p xmlns:a="http://schemas.openxmlformats.org/drawingml/2006/main">
            <a:r>
              <a:t>- src/wallet_twin_v2/live_provider_eval.py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what the implementation proves. Mechanical checks validate data and equations. A known-truth synthetic panel assesses interval behavior. Posterior and ranking diagnostics are predictive model evidence. E3 observations, approved economics, live-provider adjudication and causal RM outcomes remain external gates.</a:t>
            </a:r>
          </a:p>
          <a:p xmlns:a="http://schemas.openxmlformats.org/drawingml/2006/main">
            <a:r>
              <a:t/>
            </a:r>
          </a:p>
          <a:p xmlns:a="http://schemas.openxmlformats.org/drawingml/2006/main">
            <a:r>
              <a:t>[Sources]</a:t>
            </a:r>
          </a:p>
          <a:p xmlns:a="http://schemas.openxmlformats.org/drawingml/2006/main">
            <a:r>
              <a:t>- outputs/v2_validation/measurement_policy_sensitivity.json</a:t>
            </a:r>
          </a:p>
          <a:p xmlns:a="http://schemas.openxmlformats.org/drawingml/2006/main">
            <a:r>
              <a:t>- outputs/v2_validation/offline_validation_report.json</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commercial story and honest boundary. V3.1.1 is a reproducible hackathon submission once the artifact and public-access gates pass. Bank production stays NOT_PROMOTABLE until representative external calibration, approved bank economics and controls, live provider adjudication and qualified RM outcomes exist.</a:t>
            </a:r>
          </a:p>
          <a:p xmlns:a="http://schemas.openxmlformats.org/drawingml/2006/main">
            <a:r>
              <a:t/>
            </a:r>
          </a:p>
          <a:p xmlns:a="http://schemas.openxmlformats.org/drawingml/2006/main">
            <a:r>
              <a:t>[Sources]</a:t>
            </a:r>
          </a:p>
          <a:p xmlns:a="http://schemas.openxmlformats.org/drawingml/2006/main">
            <a:r>
              <a:t>- docs/v31_implementation_status.md</a:t>
            </a:r>
          </a:p>
          <a:p xmlns:a="http://schemas.openxmlformats.org/drawingml/2006/main">
            <a:r>
              <a:t>- outputs/v2_validation/production_candidate_scorecard.json</a:t>
            </a:r>
          </a:p>
          <a:p xmlns:a="http://schemas.openxmlformats.org/drawingml/2006/main">
            <a:r>
              <a:t>- notebooks/01_wallet_twin_demo.ipynb</a:t>
            </a:r>
          </a:p>
          <a:p xmlns:a="http://schemas.openxmlformats.org/drawingml/2006/main">
            <a:r>
              <a:t>- output/pdf/Corporate-Wallet-Digital-Twin-One-Pager.pdf</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5610c8dd9c04f9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217c7961ebe442a" /><Relationship Type="http://schemas.openxmlformats.org/officeDocument/2006/relationships/slideLayout" Target="/ppt/slideLayouts/slideLayout1.xml" Id="Re2e797c22eef404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2e797c22eef404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ba57f3be0b3476e" /><Relationship Type="http://schemas.openxmlformats.org/officeDocument/2006/relationships/image" Target="/ppt/media/image.png" Id="R5d0abb3cb7964c0e" /><Relationship Type="http://schemas.openxmlformats.org/officeDocument/2006/relationships/notesSlide" Target="/ppt/notesSlides/notesSlide1.xml" Id="R31bc6bdb9d9144f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b2868eaa07548bc" /><Relationship Type="http://schemas.openxmlformats.org/officeDocument/2006/relationships/notesSlide" Target="/ppt/notesSlides/notesSlide2.xml" Id="R260aa705d3d845c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a4cad5fba2242c6" /><Relationship Type="http://schemas.openxmlformats.org/officeDocument/2006/relationships/notesSlide" Target="/ppt/notesSlides/notesSlide3.xml" Id="R68434248f1b3410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1883bd312444ffa" /><Relationship Type="http://schemas.openxmlformats.org/officeDocument/2006/relationships/chart" Target="/ppt/slides/charts/chart1.xml" Id="R5fa2628a8d7d4bb0" /><Relationship Type="http://schemas.openxmlformats.org/officeDocument/2006/relationships/notesSlide" Target="/ppt/notesSlides/notesSlide4.xml" Id="R5f9083a52f4f43a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8957c59c7784a45" /><Relationship Type="http://schemas.openxmlformats.org/officeDocument/2006/relationships/image" Target="/ppt/media/image2.png" Id="R9848f9c9fcba40e5" /><Relationship Type="http://schemas.openxmlformats.org/officeDocument/2006/relationships/notesSlide" Target="/ppt/notesSlides/notesSlide5.xml" Id="Raa3f8c0049504a3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4f86a0df4cf41eb" /><Relationship Type="http://schemas.openxmlformats.org/officeDocument/2006/relationships/notesSlide" Target="/ppt/notesSlides/notesSlide6.xml" Id="Rf3fb5d94f6594d6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6a05a803ec64c0b" /><Relationship Type="http://schemas.openxmlformats.org/officeDocument/2006/relationships/notesSlide" Target="/ppt/notesSlides/notesSlide7.xml" Id="R1378a06be384491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92cbaa778c14fbb" /><Relationship Type="http://schemas.openxmlformats.org/officeDocument/2006/relationships/notesSlide" Target="/ppt/notesSlides/notesSlide8.xml" Id="Re7ae2d4542b7480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1a0cc74973a4b10" /><Relationship Type="http://schemas.openxmlformats.org/officeDocument/2006/relationships/notesSlide" Target="/ppt/notesSlides/notesSlide9.xml" Id="R6bb8137bcba14d5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297762a136f4818" /><Relationship Type="http://schemas.openxmlformats.org/officeDocument/2006/relationships/notesSlide" Target="/ppt/notesSlides/notesSlide10.xml" Id="R71c0255532fb4cad" /></Relationships>
</file>

<file path=ppt/slides/charts/chart1.xml><?xml version="1.0" encoding="utf-8"?>
<c:chartSpace xmlns:c="http://schemas.openxmlformats.org/drawingml/2006/chart">
  <c:lang val="en-US"/>
  <c:chart>
    <c:plotArea>
      <c:barChart>
        <c:barDir val="col"/>
        <c:varyColors val="0"/>
        <c:ser>
          <c:idx val="0"/>
          <c:order val="0"/>
          <c:tx>
            <c:v>Scenario gap (R m)</c:v>
          </c:tx>
          <c:spPr>
            <a:solidFill xmlns:a="http://schemas.openxmlformats.org/drawingml/2006/main">
              <a:srgbClr val="0B63E5"/>
            </a:solidFill>
          </c:spPr>
          <c:cat>
            <c:strLit>
              <c:ptCount val="3"/>
              <c:pt idx="0">
                <c:v>E1 weight 0.20</c:v>
              </c:pt>
              <c:pt idx="1">
                <c:v>E1 weight 0.35</c:v>
              </c:pt>
              <c:pt idx="2">
                <c:v>E1 weight 0.50</c:v>
              </c:pt>
            </c:strLit>
          </c:cat>
          <c:val>
            <c:numLit>
              <c:formatCode>General</c:formatCode>
              <c:ptCount val="3"/>
              <c:pt idx="0">
                <c:v>5.826</c:v>
              </c:pt>
              <c:pt idx="1">
                <c:v>4.374</c:v>
              </c:pt>
              <c:pt idx="2">
                <c:v>3.293</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majorGridlines>
          <c:spPr>
            <a:ln xmlns:a="http://schemas.openxmlformats.org/drawingml/2006/main" w="9525">
              <a:solidFill>
                <a:srgbClr val="D7DEE8"/>
              </a:solidFill>
              <a:prstDash val="solid"/>
            </a:ln>
          </c:spPr>
        </c:majorGridlines>
        <c:title>
          <c:tx>
            <c:rich>
              <a:bodyPr xmlns:a="http://schemas.openxmlformats.org/drawingml/2006/main"/>
              <a:lstStyle xmlns:a="http://schemas.openxmlformats.org/drawingml/2006/main"/>
              <a:p xmlns:a="http://schemas.openxmlformats.org/drawingml/2006/main">
                <a:r>
                  <a:t>Known-truth interval width (ZAR bn)</a:t>
                </a:r>
              </a:p>
            </c:rich>
          </c:tx>
          <c:overlay val="0"/>
        </c:title>
        <c:numFmt formatCode="0.0&quot;bn&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plotArea>
    <c:plotVisOnly val="1"/>
  </c:chart>
</c:chartSpace>
</file>

<file path=ppt/slides/slide1.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5d0abb3cb7964c0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cover-field">
            <a:extLst xmlns:a="http://schemas.openxmlformats.org/drawingml/2006/main">
              <a:ext uri="{FF2B5EF4-FFF2-40B4-BE49-F238E27FC236}">
                <a16:creationId xmlns:a16="http://schemas.microsoft.com/office/drawing/2014/main" id="{68C8AA9C-AEB7-4971-B74F-C200797AC470}"/>
              </a:ext>
            </a:extLst>
          </p:cNvPr>
          <p:cNvSpPr>
            <a:spLocks xmlns:a="http://schemas.openxmlformats.org/drawingml/2006/main" noGrp="1"/>
          </p:cNvSpPr>
          <p:nvPr/>
        </p:nvSpPr>
        <p:spPr>
          <a:xfrm xmlns:a="http://schemas.openxmlformats.org/drawingml/2006/main">
            <a:off x="0" y="0"/>
            <a:ext cx="6572250" cy="68580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3" name="cover-kicker">
            <a:extLst xmlns:a="http://schemas.openxmlformats.org/drawingml/2006/main">
              <a:ext uri="{FF2B5EF4-FFF2-40B4-BE49-F238E27FC236}">
                <a16:creationId xmlns:a16="http://schemas.microsoft.com/office/drawing/2014/main" id="{0482CACE-AFF8-4494-B6B3-1A297802CE75}"/>
              </a:ext>
            </a:extLst>
          </p:cNvPr>
          <p:cNvSpPr>
            <a:spLocks xmlns:a="http://schemas.openxmlformats.org/drawingml/2006/main" noGrp="1"/>
          </p:cNvSpPr>
          <p:nvPr/>
        </p:nvSpPr>
        <p:spPr>
          <a:xfrm xmlns:a="http://schemas.openxmlformats.org/drawingml/2006/main">
            <a:off x="609600" y="51435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STANDARD BANK HACKATHON 2026</a:t>
            </a:r>
          </a:p>
        </p:txBody>
      </p:sp>
      <p:sp>
        <p:nvSpPr>
          <p:cNvPr id="4" name="cover-title">
            <a:extLst xmlns:a="http://schemas.openxmlformats.org/drawingml/2006/main">
              <a:ext uri="{FF2B5EF4-FFF2-40B4-BE49-F238E27FC236}">
                <a16:creationId xmlns:a16="http://schemas.microsoft.com/office/drawing/2014/main" id="{BF267839-2091-4047-8C68-12657E06E8A6}"/>
              </a:ext>
            </a:extLst>
          </p:cNvPr>
          <p:cNvSpPr>
            <a:spLocks xmlns:a="http://schemas.openxmlformats.org/drawingml/2006/main" noGrp="1"/>
          </p:cNvSpPr>
          <p:nvPr/>
        </p:nvSpPr>
        <p:spPr>
          <a:xfrm xmlns:a="http://schemas.openxmlformats.org/drawingml/2006/main">
            <a:off x="609600" y="1314450"/>
            <a:ext cx="533400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Corporate Wallet</a:t>
            </a:r>
          </a:p>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Digital Twin</a:t>
            </a:r>
          </a:p>
        </p:txBody>
      </p:sp>
      <p:sp>
        <p:nvSpPr>
          <p:cNvPr id="5" name="cover-subtitle">
            <a:extLst xmlns:a="http://schemas.openxmlformats.org/drawingml/2006/main">
              <a:ext uri="{FF2B5EF4-FFF2-40B4-BE49-F238E27FC236}">
                <a16:creationId xmlns:a16="http://schemas.microsoft.com/office/drawing/2014/main" id="{14BDC36F-6AF3-4A72-91B7-07252A281942}"/>
              </a:ext>
            </a:extLst>
          </p:cNvPr>
          <p:cNvSpPr>
            <a:spLocks xmlns:a="http://schemas.openxmlformats.org/drawingml/2006/main" noGrp="1"/>
          </p:cNvSpPr>
          <p:nvPr/>
        </p:nvSpPr>
        <p:spPr>
          <a:xfrm xmlns:a="http://schemas.openxmlformats.org/drawingml/2006/main">
            <a:off x="609600" y="3371850"/>
            <a:ext cx="514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See the wallet. Size the gap.</a:t>
            </a:r>
          </a:p>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Choose the conversation.</a:t>
            </a:r>
          </a:p>
        </p:txBody>
      </p:sp>
      <p:cxnSp>
        <p:nvCxnSpPr>
          <p:cNvPr id="37" name="cover-rule"/>
          <p:cNvCxnSpPr/>
          <p:nvPr/>
        </p:nvCxnSpPr>
        <p:spPr>
          <a:xfrm xmlns:a="http://schemas.openxmlformats.org/drawingml/2006/main">
            <a:off x="609600" y="4629150"/>
            <a:ext cx="4191000" cy="0"/>
          </a:xfrm>
          <a:prstGeom xmlns:a="http://schemas.openxmlformats.org/drawingml/2006/main" prst="straightConnector1">
            <a:avLst/>
          </a:prstGeom>
          <a:ln xmlns:a="http://schemas.openxmlformats.org/drawingml/2006/main" w="9525">
            <a:solidFill>
              <a:srgbClr val="2D4C6D"/>
            </a:solidFill>
            <a:prstDash val="solid"/>
          </a:ln>
        </p:spPr>
      </p:cxnSp>
      <p:sp>
        <p:nvSpPr>
          <p:cNvPr id="7" name="cover-proof">
            <a:extLst xmlns:a="http://schemas.openxmlformats.org/drawingml/2006/main">
              <a:ext uri="{FF2B5EF4-FFF2-40B4-BE49-F238E27FC236}">
                <a16:creationId xmlns:a16="http://schemas.microsoft.com/office/drawing/2014/main" id="{1F20B026-FBCA-419F-9DA6-E4DE130F897B}"/>
              </a:ext>
            </a:extLst>
          </p:cNvPr>
          <p:cNvSpPr>
            <a:spLocks xmlns:a="http://schemas.openxmlformats.org/drawingml/2006/main" noGrp="1"/>
          </p:cNvSpPr>
          <p:nvPr/>
        </p:nvSpPr>
        <p:spPr>
          <a:xfrm xmlns:a="http://schemas.openxmlformats.org/drawingml/2006/main">
            <a:off x="609600" y="4857750"/>
            <a:ext cx="495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FFFFFF"/>
                </a:solidFill>
                <a:latin typeface="Arial"/>
                <a:ea typeface="Arial"/>
                <a:cs typeface="Arial"/>
              </a:defRPr>
            </a:pPr>
            <a:r>
              <a:rPr sz="1425" b="0">
                <a:solidFill>
                  <a:srgbClr val="FFFFFF"/>
                </a:solidFill>
                <a:latin typeface="Arial"/>
                <a:ea typeface="Arial"/>
                <a:cs typeface="Arial"/>
              </a:rPr>
              <a:t>Find the latent wallet. Quantify the gap. Plan the governed conversation.</a:t>
            </a:r>
          </a:p>
        </p:txBody>
      </p:sp>
      <p:sp>
        <p:nvSpPr>
          <p:cNvPr id="8" name="cover-team">
            <a:extLst xmlns:a="http://schemas.openxmlformats.org/drawingml/2006/main">
              <a:ext uri="{FF2B5EF4-FFF2-40B4-BE49-F238E27FC236}">
                <a16:creationId xmlns:a16="http://schemas.microsoft.com/office/drawing/2014/main" id="{781DA9D0-B4FF-42F0-B2AF-FD855C1DA9C0}"/>
              </a:ext>
            </a:extLst>
          </p:cNvPr>
          <p:cNvSpPr>
            <a:spLocks xmlns:a="http://schemas.openxmlformats.org/drawingml/2006/main" noGrp="1"/>
          </p:cNvSpPr>
          <p:nvPr/>
        </p:nvSpPr>
        <p:spPr>
          <a:xfrm xmlns:a="http://schemas.openxmlformats.org/drawingml/2006/main">
            <a:off x="609600" y="576262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FFFFFF"/>
                </a:solidFill>
                <a:latin typeface="Arial"/>
                <a:ea typeface="Arial"/>
                <a:cs typeface="Arial"/>
              </a:defRPr>
            </a:pPr>
            <a:r>
              <a:rPr sz="1050" b="1">
                <a:solidFill>
                  <a:srgbClr val="FFFFFF"/>
                </a:solidFill>
                <a:latin typeface="Arial"/>
                <a:ea typeface="Arial"/>
                <a:cs typeface="Arial"/>
              </a:rPr>
              <a:t>TEAM: Corporate Wallet Digital Twin</a:t>
            </a:r>
          </a:p>
        </p:txBody>
      </p:sp>
      <p:sp>
        <p:nvSpPr>
          <p:cNvPr id="9" name="cover-member">
            <a:extLst xmlns:a="http://schemas.openxmlformats.org/drawingml/2006/main">
              <a:ext uri="{FF2B5EF4-FFF2-40B4-BE49-F238E27FC236}">
                <a16:creationId xmlns:a16="http://schemas.microsoft.com/office/drawing/2014/main" id="{8DA43589-A7B1-44F5-8519-473675CB9868}"/>
              </a:ext>
            </a:extLst>
          </p:cNvPr>
          <p:cNvSpPr>
            <a:spLocks xmlns:a="http://schemas.openxmlformats.org/drawingml/2006/main" noGrp="1"/>
          </p:cNvSpPr>
          <p:nvPr/>
        </p:nvSpPr>
        <p:spPr>
          <a:xfrm xmlns:a="http://schemas.openxmlformats.org/drawingml/2006/main">
            <a:off x="609600" y="60483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0">
                <a:solidFill>
                  <a:srgbClr val="B9C8D9"/>
                </a:solidFill>
                <a:latin typeface="Arial"/>
                <a:ea typeface="Arial"/>
                <a:cs typeface="Arial"/>
              </a:defRPr>
            </a:pPr>
            <a:r>
              <a:rPr sz="975" b="0">
                <a:solidFill>
                  <a:srgbClr val="B9C8D9"/>
                </a:solidFill>
                <a:latin typeface="Arial"/>
                <a:ea typeface="Arial"/>
                <a:cs typeface="Arial"/>
              </a:rPr>
              <a:t>MEMBER: Christopher Koen</a:t>
            </a:r>
          </a:p>
        </p:txBody>
      </p:sp>
      <p:sp>
        <p:nvSpPr>
          <p:cNvPr id="10" name="cover-version">
            <a:extLst xmlns:a="http://schemas.openxmlformats.org/drawingml/2006/main">
              <a:ext uri="{FF2B5EF4-FFF2-40B4-BE49-F238E27FC236}">
                <a16:creationId xmlns:a16="http://schemas.microsoft.com/office/drawing/2014/main" id="{67B73F45-8DD8-46B1-85E0-CD0EBE29ACCE}"/>
              </a:ext>
            </a:extLst>
          </p:cNvPr>
          <p:cNvSpPr>
            <a:spLocks xmlns:a="http://schemas.openxmlformats.org/drawingml/2006/main" noGrp="1"/>
          </p:cNvSpPr>
          <p:nvPr/>
        </p:nvSpPr>
        <p:spPr>
          <a:xfrm xmlns:a="http://schemas.openxmlformats.org/drawingml/2006/main">
            <a:off x="609600" y="6438900"/>
            <a:ext cx="619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8FA5BD"/>
                </a:solidFill>
                <a:latin typeface="Arial"/>
                <a:ea typeface="Arial"/>
                <a:cs typeface="Arial"/>
              </a:defRPr>
            </a:pPr>
            <a:r>
              <a:rPr sz="825" b="1">
                <a:solidFill>
                  <a:srgbClr val="8FA5BD"/>
                </a:solidFill>
                <a:latin typeface="Arial"/>
                <a:ea typeface="Arial"/>
                <a:cs typeface="Arial"/>
              </a:rPr>
              <a:t>V3.1.1 | AS OF 30 JUNE 2026 | HACKATHON SUBMISSION</a:t>
            </a:r>
          </a:p>
        </p:txBody>
      </p:sp>
    </p:spTree>
    <p:extLst>
      <p:ext uri="{BB962C8B-B14F-4D97-AF65-F5344CB8AC3E}">
        <p14:creationId xmlns:p14="http://schemas.microsoft.com/office/powerpoint/2010/main" val="27710657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5" name="eyebrow-2">
            <a:extLst xmlns:a="http://schemas.openxmlformats.org/drawingml/2006/main">
              <a:ext uri="{FF2B5EF4-FFF2-40B4-BE49-F238E27FC236}">
                <a16:creationId xmlns:a16="http://schemas.microsoft.com/office/drawing/2014/main" id="{59EB8F26-C843-4F13-BC46-7AEAE8DC0E54}"/>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LATENT-WALLET PROBLEM</a:t>
            </a:r>
          </a:p>
        </p:txBody>
      </p:sp>
      <p:sp>
        <p:nvSpPr>
          <p:cNvPr id="2" name="title-2">
            <a:extLst xmlns:a="http://schemas.openxmlformats.org/drawingml/2006/main">
              <a:ext uri="{FF2B5EF4-FFF2-40B4-BE49-F238E27FC236}">
                <a16:creationId xmlns:a16="http://schemas.microsoft.com/office/drawing/2014/main" id="{53F67D3C-33A0-4E57-966F-A952522B065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observed number cannot identify the full wallet</a:t>
            </a:r>
          </a:p>
        </p:txBody>
      </p:sp>
      <p:cxnSp>
        <p:nvCxnSpPr>
          <p:cNvPr id="127" name="title-rule-2"/>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2">
            <a:extLst xmlns:a="http://schemas.openxmlformats.org/drawingml/2006/main">
              <a:ext uri="{FF2B5EF4-FFF2-40B4-BE49-F238E27FC236}">
                <a16:creationId xmlns:a16="http://schemas.microsoft.com/office/drawing/2014/main" id="{C0DFBA77-A1D3-4A65-A2A5-E8593B96CF10}"/>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2">
            <a:extLst xmlns:a="http://schemas.openxmlformats.org/drawingml/2006/main">
              <a:ext uri="{FF2B5EF4-FFF2-40B4-BE49-F238E27FC236}">
                <a16:creationId xmlns:a16="http://schemas.microsoft.com/office/drawing/2014/main" id="{E393BC11-AC05-492C-B803-F78875103C70}"/>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2">
            <a:extLst xmlns:a="http://schemas.openxmlformats.org/drawingml/2006/main">
              <a:ext uri="{FF2B5EF4-FFF2-40B4-BE49-F238E27FC236}">
                <a16:creationId xmlns:a16="http://schemas.microsoft.com/office/drawing/2014/main" id="{A07A547B-4E8C-44EF-AE09-2FFE72F9A2FB}"/>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02</a:t>
            </a:r>
          </a:p>
        </p:txBody>
      </p:sp>
      <p:sp>
        <p:nvSpPr>
          <p:cNvPr id="7" name="s2-thesis">
            <a:extLst xmlns:a="http://schemas.openxmlformats.org/drawingml/2006/main">
              <a:ext uri="{FF2B5EF4-FFF2-40B4-BE49-F238E27FC236}">
                <a16:creationId xmlns:a16="http://schemas.microsoft.com/office/drawing/2014/main" id="{47D43FC0-08B4-40E1-888D-855DA2F4632F}"/>
              </a:ext>
            </a:extLst>
          </p:cNvPr>
          <p:cNvSpPr>
            <a:spLocks xmlns:a="http://schemas.openxmlformats.org/drawingml/2006/main" noGrp="1"/>
          </p:cNvSpPr>
          <p:nvPr/>
        </p:nvSpPr>
        <p:spPr>
          <a:xfrm xmlns:a="http://schemas.openxmlformats.org/drawingml/2006/main">
            <a:off x="609600" y="1724025"/>
            <a:ext cx="461962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260"/>
          </a:bodyPr>
          <a:lstStyle xmlns:a="http://schemas.openxmlformats.org/drawingml/2006/main"/>
          <a:p xmlns:a="http://schemas.openxmlformats.org/drawingml/2006/main">
            <a:pPr algn="l">
              <a:buNone/>
              <a:defRPr sz="1800" b="0">
                <a:solidFill>
                  <a:srgbClr val="0C1728"/>
                </a:solidFill>
                <a:latin typeface="Arial"/>
                <a:ea typeface="Arial"/>
                <a:cs typeface="Arial"/>
              </a:defRPr>
            </a:pPr>
            <a:r>
              <a:rPr sz="1800" b="0">
                <a:solidFill>
                  <a:srgbClr val="0C1728"/>
                </a:solidFill>
                <a:latin typeface="Arial"/>
                <a:ea typeface="Arial"/>
                <a:cs typeface="Arial"/>
              </a:rPr>
              <a:t>Syn Bank observes A—its own client–product activity. Total wallet T and bank share q remain latent. The identity A=qT admits many answers, so V3.1.1 reports bounds and posterior intervals rather than false precision.</a:t>
            </a:r>
          </a:p>
        </p:txBody>
      </p:sp>
      <p:sp>
        <p:nvSpPr>
          <p:cNvPr id="8" name="s2-equation">
            <a:extLst xmlns:a="http://schemas.openxmlformats.org/drawingml/2006/main">
              <a:ext uri="{FF2B5EF4-FFF2-40B4-BE49-F238E27FC236}">
                <a16:creationId xmlns:a16="http://schemas.microsoft.com/office/drawing/2014/main" id="{6F9F0706-B21E-4CDA-A239-1EE444A076A9}"/>
              </a:ext>
            </a:extLst>
          </p:cNvPr>
          <p:cNvSpPr>
            <a:spLocks xmlns:a="http://schemas.openxmlformats.org/drawingml/2006/main" noGrp="1"/>
          </p:cNvSpPr>
          <p:nvPr/>
        </p:nvSpPr>
        <p:spPr>
          <a:xfrm xmlns:a="http://schemas.openxmlformats.org/drawingml/2006/main">
            <a:off x="5791200" y="1676400"/>
            <a:ext cx="5791200" cy="21336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9" name="s2-A">
            <a:extLst xmlns:a="http://schemas.openxmlformats.org/drawingml/2006/main">
              <a:ext uri="{FF2B5EF4-FFF2-40B4-BE49-F238E27FC236}">
                <a16:creationId xmlns:a16="http://schemas.microsoft.com/office/drawing/2014/main" id="{38359821-6270-4872-8540-AA4F2549B9E0}"/>
              </a:ext>
            </a:extLst>
          </p:cNvPr>
          <p:cNvSpPr>
            <a:spLocks xmlns:a="http://schemas.openxmlformats.org/drawingml/2006/main" noGrp="1"/>
          </p:cNvSpPr>
          <p:nvPr/>
        </p:nvSpPr>
        <p:spPr>
          <a:xfrm xmlns:a="http://schemas.openxmlformats.org/drawingml/2006/main">
            <a:off x="6191250"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A</a:t>
            </a:r>
          </a:p>
        </p:txBody>
      </p:sp>
      <p:sp>
        <p:nvSpPr>
          <p:cNvPr id="10" name="s2-eq">
            <a:extLst xmlns:a="http://schemas.openxmlformats.org/drawingml/2006/main">
              <a:ext uri="{FF2B5EF4-FFF2-40B4-BE49-F238E27FC236}">
                <a16:creationId xmlns:a16="http://schemas.microsoft.com/office/drawing/2014/main" id="{D8AC3B78-AEA0-419D-A794-BC4D82DCBEA7}"/>
              </a:ext>
            </a:extLst>
          </p:cNvPr>
          <p:cNvSpPr>
            <a:spLocks xmlns:a="http://schemas.openxmlformats.org/drawingml/2006/main" noGrp="1"/>
          </p:cNvSpPr>
          <p:nvPr/>
        </p:nvSpPr>
        <p:spPr>
          <a:xfrm xmlns:a="http://schemas.openxmlformats.org/drawingml/2006/main">
            <a:off x="7277100"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a:t>
            </a:r>
          </a:p>
        </p:txBody>
      </p:sp>
      <p:sp>
        <p:nvSpPr>
          <p:cNvPr id="11" name="s2-q">
            <a:extLst xmlns:a="http://schemas.openxmlformats.org/drawingml/2006/main">
              <a:ext uri="{FF2B5EF4-FFF2-40B4-BE49-F238E27FC236}">
                <a16:creationId xmlns:a16="http://schemas.microsoft.com/office/drawing/2014/main" id="{F13A2AFA-BCB8-42AF-9106-2F3003D763D4}"/>
              </a:ext>
            </a:extLst>
          </p:cNvPr>
          <p:cNvSpPr>
            <a:spLocks xmlns:a="http://schemas.openxmlformats.org/drawingml/2006/main" noGrp="1"/>
          </p:cNvSpPr>
          <p:nvPr/>
        </p:nvSpPr>
        <p:spPr>
          <a:xfrm xmlns:a="http://schemas.openxmlformats.org/drawingml/2006/main">
            <a:off x="795337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q</a:t>
            </a:r>
          </a:p>
        </p:txBody>
      </p:sp>
      <p:sp>
        <p:nvSpPr>
          <p:cNvPr id="12" name="s2-x">
            <a:extLst xmlns:a="http://schemas.openxmlformats.org/drawingml/2006/main">
              <a:ext uri="{FF2B5EF4-FFF2-40B4-BE49-F238E27FC236}">
                <a16:creationId xmlns:a16="http://schemas.microsoft.com/office/drawing/2014/main" id="{518F35E6-C754-4786-9DE4-B5DEF875F909}"/>
              </a:ext>
            </a:extLst>
          </p:cNvPr>
          <p:cNvSpPr>
            <a:spLocks xmlns:a="http://schemas.openxmlformats.org/drawingml/2006/main" noGrp="1"/>
          </p:cNvSpPr>
          <p:nvPr/>
        </p:nvSpPr>
        <p:spPr>
          <a:xfrm xmlns:a="http://schemas.openxmlformats.org/drawingml/2006/main">
            <a:off x="9039225"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x</a:t>
            </a:r>
          </a:p>
        </p:txBody>
      </p:sp>
      <p:sp>
        <p:nvSpPr>
          <p:cNvPr id="13" name="s2-T">
            <a:extLst xmlns:a="http://schemas.openxmlformats.org/drawingml/2006/main">
              <a:ext uri="{FF2B5EF4-FFF2-40B4-BE49-F238E27FC236}">
                <a16:creationId xmlns:a16="http://schemas.microsoft.com/office/drawing/2014/main" id="{46CFB887-2BCF-48E6-8A42-B5FF97D79F4C}"/>
              </a:ext>
            </a:extLst>
          </p:cNvPr>
          <p:cNvSpPr>
            <a:spLocks xmlns:a="http://schemas.openxmlformats.org/drawingml/2006/main" noGrp="1"/>
          </p:cNvSpPr>
          <p:nvPr/>
        </p:nvSpPr>
        <p:spPr>
          <a:xfrm xmlns:a="http://schemas.openxmlformats.org/drawingml/2006/main">
            <a:off x="972502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T</a:t>
            </a:r>
          </a:p>
        </p:txBody>
      </p:sp>
      <p:sp>
        <p:nvSpPr>
          <p:cNvPr id="14" name="s2-label-A">
            <a:extLst xmlns:a="http://schemas.openxmlformats.org/drawingml/2006/main">
              <a:ext uri="{FF2B5EF4-FFF2-40B4-BE49-F238E27FC236}">
                <a16:creationId xmlns:a16="http://schemas.microsoft.com/office/drawing/2014/main" id="{9AA4D1F1-D043-4100-9C7F-35BF93A32F13}"/>
              </a:ext>
            </a:extLst>
          </p:cNvPr>
          <p:cNvSpPr>
            <a:spLocks xmlns:a="http://schemas.openxmlformats.org/drawingml/2006/main" noGrp="1"/>
          </p:cNvSpPr>
          <p:nvPr/>
        </p:nvSpPr>
        <p:spPr>
          <a:xfrm xmlns:a="http://schemas.openxmlformats.org/drawingml/2006/main">
            <a:off x="6153150" y="2962275"/>
            <a:ext cx="104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observed</a:t>
            </a:r>
          </a:p>
        </p:txBody>
      </p:sp>
      <p:sp>
        <p:nvSpPr>
          <p:cNvPr id="15" name="s2-label-q">
            <a:extLst xmlns:a="http://schemas.openxmlformats.org/drawingml/2006/main">
              <a:ext uri="{FF2B5EF4-FFF2-40B4-BE49-F238E27FC236}">
                <a16:creationId xmlns:a16="http://schemas.microsoft.com/office/drawing/2014/main" id="{03FB0707-1E0F-4600-AE77-A57526FD0605}"/>
              </a:ext>
            </a:extLst>
          </p:cNvPr>
          <p:cNvSpPr>
            <a:spLocks xmlns:a="http://schemas.openxmlformats.org/drawingml/2006/main" noGrp="1"/>
          </p:cNvSpPr>
          <p:nvPr/>
        </p:nvSpPr>
        <p:spPr>
          <a:xfrm xmlns:a="http://schemas.openxmlformats.org/drawingml/2006/main">
            <a:off x="7858125" y="2962275"/>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bank share</a:t>
            </a:r>
          </a:p>
        </p:txBody>
      </p:sp>
      <p:sp>
        <p:nvSpPr>
          <p:cNvPr id="16" name="s2-label-T">
            <a:extLst xmlns:a="http://schemas.openxmlformats.org/drawingml/2006/main">
              <a:ext uri="{FF2B5EF4-FFF2-40B4-BE49-F238E27FC236}">
                <a16:creationId xmlns:a16="http://schemas.microsoft.com/office/drawing/2014/main" id="{99AC1A7C-0579-47AC-8EA2-60DE164E71B6}"/>
              </a:ext>
            </a:extLst>
          </p:cNvPr>
          <p:cNvSpPr>
            <a:spLocks xmlns:a="http://schemas.openxmlformats.org/drawingml/2006/main" noGrp="1"/>
          </p:cNvSpPr>
          <p:nvPr/>
        </p:nvSpPr>
        <p:spPr>
          <a:xfrm xmlns:a="http://schemas.openxmlformats.org/drawingml/2006/main">
            <a:off x="9572625" y="296227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total wallet</a:t>
            </a:r>
          </a:p>
        </p:txBody>
      </p:sp>
      <p:sp>
        <p:nvSpPr>
          <p:cNvPr id="17" name="s2-answer">
            <a:extLst xmlns:a="http://schemas.openxmlformats.org/drawingml/2006/main">
              <a:ext uri="{FF2B5EF4-FFF2-40B4-BE49-F238E27FC236}">
                <a16:creationId xmlns:a16="http://schemas.microsoft.com/office/drawing/2014/main" id="{ABFE57E7-66ED-4A3B-A8D3-E848F2630BD0}"/>
              </a:ext>
            </a:extLst>
          </p:cNvPr>
          <p:cNvSpPr>
            <a:spLocks xmlns:a="http://schemas.openxmlformats.org/drawingml/2006/main" noGrp="1"/>
          </p:cNvSpPr>
          <p:nvPr/>
        </p:nvSpPr>
        <p:spPr>
          <a:xfrm xmlns:a="http://schemas.openxmlformats.org/drawingml/2006/main">
            <a:off x="609600" y="3286125"/>
            <a:ext cx="4667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4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The claim ladder keeps evidence, inference and economics distinct</a:t>
            </a:r>
          </a:p>
        </p:txBody>
      </p:sp>
      <p:cxnSp>
        <p:nvCxnSpPr>
          <p:cNvPr id="142" name="s2-claim-rule-0"/>
          <p:cNvCxnSpPr/>
          <p:nvPr/>
        </p:nvCxnSpPr>
        <p:spPr>
          <a:xfrm xmlns:a="http://schemas.openxmlformats.org/drawingml/2006/main">
            <a:off x="609600" y="44577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19" name="s2-claim-0">
            <a:extLst xmlns:a="http://schemas.openxmlformats.org/drawingml/2006/main">
              <a:ext uri="{FF2B5EF4-FFF2-40B4-BE49-F238E27FC236}">
                <a16:creationId xmlns:a16="http://schemas.microsoft.com/office/drawing/2014/main" id="{CFBB6198-18CB-432E-A0C6-8CDE8095ECA2}"/>
              </a:ext>
            </a:extLst>
          </p:cNvPr>
          <p:cNvSpPr>
            <a:spLocks xmlns:a="http://schemas.openxmlformats.org/drawingml/2006/main" noGrp="1"/>
          </p:cNvSpPr>
          <p:nvPr/>
        </p:nvSpPr>
        <p:spPr>
          <a:xfrm xmlns:a="http://schemas.openxmlformats.org/drawingml/2006/main">
            <a:off x="609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08B83"/>
                </a:solidFill>
                <a:latin typeface="Arial"/>
                <a:ea typeface="Arial"/>
                <a:cs typeface="Arial"/>
              </a:defRPr>
            </a:pPr>
            <a:r>
              <a:rPr sz="975" b="1">
                <a:solidFill>
                  <a:srgbClr val="008B83"/>
                </a:solidFill>
                <a:latin typeface="Arial"/>
                <a:ea typeface="Arial"/>
                <a:cs typeface="Arial"/>
              </a:rPr>
              <a:t>OBSERVED</a:t>
            </a:r>
          </a:p>
        </p:txBody>
      </p:sp>
      <p:sp>
        <p:nvSpPr>
          <p:cNvPr id="20" name="s2-claim-copy-0">
            <a:extLst xmlns:a="http://schemas.openxmlformats.org/drawingml/2006/main">
              <a:ext uri="{FF2B5EF4-FFF2-40B4-BE49-F238E27FC236}">
                <a16:creationId xmlns:a16="http://schemas.microsoft.com/office/drawing/2014/main" id="{4E0EF1F7-780E-4EDA-82FD-9CA53E0A6127}"/>
              </a:ext>
            </a:extLst>
          </p:cNvPr>
          <p:cNvSpPr>
            <a:spLocks xmlns:a="http://schemas.openxmlformats.org/drawingml/2006/main" noGrp="1"/>
          </p:cNvSpPr>
          <p:nvPr/>
        </p:nvSpPr>
        <p:spPr>
          <a:xfrm xmlns:a="http://schemas.openxmlformats.org/drawingml/2006/main">
            <a:off x="609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Syn Bank activity</a:t>
            </a:r>
          </a:p>
        </p:txBody>
      </p:sp>
      <p:cxnSp>
        <p:nvCxnSpPr>
          <p:cNvPr id="145" name="s2-claim-rule-1"/>
          <p:cNvCxnSpPr/>
          <p:nvPr/>
        </p:nvCxnSpPr>
        <p:spPr>
          <a:xfrm xmlns:a="http://schemas.openxmlformats.org/drawingml/2006/main">
            <a:off x="2800350" y="44577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2" name="s2-claim-1">
            <a:extLst xmlns:a="http://schemas.openxmlformats.org/drawingml/2006/main">
              <a:ext uri="{FF2B5EF4-FFF2-40B4-BE49-F238E27FC236}">
                <a16:creationId xmlns:a16="http://schemas.microsoft.com/office/drawing/2014/main" id="{5477DAEB-1D1D-43B8-BD64-B21B8BCC965E}"/>
              </a:ext>
            </a:extLst>
          </p:cNvPr>
          <p:cNvSpPr>
            <a:spLocks xmlns:a="http://schemas.openxmlformats.org/drawingml/2006/main" noGrp="1"/>
          </p:cNvSpPr>
          <p:nvPr/>
        </p:nvSpPr>
        <p:spPr>
          <a:xfrm xmlns:a="http://schemas.openxmlformats.org/drawingml/2006/main">
            <a:off x="28003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BOUND</a:t>
            </a:r>
          </a:p>
        </p:txBody>
      </p:sp>
      <p:sp>
        <p:nvSpPr>
          <p:cNvPr id="23" name="s2-claim-copy-1">
            <a:extLst xmlns:a="http://schemas.openxmlformats.org/drawingml/2006/main">
              <a:ext uri="{FF2B5EF4-FFF2-40B4-BE49-F238E27FC236}">
                <a16:creationId xmlns:a16="http://schemas.microsoft.com/office/drawing/2014/main" id="{97728A2D-6367-4E87-9EBA-AC505CD4673A}"/>
              </a:ext>
            </a:extLst>
          </p:cNvPr>
          <p:cNvSpPr>
            <a:spLocks xmlns:a="http://schemas.openxmlformats.org/drawingml/2006/main" noGrp="1"/>
          </p:cNvSpPr>
          <p:nvPr/>
        </p:nvSpPr>
        <p:spPr>
          <a:xfrm xmlns:a="http://schemas.openxmlformats.org/drawingml/2006/main">
            <a:off x="28003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Identification interval</a:t>
            </a:r>
          </a:p>
        </p:txBody>
      </p:sp>
      <p:cxnSp>
        <p:nvCxnSpPr>
          <p:cNvPr id="148" name="s2-claim-rule-2"/>
          <p:cNvCxnSpPr/>
          <p:nvPr/>
        </p:nvCxnSpPr>
        <p:spPr>
          <a:xfrm xmlns:a="http://schemas.openxmlformats.org/drawingml/2006/main">
            <a:off x="4991100" y="44577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25" name="s2-claim-2">
            <a:extLst xmlns:a="http://schemas.openxmlformats.org/drawingml/2006/main">
              <a:ext uri="{FF2B5EF4-FFF2-40B4-BE49-F238E27FC236}">
                <a16:creationId xmlns:a16="http://schemas.microsoft.com/office/drawing/2014/main" id="{29BB9235-B4DB-4989-82C0-33C3C9BD1E11}"/>
              </a:ext>
            </a:extLst>
          </p:cNvPr>
          <p:cNvSpPr>
            <a:spLocks xmlns:a="http://schemas.openxmlformats.org/drawingml/2006/main" noGrp="1"/>
          </p:cNvSpPr>
          <p:nvPr/>
        </p:nvSpPr>
        <p:spPr>
          <a:xfrm xmlns:a="http://schemas.openxmlformats.org/drawingml/2006/main">
            <a:off x="49911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POSTERIOR</a:t>
            </a:r>
          </a:p>
        </p:txBody>
      </p:sp>
      <p:sp>
        <p:nvSpPr>
          <p:cNvPr id="26" name="s2-claim-copy-2">
            <a:extLst xmlns:a="http://schemas.openxmlformats.org/drawingml/2006/main">
              <a:ext uri="{FF2B5EF4-FFF2-40B4-BE49-F238E27FC236}">
                <a16:creationId xmlns:a16="http://schemas.microsoft.com/office/drawing/2014/main" id="{0E4F71E8-86F8-4651-A01C-FF745058CA64}"/>
              </a:ext>
            </a:extLst>
          </p:cNvPr>
          <p:cNvSpPr>
            <a:spLocks xmlns:a="http://schemas.openxmlformats.org/drawingml/2006/main" noGrp="1"/>
          </p:cNvSpPr>
          <p:nvPr/>
        </p:nvSpPr>
        <p:spPr>
          <a:xfrm xmlns:a="http://schemas.openxmlformats.org/drawingml/2006/main">
            <a:off x="49911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Wallet + share distribution</a:t>
            </a:r>
          </a:p>
        </p:txBody>
      </p:sp>
      <p:cxnSp>
        <p:nvCxnSpPr>
          <p:cNvPr id="151" name="s2-claim-rule-3"/>
          <p:cNvCxnSpPr/>
          <p:nvPr/>
        </p:nvCxnSpPr>
        <p:spPr>
          <a:xfrm xmlns:a="http://schemas.openxmlformats.org/drawingml/2006/main">
            <a:off x="7181850" y="44577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28" name="s2-claim-3">
            <a:extLst xmlns:a="http://schemas.openxmlformats.org/drawingml/2006/main">
              <a:ext uri="{FF2B5EF4-FFF2-40B4-BE49-F238E27FC236}">
                <a16:creationId xmlns:a16="http://schemas.microsoft.com/office/drawing/2014/main" id="{2BB61529-5E21-40F7-960E-75551A841156}"/>
              </a:ext>
            </a:extLst>
          </p:cNvPr>
          <p:cNvSpPr>
            <a:spLocks xmlns:a="http://schemas.openxmlformats.org/drawingml/2006/main" noGrp="1"/>
          </p:cNvSpPr>
          <p:nvPr/>
        </p:nvSpPr>
        <p:spPr>
          <a:xfrm xmlns:a="http://schemas.openxmlformats.org/drawingml/2006/main">
            <a:off x="71818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SCENARIO</a:t>
            </a:r>
          </a:p>
        </p:txBody>
      </p:sp>
      <p:sp>
        <p:nvSpPr>
          <p:cNvPr id="29" name="s2-claim-copy-3">
            <a:extLst xmlns:a="http://schemas.openxmlformats.org/drawingml/2006/main">
              <a:ext uri="{FF2B5EF4-FFF2-40B4-BE49-F238E27FC236}">
                <a16:creationId xmlns:a16="http://schemas.microsoft.com/office/drawing/2014/main" id="{B9AFB1A5-90F1-470A-9955-8A626CE5E3CD}"/>
              </a:ext>
            </a:extLst>
          </p:cNvPr>
          <p:cNvSpPr>
            <a:spLocks xmlns:a="http://schemas.openxmlformats.org/drawingml/2006/main" noGrp="1"/>
          </p:cNvSpPr>
          <p:nvPr/>
        </p:nvSpPr>
        <p:spPr>
          <a:xfrm xmlns:a="http://schemas.openxmlformats.org/drawingml/2006/main">
            <a:off x="71818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Target-share economics</a:t>
            </a:r>
          </a:p>
        </p:txBody>
      </p:sp>
      <p:cxnSp>
        <p:nvCxnSpPr>
          <p:cNvPr id="154" name="s2-claim-rule-4"/>
          <p:cNvCxnSpPr/>
          <p:nvPr/>
        </p:nvCxnSpPr>
        <p:spPr>
          <a:xfrm xmlns:a="http://schemas.openxmlformats.org/drawingml/2006/main">
            <a:off x="9372600" y="4457700"/>
            <a:ext cx="1866900" cy="0"/>
          </a:xfrm>
          <a:prstGeom xmlns:a="http://schemas.openxmlformats.org/drawingml/2006/main" prst="straightConnector1">
            <a:avLst/>
          </a:prstGeom>
          <a:ln xmlns:a="http://schemas.openxmlformats.org/drawingml/2006/main" w="38100">
            <a:solidFill>
              <a:srgbClr val="0C1728"/>
            </a:solidFill>
            <a:prstDash val="solid"/>
          </a:ln>
        </p:spPr>
      </p:cxnSp>
      <p:sp>
        <p:nvSpPr>
          <p:cNvPr id="31" name="s2-claim-4">
            <a:extLst xmlns:a="http://schemas.openxmlformats.org/drawingml/2006/main">
              <a:ext uri="{FF2B5EF4-FFF2-40B4-BE49-F238E27FC236}">
                <a16:creationId xmlns:a16="http://schemas.microsoft.com/office/drawing/2014/main" id="{82F0A2BD-E78C-4ADD-A11E-34E8838B33A1}"/>
              </a:ext>
            </a:extLst>
          </p:cNvPr>
          <p:cNvSpPr>
            <a:spLocks xmlns:a="http://schemas.openxmlformats.org/drawingml/2006/main" noGrp="1"/>
          </p:cNvSpPr>
          <p:nvPr/>
        </p:nvSpPr>
        <p:spPr>
          <a:xfrm xmlns:a="http://schemas.openxmlformats.org/drawingml/2006/main">
            <a:off x="9372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C1728"/>
                </a:solidFill>
                <a:latin typeface="Arial"/>
                <a:ea typeface="Arial"/>
                <a:cs typeface="Arial"/>
              </a:defRPr>
            </a:pPr>
            <a:r>
              <a:rPr sz="975" b="1">
                <a:solidFill>
                  <a:srgbClr val="0C1728"/>
                </a:solidFill>
                <a:latin typeface="Arial"/>
                <a:ea typeface="Arial"/>
                <a:cs typeface="Arial"/>
              </a:rPr>
              <a:t>CAUSAL</a:t>
            </a:r>
          </a:p>
        </p:txBody>
      </p:sp>
      <p:sp>
        <p:nvSpPr>
          <p:cNvPr id="32" name="s2-claim-copy-4">
            <a:extLst xmlns:a="http://schemas.openxmlformats.org/drawingml/2006/main">
              <a:ext uri="{FF2B5EF4-FFF2-40B4-BE49-F238E27FC236}">
                <a16:creationId xmlns:a16="http://schemas.microsoft.com/office/drawing/2014/main" id="{7FD44F59-515D-41A5-86B0-211979F277E8}"/>
              </a:ext>
            </a:extLst>
          </p:cNvPr>
          <p:cNvSpPr>
            <a:spLocks xmlns:a="http://schemas.openxmlformats.org/drawingml/2006/main" noGrp="1"/>
          </p:cNvSpPr>
          <p:nvPr/>
        </p:nvSpPr>
        <p:spPr>
          <a:xfrm xmlns:a="http://schemas.openxmlformats.org/drawingml/2006/main">
            <a:off x="9372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Only after a trial</a:t>
            </a:r>
          </a:p>
        </p:txBody>
      </p:sp>
      <p:sp>
        <p:nvSpPr>
          <p:cNvPr id="33" name="s2-proof">
            <a:extLst xmlns:a="http://schemas.openxmlformats.org/drawingml/2006/main">
              <a:ext uri="{FF2B5EF4-FFF2-40B4-BE49-F238E27FC236}">
                <a16:creationId xmlns:a16="http://schemas.microsoft.com/office/drawing/2014/main" id="{DD7DAA93-F096-44E8-86AE-03B53DA69995}"/>
              </a:ext>
            </a:extLst>
          </p:cNvPr>
          <p:cNvSpPr>
            <a:spLocks xmlns:a="http://schemas.openxmlformats.org/drawingml/2006/main" noGrp="1"/>
          </p:cNvSpPr>
          <p:nvPr/>
        </p:nvSpPr>
        <p:spPr>
          <a:xfrm xmlns:a="http://schemas.openxmlformats.org/drawingml/2006/main">
            <a:off x="609600" y="5791200"/>
            <a:ext cx="10972800" cy="4000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34" name="s2-proof-text">
            <a:extLst xmlns:a="http://schemas.openxmlformats.org/drawingml/2006/main">
              <a:ext uri="{FF2B5EF4-FFF2-40B4-BE49-F238E27FC236}">
                <a16:creationId xmlns:a16="http://schemas.microsoft.com/office/drawing/2014/main" id="{95C5FA8B-5202-408D-8E17-616AD8A81B0D}"/>
              </a:ext>
            </a:extLst>
          </p:cNvPr>
          <p:cNvSpPr>
            <a:spLocks xmlns:a="http://schemas.openxmlformats.org/drawingml/2006/main" noGrp="1"/>
          </p:cNvSpPr>
          <p:nvPr/>
        </p:nvSpPr>
        <p:spPr>
          <a:xfrm xmlns:a="http://schemas.openxmlformats.org/drawingml/2006/main">
            <a:off x="800100" y="5895975"/>
            <a:ext cx="1057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784"/>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Observed ≠ inferred ≠ scenario ≠ causal. Measured competitor share and causal incremental value remain prohibited without E3 observations and a qualified trial.</a:t>
            </a:r>
          </a:p>
        </p:txBody>
      </p:sp>
    </p:spTree>
    <p:extLst>
      <p:ext uri="{BB962C8B-B14F-4D97-AF65-F5344CB8AC3E}">
        <p14:creationId xmlns:p14="http://schemas.microsoft.com/office/powerpoint/2010/main" val="6606028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2" name="eyebrow-4">
            <a:extLst xmlns:a="http://schemas.openxmlformats.org/drawingml/2006/main">
              <a:ext uri="{FF2B5EF4-FFF2-40B4-BE49-F238E27FC236}">
                <a16:creationId xmlns:a16="http://schemas.microsoft.com/office/drawing/2014/main" id="{64B46C33-7E2D-4B8B-A4D3-B62F85711C1A}"/>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SUPPLIED DATA → FIVE PRODUCT LENSES</a:t>
            </a:r>
          </a:p>
        </p:txBody>
      </p:sp>
      <p:sp>
        <p:nvSpPr>
          <p:cNvPr id="2" name="title-4">
            <a:extLst xmlns:a="http://schemas.openxmlformats.org/drawingml/2006/main">
              <a:ext uri="{FF2B5EF4-FFF2-40B4-BE49-F238E27FC236}">
                <a16:creationId xmlns:a16="http://schemas.microsoft.com/office/drawing/2014/main" id="{F98F7544-F60F-4A45-A9C7-0AF14E4CA758}"/>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Every supplied relationship is modelled</a:t>
            </a:r>
          </a:p>
        </p:txBody>
      </p:sp>
      <p:cxnSp>
        <p:nvCxnSpPr>
          <p:cNvPr id="82" name="title-rule-4"/>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4">
            <a:extLst xmlns:a="http://schemas.openxmlformats.org/drawingml/2006/main">
              <a:ext uri="{FF2B5EF4-FFF2-40B4-BE49-F238E27FC236}">
                <a16:creationId xmlns:a16="http://schemas.microsoft.com/office/drawing/2014/main" id="{77881365-1622-46A1-A7E3-12C1014842B7}"/>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4">
            <a:extLst xmlns:a="http://schemas.openxmlformats.org/drawingml/2006/main">
              <a:ext uri="{FF2B5EF4-FFF2-40B4-BE49-F238E27FC236}">
                <a16:creationId xmlns:a16="http://schemas.microsoft.com/office/drawing/2014/main" id="{7A6A9EC5-91AC-45CF-BAD2-F226210E1E1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4">
            <a:extLst xmlns:a="http://schemas.openxmlformats.org/drawingml/2006/main">
              <a:ext uri="{FF2B5EF4-FFF2-40B4-BE49-F238E27FC236}">
                <a16:creationId xmlns:a16="http://schemas.microsoft.com/office/drawing/2014/main" id="{047AFC96-2F0A-489E-BB29-BCE6C9495A46}"/>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03</a:t>
            </a:r>
          </a:p>
        </p:txBody>
      </p:sp>
      <p:cxnSp>
        <p:nvCxnSpPr>
          <p:cNvPr id="86" name="s4-metric-0-rule"/>
          <p:cNvCxnSpPr/>
          <p:nvPr/>
        </p:nvCxnSpPr>
        <p:spPr>
          <a:xfrm xmlns:a="http://schemas.openxmlformats.org/drawingml/2006/main">
            <a:off x="609600" y="1695450"/>
            <a:ext cx="228600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4-metric-0-value">
            <a:extLst xmlns:a="http://schemas.openxmlformats.org/drawingml/2006/main">
              <a:ext uri="{FF2B5EF4-FFF2-40B4-BE49-F238E27FC236}">
                <a16:creationId xmlns:a16="http://schemas.microsoft.com/office/drawing/2014/main" id="{471D7B80-2BE0-4A9C-9653-CB9FEA941CF6}"/>
              </a:ext>
            </a:extLst>
          </p:cNvPr>
          <p:cNvSpPr>
            <a:spLocks xmlns:a="http://schemas.openxmlformats.org/drawingml/2006/main" noGrp="1"/>
          </p:cNvSpPr>
          <p:nvPr/>
        </p:nvSpPr>
        <p:spPr>
          <a:xfrm xmlns:a="http://schemas.openxmlformats.org/drawingml/2006/main">
            <a:off x="6096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3.064m</a:t>
            </a:r>
          </a:p>
        </p:txBody>
      </p:sp>
      <p:sp>
        <p:nvSpPr>
          <p:cNvPr id="9" name="s4-metric-0-label">
            <a:extLst xmlns:a="http://schemas.openxmlformats.org/drawingml/2006/main">
              <a:ext uri="{FF2B5EF4-FFF2-40B4-BE49-F238E27FC236}">
                <a16:creationId xmlns:a16="http://schemas.microsoft.com/office/drawing/2014/main" id="{5B267600-FF00-46AF-82C3-28DB5BE7D7C4}"/>
              </a:ext>
            </a:extLst>
          </p:cNvPr>
          <p:cNvSpPr>
            <a:spLocks xmlns:a="http://schemas.openxmlformats.org/drawingml/2006/main" noGrp="1"/>
          </p:cNvSpPr>
          <p:nvPr/>
        </p:nvSpPr>
        <p:spPr>
          <a:xfrm xmlns:a="http://schemas.openxmlformats.org/drawingml/2006/main">
            <a:off x="6096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rows</a:t>
            </a:r>
          </a:p>
        </p:txBody>
      </p:sp>
      <p:cxnSp>
        <p:nvCxnSpPr>
          <p:cNvPr id="89" name="s4-metric-1-rule"/>
          <p:cNvCxnSpPr/>
          <p:nvPr/>
        </p:nvCxnSpPr>
        <p:spPr>
          <a:xfrm xmlns:a="http://schemas.openxmlformats.org/drawingml/2006/main">
            <a:off x="3333750" y="1695450"/>
            <a:ext cx="2286000" cy="0"/>
          </a:xfrm>
          <a:prstGeom xmlns:a="http://schemas.openxmlformats.org/drawingml/2006/main" prst="straightConnector1">
            <a:avLst/>
          </a:prstGeom>
          <a:ln xmlns:a="http://schemas.openxmlformats.org/drawingml/2006/main" w="38100">
            <a:solidFill>
              <a:srgbClr val="7658D6"/>
            </a:solidFill>
            <a:prstDash val="solid"/>
          </a:ln>
        </p:spPr>
      </p:cxnSp>
      <p:sp>
        <p:nvSpPr>
          <p:cNvPr id="11" name="s4-metric-1-value">
            <a:extLst xmlns:a="http://schemas.openxmlformats.org/drawingml/2006/main">
              <a:ext uri="{FF2B5EF4-FFF2-40B4-BE49-F238E27FC236}">
                <a16:creationId xmlns:a16="http://schemas.microsoft.com/office/drawing/2014/main" id="{55AD5B8C-D57D-4A27-82FF-44CACD05D58D}"/>
              </a:ext>
            </a:extLst>
          </p:cNvPr>
          <p:cNvSpPr>
            <a:spLocks xmlns:a="http://schemas.openxmlformats.org/drawingml/2006/main" noGrp="1"/>
          </p:cNvSpPr>
          <p:nvPr/>
        </p:nvSpPr>
        <p:spPr>
          <a:xfrm xmlns:a="http://schemas.openxmlformats.org/drawingml/2006/main">
            <a:off x="333375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20</a:t>
            </a:r>
          </a:p>
        </p:txBody>
      </p:sp>
      <p:sp>
        <p:nvSpPr>
          <p:cNvPr id="12" name="s4-metric-1-label">
            <a:extLst xmlns:a="http://schemas.openxmlformats.org/drawingml/2006/main">
              <a:ext uri="{FF2B5EF4-FFF2-40B4-BE49-F238E27FC236}">
                <a16:creationId xmlns:a16="http://schemas.microsoft.com/office/drawing/2014/main" id="{D301783A-C462-4C6E-B904-CE81FDA01F71}"/>
              </a:ext>
            </a:extLst>
          </p:cNvPr>
          <p:cNvSpPr>
            <a:spLocks xmlns:a="http://schemas.openxmlformats.org/drawingml/2006/main" noGrp="1"/>
          </p:cNvSpPr>
          <p:nvPr/>
        </p:nvSpPr>
        <p:spPr>
          <a:xfrm xmlns:a="http://schemas.openxmlformats.org/drawingml/2006/main">
            <a:off x="333375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relationships</a:t>
            </a:r>
          </a:p>
        </p:txBody>
      </p:sp>
      <p:cxnSp>
        <p:nvCxnSpPr>
          <p:cNvPr id="92" name="s4-metric-2-rule"/>
          <p:cNvCxnSpPr/>
          <p:nvPr/>
        </p:nvCxnSpPr>
        <p:spPr>
          <a:xfrm xmlns:a="http://schemas.openxmlformats.org/drawingml/2006/main">
            <a:off x="6057900" y="1695450"/>
            <a:ext cx="2286000" cy="0"/>
          </a:xfrm>
          <a:prstGeom xmlns:a="http://schemas.openxmlformats.org/drawingml/2006/main" prst="straightConnector1">
            <a:avLst/>
          </a:prstGeom>
          <a:ln xmlns:a="http://schemas.openxmlformats.org/drawingml/2006/main" w="38100">
            <a:solidFill>
              <a:srgbClr val="0B63E5"/>
            </a:solidFill>
            <a:prstDash val="solid"/>
          </a:ln>
        </p:spPr>
      </p:cxnSp>
      <p:sp>
        <p:nvSpPr>
          <p:cNvPr id="14" name="s4-metric-2-value">
            <a:extLst xmlns:a="http://schemas.openxmlformats.org/drawingml/2006/main">
              <a:ext uri="{FF2B5EF4-FFF2-40B4-BE49-F238E27FC236}">
                <a16:creationId xmlns:a16="http://schemas.microsoft.com/office/drawing/2014/main" id="{54DA09E9-056B-45AC-9E49-012471EC4874}"/>
              </a:ext>
            </a:extLst>
          </p:cNvPr>
          <p:cNvSpPr>
            <a:spLocks xmlns:a="http://schemas.openxmlformats.org/drawingml/2006/main" noGrp="1"/>
          </p:cNvSpPr>
          <p:nvPr/>
        </p:nvSpPr>
        <p:spPr>
          <a:xfrm xmlns:a="http://schemas.openxmlformats.org/drawingml/2006/main">
            <a:off x="60579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5</a:t>
            </a:r>
          </a:p>
        </p:txBody>
      </p:sp>
      <p:sp>
        <p:nvSpPr>
          <p:cNvPr id="15" name="s4-metric-2-label">
            <a:extLst xmlns:a="http://schemas.openxmlformats.org/drawingml/2006/main">
              <a:ext uri="{FF2B5EF4-FFF2-40B4-BE49-F238E27FC236}">
                <a16:creationId xmlns:a16="http://schemas.microsoft.com/office/drawing/2014/main" id="{B0A49545-6433-474C-A7D4-5895E9E02E75}"/>
              </a:ext>
            </a:extLst>
          </p:cNvPr>
          <p:cNvSpPr>
            <a:spLocks xmlns:a="http://schemas.openxmlformats.org/drawingml/2006/main" noGrp="1"/>
          </p:cNvSpPr>
          <p:nvPr/>
        </p:nvSpPr>
        <p:spPr>
          <a:xfrm xmlns:a="http://schemas.openxmlformats.org/drawingml/2006/main">
            <a:off x="60579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product mappings</a:t>
            </a:r>
          </a:p>
        </p:txBody>
      </p:sp>
      <p:cxnSp>
        <p:nvCxnSpPr>
          <p:cNvPr id="95" name="s4-metric-3-rule"/>
          <p:cNvCxnSpPr/>
          <p:nvPr/>
        </p:nvCxnSpPr>
        <p:spPr>
          <a:xfrm xmlns:a="http://schemas.openxmlformats.org/drawingml/2006/main">
            <a:off x="8991600" y="1695450"/>
            <a:ext cx="2076450" cy="0"/>
          </a:xfrm>
          <a:prstGeom xmlns:a="http://schemas.openxmlformats.org/drawingml/2006/main" prst="straightConnector1">
            <a:avLst/>
          </a:prstGeom>
          <a:ln xmlns:a="http://schemas.openxmlformats.org/drawingml/2006/main" w="38100">
            <a:solidFill>
              <a:srgbClr val="E2951C"/>
            </a:solidFill>
            <a:prstDash val="solid"/>
          </a:ln>
        </p:spPr>
      </p:cxnSp>
      <p:sp>
        <p:nvSpPr>
          <p:cNvPr id="17" name="s4-metric-3-value">
            <a:extLst xmlns:a="http://schemas.openxmlformats.org/drawingml/2006/main">
              <a:ext uri="{FF2B5EF4-FFF2-40B4-BE49-F238E27FC236}">
                <a16:creationId xmlns:a16="http://schemas.microsoft.com/office/drawing/2014/main" id="{17D333A7-8BB8-4EB8-A37A-A9C6852D8078}"/>
              </a:ext>
            </a:extLst>
          </p:cNvPr>
          <p:cNvSpPr>
            <a:spLocks xmlns:a="http://schemas.openxmlformats.org/drawingml/2006/main" noGrp="1"/>
          </p:cNvSpPr>
          <p:nvPr/>
        </p:nvSpPr>
        <p:spPr>
          <a:xfrm xmlns:a="http://schemas.openxmlformats.org/drawingml/2006/main">
            <a:off x="8991600" y="1866900"/>
            <a:ext cx="2076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8" name="s4-metric-3-label">
            <a:extLst xmlns:a="http://schemas.openxmlformats.org/drawingml/2006/main">
              <a:ext uri="{FF2B5EF4-FFF2-40B4-BE49-F238E27FC236}">
                <a16:creationId xmlns:a16="http://schemas.microsoft.com/office/drawing/2014/main" id="{973AA499-4B1A-4371-90AF-61ED6BE39826}"/>
              </a:ext>
            </a:extLst>
          </p:cNvPr>
          <p:cNvSpPr>
            <a:spLocks xmlns:a="http://schemas.openxmlformats.org/drawingml/2006/main" noGrp="1"/>
          </p:cNvSpPr>
          <p:nvPr/>
        </p:nvSpPr>
        <p:spPr>
          <a:xfrm xmlns:a="http://schemas.openxmlformats.org/drawingml/2006/main">
            <a:off x="8991600" y="2400300"/>
            <a:ext cx="2076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client × product cells</a:t>
            </a:r>
          </a:p>
        </p:txBody>
      </p:sp>
      <p:sp>
        <p:nvSpPr>
          <p:cNvPr id="19" name="s4-width-title">
            <a:extLst xmlns:a="http://schemas.openxmlformats.org/drawingml/2006/main">
              <a:ext uri="{FF2B5EF4-FFF2-40B4-BE49-F238E27FC236}">
                <a16:creationId xmlns:a16="http://schemas.microsoft.com/office/drawing/2014/main" id="{462CD5B9-592C-43E0-900D-5E1A9EDC095A}"/>
              </a:ext>
            </a:extLst>
          </p:cNvPr>
          <p:cNvSpPr>
            <a:spLocks xmlns:a="http://schemas.openxmlformats.org/drawingml/2006/main" noGrp="1"/>
          </p:cNvSpPr>
          <p:nvPr/>
        </p:nvSpPr>
        <p:spPr>
          <a:xfrm xmlns:a="http://schemas.openxmlformats.org/drawingml/2006/main">
            <a:off x="609600" y="3438525"/>
            <a:ext cx="381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Private evaluator transformation</a:t>
            </a:r>
          </a:p>
        </p:txBody>
      </p:sp>
      <p:sp>
        <p:nvSpPr>
          <p:cNvPr id="20" name="s4-prior-label">
            <a:extLst xmlns:a="http://schemas.openxmlformats.org/drawingml/2006/main">
              <a:ext uri="{FF2B5EF4-FFF2-40B4-BE49-F238E27FC236}">
                <a16:creationId xmlns:a16="http://schemas.microsoft.com/office/drawing/2014/main" id="{729454E5-2EFA-4501-8514-C2DAD97BE8E8}"/>
              </a:ext>
            </a:extLst>
          </p:cNvPr>
          <p:cNvSpPr>
            <a:spLocks xmlns:a="http://schemas.openxmlformats.org/drawingml/2006/main" noGrp="1"/>
          </p:cNvSpPr>
          <p:nvPr/>
        </p:nvSpPr>
        <p:spPr>
          <a:xfrm xmlns:a="http://schemas.openxmlformats.org/drawingml/2006/main">
            <a:off x="609600" y="391477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Transaction legs</a:t>
            </a:r>
          </a:p>
        </p:txBody>
      </p:sp>
      <p:sp>
        <p:nvSpPr>
          <p:cNvPr id="21" name="s4-prior-bar">
            <a:extLst xmlns:a="http://schemas.openxmlformats.org/drawingml/2006/main">
              <a:ext uri="{FF2B5EF4-FFF2-40B4-BE49-F238E27FC236}">
                <a16:creationId xmlns:a16="http://schemas.microsoft.com/office/drawing/2014/main" id="{BFF89913-DF3A-444E-B3A3-3A012D25EE02}"/>
              </a:ext>
            </a:extLst>
          </p:cNvPr>
          <p:cNvSpPr>
            <a:spLocks xmlns:a="http://schemas.openxmlformats.org/drawingml/2006/main" noGrp="1"/>
          </p:cNvSpPr>
          <p:nvPr/>
        </p:nvSpPr>
        <p:spPr>
          <a:xfrm xmlns:a="http://schemas.openxmlformats.org/drawingml/2006/main">
            <a:off x="2038350" y="3895725"/>
            <a:ext cx="4008235" cy="257175"/>
          </a:xfrm>
          <a:prstGeom xmlns:a="http://schemas.openxmlformats.org/drawingml/2006/main" prst="rect">
            <a:avLst/>
          </a:prstGeom>
          <a:solidFill xmlns:a="http://schemas.openxmlformats.org/drawingml/2006/main">
            <a:srgbClr val="B7C2D0"/>
          </a:solidFill>
          <a:ln xmlns:a="http://schemas.openxmlformats.org/drawingml/2006/main" w="0">
            <a:noFill/>
            <a:prstDash val="solid"/>
          </a:ln>
        </p:spPr>
      </p:sp>
      <p:sp>
        <p:nvSpPr>
          <p:cNvPr id="22" name="s4-prior-value">
            <a:extLst xmlns:a="http://schemas.openxmlformats.org/drawingml/2006/main">
              <a:ext uri="{FF2B5EF4-FFF2-40B4-BE49-F238E27FC236}">
                <a16:creationId xmlns:a16="http://schemas.microsoft.com/office/drawing/2014/main" id="{86C2AA56-5139-4B01-929B-A847922C999A}"/>
              </a:ext>
            </a:extLst>
          </p:cNvPr>
          <p:cNvSpPr>
            <a:spLocks xmlns:a="http://schemas.openxmlformats.org/drawingml/2006/main" noGrp="1"/>
          </p:cNvSpPr>
          <p:nvPr/>
        </p:nvSpPr>
        <p:spPr>
          <a:xfrm xmlns:a="http://schemas.openxmlformats.org/drawingml/2006/main">
            <a:off x="6160885" y="3914775"/>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 / P / L</a:t>
            </a:r>
          </a:p>
        </p:txBody>
      </p:sp>
      <p:sp>
        <p:nvSpPr>
          <p:cNvPr id="23" name="s4-anchor-label">
            <a:extLst xmlns:a="http://schemas.openxmlformats.org/drawingml/2006/main">
              <a:ext uri="{FF2B5EF4-FFF2-40B4-BE49-F238E27FC236}">
                <a16:creationId xmlns:a16="http://schemas.microsoft.com/office/drawing/2014/main" id="{D367DBF4-489C-47CC-A0E1-E1CFDFED57B5}"/>
              </a:ext>
            </a:extLst>
          </p:cNvPr>
          <p:cNvSpPr>
            <a:spLocks xmlns:a="http://schemas.openxmlformats.org/drawingml/2006/main" noGrp="1"/>
          </p:cNvSpPr>
          <p:nvPr/>
        </p:nvSpPr>
        <p:spPr>
          <a:xfrm xmlns:a="http://schemas.openxmlformats.org/drawingml/2006/main">
            <a:off x="609600" y="4419600"/>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Specialist feeds</a:t>
            </a:r>
          </a:p>
        </p:txBody>
      </p:sp>
      <p:sp>
        <p:nvSpPr>
          <p:cNvPr id="24" name="s4-anchor-bar">
            <a:extLst xmlns:a="http://schemas.openxmlformats.org/drawingml/2006/main">
              <a:ext uri="{FF2B5EF4-FFF2-40B4-BE49-F238E27FC236}">
                <a16:creationId xmlns:a16="http://schemas.microsoft.com/office/drawing/2014/main" id="{A79DB92D-BA24-4330-BF70-69C2A6C23A4C}"/>
              </a:ext>
            </a:extLst>
          </p:cNvPr>
          <p:cNvSpPr>
            <a:spLocks xmlns:a="http://schemas.openxmlformats.org/drawingml/2006/main" noGrp="1"/>
          </p:cNvSpPr>
          <p:nvPr/>
        </p:nvSpPr>
        <p:spPr>
          <a:xfrm xmlns:a="http://schemas.openxmlformats.org/drawingml/2006/main">
            <a:off x="2038350" y="4400550"/>
            <a:ext cx="2485106" cy="257175"/>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5" name="s4-anchor-value">
            <a:extLst xmlns:a="http://schemas.openxmlformats.org/drawingml/2006/main">
              <a:ext uri="{FF2B5EF4-FFF2-40B4-BE49-F238E27FC236}">
                <a16:creationId xmlns:a16="http://schemas.microsoft.com/office/drawing/2014/main" id="{F904B4D9-50BC-43B4-BDB2-8306BFACD3C1}"/>
              </a:ext>
            </a:extLst>
          </p:cNvPr>
          <p:cNvSpPr>
            <a:spLocks xmlns:a="http://schemas.openxmlformats.org/drawingml/2006/main" noGrp="1"/>
          </p:cNvSpPr>
          <p:nvPr/>
        </p:nvSpPr>
        <p:spPr>
          <a:xfrm xmlns:a="http://schemas.openxmlformats.org/drawingml/2006/main">
            <a:off x="4510061" y="44196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FX / TF</a:t>
            </a:r>
          </a:p>
        </p:txBody>
      </p:sp>
      <p:sp>
        <p:nvSpPr>
          <p:cNvPr id="26" name="s4-reduction">
            <a:extLst xmlns:a="http://schemas.openxmlformats.org/drawingml/2006/main">
              <a:ext uri="{FF2B5EF4-FFF2-40B4-BE49-F238E27FC236}">
                <a16:creationId xmlns:a16="http://schemas.microsoft.com/office/drawing/2014/main" id="{B1FA3B63-F0ED-45C0-850E-8F885B6A821B}"/>
              </a:ext>
            </a:extLst>
          </p:cNvPr>
          <p:cNvSpPr>
            <a:spLocks xmlns:a="http://schemas.openxmlformats.org/drawingml/2006/main" noGrp="1"/>
          </p:cNvSpPr>
          <p:nvPr/>
        </p:nvSpPr>
        <p:spPr>
          <a:xfrm xmlns:a="http://schemas.openxmlformats.org/drawingml/2006/main">
            <a:off x="60960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2400" b="1">
                <a:solidFill>
                  <a:srgbClr val="008B83"/>
                </a:solidFill>
                <a:latin typeface="Arial"/>
                <a:ea typeface="Arial"/>
                <a:cs typeface="Arial"/>
              </a:defRPr>
            </a:pPr>
            <a:r>
              <a:rPr sz="2400" b="1">
                <a:solidFill>
                  <a:srgbClr val="008B83"/>
                </a:solidFill>
                <a:latin typeface="Arial"/>
                <a:ea typeface="Arial"/>
                <a:cs typeface="Arial"/>
              </a:rPr>
              <a:t>PIT aggregated</a:t>
            </a:r>
          </a:p>
        </p:txBody>
      </p:sp>
      <p:sp>
        <p:nvSpPr>
          <p:cNvPr id="27" name="s4-confidence">
            <a:extLst xmlns:a="http://schemas.openxmlformats.org/drawingml/2006/main">
              <a:ext uri="{FF2B5EF4-FFF2-40B4-BE49-F238E27FC236}">
                <a16:creationId xmlns:a16="http://schemas.microsoft.com/office/drawing/2014/main" id="{AD71BB58-5451-415C-A65B-7E2B3B632435}"/>
              </a:ext>
            </a:extLst>
          </p:cNvPr>
          <p:cNvSpPr>
            <a:spLocks xmlns:a="http://schemas.openxmlformats.org/drawingml/2006/main" noGrp="1"/>
          </p:cNvSpPr>
          <p:nvPr/>
        </p:nvSpPr>
        <p:spPr>
          <a:xfrm xmlns:a="http://schemas.openxmlformats.org/drawingml/2006/main">
            <a:off x="333375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923"/>
          </a:bodyPr>
          <a:lstStyle xmlns:a="http://schemas.openxmlformats.org/drawingml/2006/main"/>
          <a:p xmlns:a="http://schemas.openxmlformats.org/drawingml/2006/main">
            <a:pPr algn="l">
              <a:buNone/>
              <a:defRPr sz="2400" b="1">
                <a:solidFill>
                  <a:srgbClr val="0B63E5"/>
                </a:solidFill>
                <a:latin typeface="Arial"/>
                <a:ea typeface="Arial"/>
                <a:cs typeface="Arial"/>
              </a:defRPr>
            </a:pPr>
            <a:r>
              <a:rPr sz="2400" b="1">
                <a:solidFill>
                  <a:srgbClr val="0B63E5"/>
                </a:solidFill>
                <a:latin typeface="Arial"/>
                <a:ea typeface="Arial"/>
                <a:cs typeface="Arial"/>
              </a:rPr>
              <a:t>hash + schema retained</a:t>
            </a:r>
          </a:p>
        </p:txBody>
      </p:sp>
      <p:sp>
        <p:nvSpPr>
          <p:cNvPr id="28" name="s4-source">
            <a:extLst xmlns:a="http://schemas.openxmlformats.org/drawingml/2006/main">
              <a:ext uri="{FF2B5EF4-FFF2-40B4-BE49-F238E27FC236}">
                <a16:creationId xmlns:a16="http://schemas.microsoft.com/office/drawing/2014/main" id="{D55FD589-17F0-44D3-814C-C5BAB73BC731}"/>
              </a:ext>
            </a:extLst>
          </p:cNvPr>
          <p:cNvSpPr>
            <a:spLocks xmlns:a="http://schemas.openxmlformats.org/drawingml/2006/main" noGrp="1"/>
          </p:cNvSpPr>
          <p:nvPr/>
        </p:nvSpPr>
        <p:spPr>
          <a:xfrm xmlns:a="http://schemas.openxmlformats.org/drawingml/2006/main">
            <a:off x="7086600" y="3381375"/>
            <a:ext cx="4210050" cy="23812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9" name="s4-source-label">
            <a:extLst xmlns:a="http://schemas.openxmlformats.org/drawingml/2006/main">
              <a:ext uri="{FF2B5EF4-FFF2-40B4-BE49-F238E27FC236}">
                <a16:creationId xmlns:a16="http://schemas.microsoft.com/office/drawing/2014/main" id="{217A931D-007D-4A0C-95F0-73CED7F3CF2E}"/>
              </a:ext>
            </a:extLst>
          </p:cNvPr>
          <p:cNvSpPr>
            <a:spLocks xmlns:a="http://schemas.openxmlformats.org/drawingml/2006/main" noGrp="1"/>
          </p:cNvSpPr>
          <p:nvPr/>
        </p:nvSpPr>
        <p:spPr>
          <a:xfrm xmlns:a="http://schemas.openxmlformats.org/drawingml/2006/main">
            <a:off x="7372350" y="36576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SCOPE NOTE</a:t>
            </a:r>
          </a:p>
        </p:txBody>
      </p:sp>
      <p:sp>
        <p:nvSpPr>
          <p:cNvPr id="30" name="s4-source-title">
            <a:extLst xmlns:a="http://schemas.openxmlformats.org/drawingml/2006/main">
              <a:ext uri="{FF2B5EF4-FFF2-40B4-BE49-F238E27FC236}">
                <a16:creationId xmlns:a16="http://schemas.microsoft.com/office/drawing/2014/main" id="{717E2732-ABDA-4271-828C-FF41065EF3CD}"/>
              </a:ext>
            </a:extLst>
          </p:cNvPr>
          <p:cNvSpPr>
            <a:spLocks xmlns:a="http://schemas.openxmlformats.org/drawingml/2006/main" noGrp="1"/>
          </p:cNvSpPr>
          <p:nvPr/>
        </p:nvSpPr>
        <p:spPr>
          <a:xfrm xmlns:a="http://schemas.openxmlformats.org/drawingml/2006/main">
            <a:off x="7372350" y="4057650"/>
            <a:ext cx="3333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Brief says 50; supply contains 20</a:t>
            </a:r>
          </a:p>
        </p:txBody>
      </p:sp>
      <p:sp>
        <p:nvSpPr>
          <p:cNvPr id="31" name="s4-source-body">
            <a:extLst xmlns:a="http://schemas.openxmlformats.org/drawingml/2006/main">
              <a:ext uri="{FF2B5EF4-FFF2-40B4-BE49-F238E27FC236}">
                <a16:creationId xmlns:a16="http://schemas.microsoft.com/office/drawing/2014/main" id="{03CA8EDD-6632-477C-9108-94487E5C93DB}"/>
              </a:ext>
            </a:extLst>
          </p:cNvPr>
          <p:cNvSpPr>
            <a:spLocks xmlns:a="http://schemas.openxmlformats.org/drawingml/2006/main" noGrp="1"/>
          </p:cNvSpPr>
          <p:nvPr/>
        </p:nvSpPr>
        <p:spPr>
          <a:xfrm xmlns:a="http://schemas.openxmlformats.org/drawingml/2006/main">
            <a:off x="7372350" y="4724400"/>
            <a:ext cx="3333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Collections + Payments</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Liquidity-flow proxy</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Cross-border FX exposure</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Trade Finance instruments</a:t>
            </a:r>
          </a:p>
        </p:txBody>
      </p:sp>
    </p:spTree>
    <p:extLst>
      <p:ext uri="{BB962C8B-B14F-4D97-AF65-F5344CB8AC3E}">
        <p14:creationId xmlns:p14="http://schemas.microsoft.com/office/powerpoint/2010/main" val="30632535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9" name="eyebrow-3">
            <a:extLst xmlns:a="http://schemas.openxmlformats.org/drawingml/2006/main">
              <a:ext uri="{FF2B5EF4-FFF2-40B4-BE49-F238E27FC236}">
                <a16:creationId xmlns:a16="http://schemas.microsoft.com/office/drawing/2014/main" id="{DB96CD3A-1E7F-4E39-8563-2A8FCC81736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GOVERNED MEASUREMENT</a:t>
            </a:r>
          </a:p>
        </p:txBody>
      </p:sp>
      <p:sp>
        <p:nvSpPr>
          <p:cNvPr id="2" name="title-3">
            <a:extLst xmlns:a="http://schemas.openxmlformats.org/drawingml/2006/main">
              <a:ext uri="{FF2B5EF4-FFF2-40B4-BE49-F238E27FC236}">
                <a16:creationId xmlns:a16="http://schemas.microsoft.com/office/drawing/2014/main" id="{39E2380B-3F18-4D04-8779-0746FA66FBA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Only approved evidence is allowed to narrow the wallet</a:t>
            </a:r>
          </a:p>
        </p:txBody>
      </p:sp>
      <p:cxnSp>
        <p:nvCxnSpPr>
          <p:cNvPr id="33" name="title-rule-3"/>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3">
            <a:extLst xmlns:a="http://schemas.openxmlformats.org/drawingml/2006/main">
              <a:ext uri="{FF2B5EF4-FFF2-40B4-BE49-F238E27FC236}">
                <a16:creationId xmlns:a16="http://schemas.microsoft.com/office/drawing/2014/main" id="{FB76B7B5-7A94-4AF1-AC18-2035EA55F656}"/>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3">
            <a:extLst xmlns:a="http://schemas.openxmlformats.org/drawingml/2006/main">
              <a:ext uri="{FF2B5EF4-FFF2-40B4-BE49-F238E27FC236}">
                <a16:creationId xmlns:a16="http://schemas.microsoft.com/office/drawing/2014/main" id="{47F0181D-B66B-42CD-886C-F10642F3979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3">
            <a:extLst xmlns:a="http://schemas.openxmlformats.org/drawingml/2006/main">
              <a:ext uri="{FF2B5EF4-FFF2-40B4-BE49-F238E27FC236}">
                <a16:creationId xmlns:a16="http://schemas.microsoft.com/office/drawing/2014/main" id="{3755CAB3-69BB-4DDC-B760-2B277FFC02F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04</a:t>
            </a:r>
          </a:p>
        </p:txBody>
      </p:sp>
      <p:sp>
        <p:nvSpPr>
          <p:cNvPr id="7" name="s3-callout">
            <a:extLst xmlns:a="http://schemas.openxmlformats.org/drawingml/2006/main">
              <a:ext uri="{FF2B5EF4-FFF2-40B4-BE49-F238E27FC236}">
                <a16:creationId xmlns:a16="http://schemas.microsoft.com/office/drawing/2014/main" id="{2F6A0AD1-A0C7-4888-BC49-5191B713A634}"/>
              </a:ext>
            </a:extLst>
          </p:cNvPr>
          <p:cNvSpPr>
            <a:spLocks xmlns:a="http://schemas.openxmlformats.org/drawingml/2006/main" noGrp="1"/>
          </p:cNvSpPr>
          <p:nvPr/>
        </p:nvSpPr>
        <p:spPr>
          <a:xfrm xmlns:a="http://schemas.openxmlformats.org/drawingml/2006/main">
            <a:off x="609600" y="1704975"/>
            <a:ext cx="3733800" cy="39243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3-call-label">
            <a:extLst xmlns:a="http://schemas.openxmlformats.org/drawingml/2006/main">
              <a:ext uri="{FF2B5EF4-FFF2-40B4-BE49-F238E27FC236}">
                <a16:creationId xmlns:a16="http://schemas.microsoft.com/office/drawing/2014/main" id="{BA89A36E-DEBD-4EBC-BA47-B6F0F9B059AF}"/>
              </a:ext>
            </a:extLst>
          </p:cNvPr>
          <p:cNvSpPr>
            <a:spLocks xmlns:a="http://schemas.openxmlformats.org/drawingml/2006/main" noGrp="1"/>
          </p:cNvSpPr>
          <p:nvPr/>
        </p:nvSpPr>
        <p:spPr>
          <a:xfrm xmlns:a="http://schemas.openxmlformats.org/drawingml/2006/main">
            <a:off x="876300" y="19716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AUTHORITATIVE SOURCE ESTATE</a:t>
            </a:r>
          </a:p>
        </p:txBody>
      </p:sp>
      <p:sp>
        <p:nvSpPr>
          <p:cNvPr id="9" name="s3-call-client">
            <a:extLst xmlns:a="http://schemas.openxmlformats.org/drawingml/2006/main">
              <a:ext uri="{FF2B5EF4-FFF2-40B4-BE49-F238E27FC236}">
                <a16:creationId xmlns:a16="http://schemas.microsoft.com/office/drawing/2014/main" id="{9BCCEBC6-96B5-4B48-AE4B-F50A18AB3A11}"/>
              </a:ext>
            </a:extLst>
          </p:cNvPr>
          <p:cNvSpPr>
            <a:spLocks xmlns:a="http://schemas.openxmlformats.org/drawingml/2006/main" noGrp="1"/>
          </p:cNvSpPr>
          <p:nvPr/>
        </p:nvSpPr>
        <p:spPr>
          <a:xfrm xmlns:a="http://schemas.openxmlformats.org/drawingml/2006/main">
            <a:off x="876300" y="2476500"/>
            <a:ext cx="304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259"/>
          </a:bodyPr>
          <a:lstStyle xmlns:a="http://schemas.openxmlformats.org/drawingml/2006/main"/>
          <a:p xmlns:a="http://schemas.openxmlformats.org/drawingml/2006/main">
            <a:pPr algn="l">
              <a:buNone/>
              <a:defRPr sz="2700" b="1">
                <a:solidFill>
                  <a:srgbClr val="FFFFFF"/>
                </a:solidFill>
                <a:latin typeface="Arial"/>
                <a:ea typeface="Arial"/>
                <a:cs typeface="Arial"/>
              </a:defRPr>
            </a:pPr>
            <a:r>
              <a:rPr sz="2700" b="1">
                <a:solidFill>
                  <a:srgbClr val="FFFFFF"/>
                </a:solidFill>
                <a:latin typeface="Arial"/>
                <a:ea typeface="Arial"/>
                <a:cs typeface="Arial"/>
              </a:rPr>
              <a:t>82 public facts</a:t>
            </a:r>
          </a:p>
        </p:txBody>
      </p:sp>
      <p:sp>
        <p:nvSpPr>
          <p:cNvPr id="10" name="s3-call-product">
            <a:extLst xmlns:a="http://schemas.openxmlformats.org/drawingml/2006/main">
              <a:ext uri="{FF2B5EF4-FFF2-40B4-BE49-F238E27FC236}">
                <a16:creationId xmlns:a16="http://schemas.microsoft.com/office/drawing/2014/main" id="{EA04A63B-AEAF-41AB-8A77-755C38A3BCF2}"/>
              </a:ext>
            </a:extLst>
          </p:cNvPr>
          <p:cNvSpPr>
            <a:spLocks xmlns:a="http://schemas.openxmlformats.org/drawingml/2006/main" noGrp="1"/>
          </p:cNvSpPr>
          <p:nvPr/>
        </p:nvSpPr>
        <p:spPr>
          <a:xfrm xmlns:a="http://schemas.openxmlformats.org/drawingml/2006/main">
            <a:off x="876300" y="29908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95"/>
          </a:bodyPr>
          <a:lstStyle xmlns:a="http://schemas.openxmlformats.org/drawingml/2006/main"/>
          <a:p xmlns:a="http://schemas.openxmlformats.org/drawingml/2006/main">
            <a:pPr algn="l">
              <a:buNone/>
              <a:defRPr sz="2325" b="1">
                <a:solidFill>
                  <a:srgbClr val="FFFFFF"/>
                </a:solidFill>
                <a:latin typeface="Arial"/>
                <a:ea typeface="Arial"/>
                <a:cs typeface="Arial"/>
              </a:defRPr>
            </a:pPr>
            <a:r>
              <a:rPr sz="2325" b="1">
                <a:solidFill>
                  <a:srgbClr val="FFFFFF"/>
                </a:solidFill>
                <a:latin typeface="Arial"/>
                <a:ea typeface="Arial"/>
                <a:cs typeface="Arial"/>
              </a:rPr>
              <a:t>31 approved · 51 pending</a:t>
            </a:r>
          </a:p>
        </p:txBody>
      </p:sp>
      <p:sp>
        <p:nvSpPr>
          <p:cNvPr id="11" name="s3-call-gap">
            <a:extLst xmlns:a="http://schemas.openxmlformats.org/drawingml/2006/main">
              <a:ext uri="{FF2B5EF4-FFF2-40B4-BE49-F238E27FC236}">
                <a16:creationId xmlns:a16="http://schemas.microsoft.com/office/drawing/2014/main" id="{AAE8C7D2-DDA2-48AA-9905-B1AAEF936EA0}"/>
              </a:ext>
            </a:extLst>
          </p:cNvPr>
          <p:cNvSpPr>
            <a:spLocks xmlns:a="http://schemas.openxmlformats.org/drawingml/2006/main" noGrp="1"/>
          </p:cNvSpPr>
          <p:nvPr/>
        </p:nvSpPr>
        <p:spPr>
          <a:xfrm xmlns:a="http://schemas.openxmlformats.org/drawingml/2006/main">
            <a:off x="876300" y="369570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985"/>
          </a:bodyPr>
          <a:lstStyle xmlns:a="http://schemas.openxmlformats.org/drawingml/2006/main"/>
          <a:p xmlns:a="http://schemas.openxmlformats.org/drawingml/2006/main">
            <a:pPr algn="l">
              <a:buNone/>
              <a:defRPr sz="3300" b="1">
                <a:solidFill>
                  <a:srgbClr val="E2951C"/>
                </a:solidFill>
                <a:latin typeface="Arial"/>
                <a:ea typeface="Arial"/>
                <a:cs typeface="Arial"/>
              </a:defRPr>
            </a:pPr>
            <a:r>
              <a:rPr sz="3300" b="1">
                <a:solidFill>
                  <a:srgbClr val="E2951C"/>
                </a:solidFill>
                <a:latin typeface="Arial"/>
                <a:ea typeface="Arial"/>
                <a:cs typeface="Arial"/>
              </a:rPr>
              <a:t>15</a:t>
            </a:r>
          </a:p>
        </p:txBody>
      </p:sp>
      <p:sp>
        <p:nvSpPr>
          <p:cNvPr id="12" name="s3-call-gap-label">
            <a:extLst xmlns:a="http://schemas.openxmlformats.org/drawingml/2006/main">
              <a:ext uri="{FF2B5EF4-FFF2-40B4-BE49-F238E27FC236}">
                <a16:creationId xmlns:a16="http://schemas.microsoft.com/office/drawing/2014/main" id="{037CDF15-CF86-445E-B3F4-0D4388E8913B}"/>
              </a:ext>
            </a:extLst>
          </p:cNvPr>
          <p:cNvSpPr>
            <a:spLocks xmlns:a="http://schemas.openxmlformats.org/drawingml/2006/main" noGrp="1"/>
          </p:cNvSpPr>
          <p:nvPr/>
        </p:nvSpPr>
        <p:spPr>
          <a:xfrm xmlns:a="http://schemas.openxmlformats.org/drawingml/2006/main">
            <a:off x="876300" y="4276725"/>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B9C8D9"/>
                </a:solidFill>
                <a:latin typeface="Arial"/>
                <a:ea typeface="Arial"/>
                <a:cs typeface="Arial"/>
              </a:defRPr>
            </a:pPr>
            <a:r>
              <a:rPr sz="1200" b="0">
                <a:solidFill>
                  <a:srgbClr val="B9C8D9"/>
                </a:solidFill>
                <a:latin typeface="Arial"/>
                <a:ea typeface="Arial"/>
                <a:cs typeface="Arial"/>
              </a:rPr>
              <a:t>active anchored cells</a:t>
            </a:r>
          </a:p>
        </p:txBody>
      </p:sp>
      <p:sp>
        <p:nvSpPr>
          <p:cNvPr id="13" name="s3-call-confidence">
            <a:extLst xmlns:a="http://schemas.openxmlformats.org/drawingml/2006/main">
              <a:ext uri="{FF2B5EF4-FFF2-40B4-BE49-F238E27FC236}">
                <a16:creationId xmlns:a16="http://schemas.microsoft.com/office/drawing/2014/main" id="{1CE0D2C4-F31E-4632-A74F-E18D5CA14D84}"/>
              </a:ext>
            </a:extLst>
          </p:cNvPr>
          <p:cNvSpPr>
            <a:spLocks xmlns:a="http://schemas.openxmlformats.org/drawingml/2006/main" noGrp="1"/>
          </p:cNvSpPr>
          <p:nvPr/>
        </p:nvSpPr>
        <p:spPr>
          <a:xfrm xmlns:a="http://schemas.openxmlformats.org/drawingml/2006/main">
            <a:off x="876300" y="4791075"/>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15"/>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85 E0 prior-led cells · three approved-anchor clients</a:t>
            </a:r>
          </a:p>
        </p:txBody>
      </p:sp>
      <p:sp>
        <p:nvSpPr>
          <p:cNvPr id="14" name="s3-call-action">
            <a:extLst xmlns:a="http://schemas.openxmlformats.org/drawingml/2006/main">
              <a:ext uri="{FF2B5EF4-FFF2-40B4-BE49-F238E27FC236}">
                <a16:creationId xmlns:a16="http://schemas.microsoft.com/office/drawing/2014/main" id="{49769E56-10AC-4313-80BD-0D6231B5B878}"/>
              </a:ext>
            </a:extLst>
          </p:cNvPr>
          <p:cNvSpPr>
            <a:spLocks xmlns:a="http://schemas.openxmlformats.org/drawingml/2006/main" noGrp="1"/>
          </p:cNvSpPr>
          <p:nvPr/>
        </p:nvSpPr>
        <p:spPr>
          <a:xfrm xmlns:a="http://schemas.openxmlformats.org/drawingml/2006/main">
            <a:off x="876300" y="50958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67"/>
          </a:bodyPr>
          <a:lstStyle xmlns:a="http://schemas.openxmlformats.org/drawingml/2006/main"/>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Pending candidates may pass deterministic QA, but cannot activate anchors, change ranks or enter banker-facing claim paths.</a:t>
            </a:r>
          </a:p>
        </p:txBody>
      </p:sp>
      <p:sp>
        <p:nvSpPr>
          <p:cNvPr id="15" name="s3-chart-title">
            <a:extLst xmlns:a="http://schemas.openxmlformats.org/drawingml/2006/main">
              <a:ext uri="{FF2B5EF4-FFF2-40B4-BE49-F238E27FC236}">
                <a16:creationId xmlns:a16="http://schemas.microsoft.com/office/drawing/2014/main" id="{2FB44F9E-CE69-47D5-911F-7717D3FCA509}"/>
              </a:ext>
            </a:extLst>
          </p:cNvPr>
          <p:cNvSpPr>
            <a:spLocks xmlns:a="http://schemas.openxmlformats.org/drawingml/2006/main" noGrp="1"/>
          </p:cNvSpPr>
          <p:nvPr/>
        </p:nvSpPr>
        <p:spPr>
          <a:xfrm xmlns:a="http://schemas.openxmlformats.org/drawingml/2006/main">
            <a:off x="4762500" y="17335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E1 pooling-weight sensitivity</a:t>
            </a:r>
          </a:p>
        </p:txBody>
      </p:sp>
      <p:graphicFrame>
        <p:nvGraphicFramePr>
          <p:cNvPr id="46" name="Chart"/>
          <p:cNvGraphicFramePr/>
          <p:nvPr/>
        </p:nvGraphicFramePr>
        <p:xfrm>
          <a:off xmlns:a="http://schemas.openxmlformats.org/drawingml/2006/main" x="4762500" y="2152650"/>
          <a:ext xmlns:a="http://schemas.openxmlformats.org/drawingml/2006/main" cx="6477000" cy="2990850"/>
        </p:xfrm>
        <a:graphic xmlns:a="http://schemas.openxmlformats.org/drawingml/2006/main">
          <a:graphicData uri="http://schemas.openxmlformats.org/drawingml/2006/chart">
            <c:chart xmlns:r="http://schemas.openxmlformats.org/officeDocument/2006/relationships" xmlns:c="http://schemas.openxmlformats.org/drawingml/2006/chart" r:id="R5fa2628a8d7d4bb0"/>
          </a:graphicData>
        </a:graphic>
      </p:graphicFrame>
      <p:sp>
        <p:nvSpPr>
          <p:cNvPr id="17" name="s3-pack">
            <a:extLst xmlns:a="http://schemas.openxmlformats.org/drawingml/2006/main">
              <a:ext uri="{FF2B5EF4-FFF2-40B4-BE49-F238E27FC236}">
                <a16:creationId xmlns:a16="http://schemas.microsoft.com/office/drawing/2014/main" id="{A0BA89EC-03A0-489C-9FAB-3DC2CCCD401F}"/>
              </a:ext>
            </a:extLst>
          </p:cNvPr>
          <p:cNvSpPr>
            <a:spLocks xmlns:a="http://schemas.openxmlformats.org/drawingml/2006/main" noGrp="1"/>
          </p:cNvSpPr>
          <p:nvPr/>
        </p:nvSpPr>
        <p:spPr>
          <a:xfrm xmlns:a="http://schemas.openxmlformats.org/drawingml/2006/main">
            <a:off x="4762500" y="5381625"/>
            <a:ext cx="6477000" cy="60960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3-pack-copy">
            <a:extLst xmlns:a="http://schemas.openxmlformats.org/drawingml/2006/main">
              <a:ext uri="{FF2B5EF4-FFF2-40B4-BE49-F238E27FC236}">
                <a16:creationId xmlns:a16="http://schemas.microsoft.com/office/drawing/2014/main" id="{0F79E16E-B685-49A1-995B-FEBBD318DCA1}"/>
              </a:ext>
            </a:extLst>
          </p:cNvPr>
          <p:cNvSpPr>
            <a:spLocks xmlns:a="http://schemas.openxmlformats.org/drawingml/2006/main" noGrp="1"/>
          </p:cNvSpPr>
          <p:nvPr/>
        </p:nvSpPr>
        <p:spPr>
          <a:xfrm xmlns:a="http://schemas.openxmlformats.org/drawingml/2006/main">
            <a:off x="4953000" y="55435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90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Measurement policy v2-wallet-measurement-policy-1.1.0 fixes E1 at 0.35. The 0.20 / 0.35 / 0.50 sweep reports coverage, CRPS, width and rank effects.</a:t>
            </a:r>
          </a:p>
        </p:txBody>
      </p:sp>
    </p:spTree>
    <p:extLst>
      <p:ext uri="{BB962C8B-B14F-4D97-AF65-F5344CB8AC3E}">
        <p14:creationId xmlns:p14="http://schemas.microsoft.com/office/powerpoint/2010/main" val="66959344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7" name="eyebrow-9">
            <a:extLst xmlns:a="http://schemas.openxmlformats.org/drawingml/2006/main">
              <a:ext uri="{FF2B5EF4-FFF2-40B4-BE49-F238E27FC236}">
                <a16:creationId xmlns:a16="http://schemas.microsoft.com/office/drawing/2014/main" id="{AEA04869-C248-4640-A9DA-040442CB5DB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20 × 5 COMMERCIAL SURFACE</a:t>
            </a:r>
          </a:p>
        </p:txBody>
      </p:sp>
      <p:sp>
        <p:nvSpPr>
          <p:cNvPr id="2" name="title-9">
            <a:extLst xmlns:a="http://schemas.openxmlformats.org/drawingml/2006/main">
              <a:ext uri="{FF2B5EF4-FFF2-40B4-BE49-F238E27FC236}">
                <a16:creationId xmlns:a16="http://schemas.microsoft.com/office/drawing/2014/main" id="{ED2E1053-3615-4884-B6E2-9C37667D78F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heatmap makes the latent opportunity actionable</a:t>
            </a:r>
          </a:p>
        </p:txBody>
      </p:sp>
      <p:cxnSp>
        <p:nvCxnSpPr>
          <p:cNvPr id="73" name="title-rule-9"/>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9">
            <a:extLst xmlns:a="http://schemas.openxmlformats.org/drawingml/2006/main">
              <a:ext uri="{FF2B5EF4-FFF2-40B4-BE49-F238E27FC236}">
                <a16:creationId xmlns:a16="http://schemas.microsoft.com/office/drawing/2014/main" id="{09B569FE-EC46-4739-A23C-0E8BA5B06D28}"/>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9">
            <a:extLst xmlns:a="http://schemas.openxmlformats.org/drawingml/2006/main">
              <a:ext uri="{FF2B5EF4-FFF2-40B4-BE49-F238E27FC236}">
                <a16:creationId xmlns:a16="http://schemas.microsoft.com/office/drawing/2014/main" id="{1D9BB471-1373-4910-88AA-D5BFA073E143}"/>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9">
            <a:extLst xmlns:a="http://schemas.openxmlformats.org/drawingml/2006/main">
              <a:ext uri="{FF2B5EF4-FFF2-40B4-BE49-F238E27FC236}">
                <a16:creationId xmlns:a16="http://schemas.microsoft.com/office/drawing/2014/main" id="{5C2765E7-8EB9-4173-8492-9E0D141DC87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05</a:t>
            </a:r>
          </a:p>
        </p:txBody>
      </p:sp>
      <p:sp>
        <p:nvSpPr>
          <p:cNvPr id="7" name="s9-timing-label">
            <a:extLst xmlns:a="http://schemas.openxmlformats.org/drawingml/2006/main">
              <a:ext uri="{FF2B5EF4-FFF2-40B4-BE49-F238E27FC236}">
                <a16:creationId xmlns:a16="http://schemas.microsoft.com/office/drawing/2014/main" id="{665320DC-9237-4027-AB7A-F67E83C61DFE}"/>
              </a:ext>
            </a:extLst>
          </p:cNvPr>
          <p:cNvSpPr>
            <a:spLocks xmlns:a="http://schemas.openxmlformats.org/drawingml/2006/main" noGrp="1"/>
          </p:cNvSpPr>
          <p:nvPr/>
        </p:nvSpPr>
        <p:spPr>
          <a:xfrm xmlns:a="http://schemas.openxmlformats.org/drawingml/2006/main">
            <a:off x="609600" y="17430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DEFAULT COLOUR: CONTESTABLE SCENARIO CONTRIBUTION</a:t>
            </a:r>
          </a:p>
        </p:txBody>
      </p:sp>
      <p:cxnSp>
        <p:nvCxnSpPr>
          <p:cNvPr id="78" name="s9-h-rule-0"/>
          <p:cNvCxnSpPr/>
          <p:nvPr/>
        </p:nvCxnSpPr>
        <p:spPr>
          <a:xfrm xmlns:a="http://schemas.openxmlformats.org/drawingml/2006/main">
            <a:off x="609600" y="2181225"/>
            <a:ext cx="1809750" cy="0"/>
          </a:xfrm>
          <a:prstGeom xmlns:a="http://schemas.openxmlformats.org/drawingml/2006/main" prst="straightConnector1">
            <a:avLst/>
          </a:prstGeom>
          <a:ln xmlns:a="http://schemas.openxmlformats.org/drawingml/2006/main" w="38100">
            <a:solidFill>
              <a:srgbClr val="0B63E5"/>
            </a:solidFill>
            <a:prstDash val="solid"/>
          </a:ln>
        </p:spPr>
      </p:cxnSp>
      <p:sp>
        <p:nvSpPr>
          <p:cNvPr id="9" name="s9-h-value-0">
            <a:extLst xmlns:a="http://schemas.openxmlformats.org/drawingml/2006/main">
              <a:ext uri="{FF2B5EF4-FFF2-40B4-BE49-F238E27FC236}">
                <a16:creationId xmlns:a16="http://schemas.microsoft.com/office/drawing/2014/main" id="{4113595E-E315-4B4B-A0B6-4802DD0C7433}"/>
              </a:ext>
            </a:extLst>
          </p:cNvPr>
          <p:cNvSpPr>
            <a:spLocks xmlns:a="http://schemas.openxmlformats.org/drawingml/2006/main" noGrp="1"/>
          </p:cNvSpPr>
          <p:nvPr/>
        </p:nvSpPr>
        <p:spPr>
          <a:xfrm xmlns:a="http://schemas.openxmlformats.org/drawingml/2006/main">
            <a:off x="6096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0" name="s9-h-label-0">
            <a:extLst xmlns:a="http://schemas.openxmlformats.org/drawingml/2006/main">
              <a:ext uri="{FF2B5EF4-FFF2-40B4-BE49-F238E27FC236}">
                <a16:creationId xmlns:a16="http://schemas.microsoft.com/office/drawing/2014/main" id="{8ED26689-4EAE-4337-B424-E5AD434AD2A4}"/>
              </a:ext>
            </a:extLst>
          </p:cNvPr>
          <p:cNvSpPr>
            <a:spLocks xmlns:a="http://schemas.openxmlformats.org/drawingml/2006/main" noGrp="1"/>
          </p:cNvSpPr>
          <p:nvPr/>
        </p:nvSpPr>
        <p:spPr>
          <a:xfrm xmlns:a="http://schemas.openxmlformats.org/drawingml/2006/main">
            <a:off x="6096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B63E5"/>
                </a:solidFill>
                <a:latin typeface="Arial"/>
                <a:ea typeface="Arial"/>
                <a:cs typeface="Arial"/>
              </a:defRPr>
            </a:pPr>
            <a:r>
              <a:rPr sz="1125" b="1">
                <a:solidFill>
                  <a:srgbClr val="0B63E5"/>
                </a:solidFill>
                <a:latin typeface="Arial"/>
                <a:ea typeface="Arial"/>
                <a:cs typeface="Arial"/>
              </a:rPr>
              <a:t>INTERACTIVE CELLS</a:t>
            </a:r>
          </a:p>
        </p:txBody>
      </p:sp>
      <p:cxnSp>
        <p:nvCxnSpPr>
          <p:cNvPr id="81" name="s9-h-rule-1"/>
          <p:cNvCxnSpPr/>
          <p:nvPr/>
        </p:nvCxnSpPr>
        <p:spPr>
          <a:xfrm xmlns:a="http://schemas.openxmlformats.org/drawingml/2006/main">
            <a:off x="2743200" y="2181225"/>
            <a:ext cx="18097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9-h-value-1">
            <a:extLst xmlns:a="http://schemas.openxmlformats.org/drawingml/2006/main">
              <a:ext uri="{FF2B5EF4-FFF2-40B4-BE49-F238E27FC236}">
                <a16:creationId xmlns:a16="http://schemas.microsoft.com/office/drawing/2014/main" id="{355CD3AB-9BE9-491B-9D3E-DA868F3CF4F3}"/>
              </a:ext>
            </a:extLst>
          </p:cNvPr>
          <p:cNvSpPr>
            <a:spLocks xmlns:a="http://schemas.openxmlformats.org/drawingml/2006/main" noGrp="1"/>
          </p:cNvSpPr>
          <p:nvPr/>
        </p:nvSpPr>
        <p:spPr>
          <a:xfrm xmlns:a="http://schemas.openxmlformats.org/drawingml/2006/main">
            <a:off x="27432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15</a:t>
            </a:r>
          </a:p>
        </p:txBody>
      </p:sp>
      <p:sp>
        <p:nvSpPr>
          <p:cNvPr id="13" name="s9-h-label-1">
            <a:extLst xmlns:a="http://schemas.openxmlformats.org/drawingml/2006/main">
              <a:ext uri="{FF2B5EF4-FFF2-40B4-BE49-F238E27FC236}">
                <a16:creationId xmlns:a16="http://schemas.microsoft.com/office/drawing/2014/main" id="{0EB1E1EB-448E-4A8C-BBB4-108BC7A09DBA}"/>
              </a:ext>
            </a:extLst>
          </p:cNvPr>
          <p:cNvSpPr>
            <a:spLocks xmlns:a="http://schemas.openxmlformats.org/drawingml/2006/main" noGrp="1"/>
          </p:cNvSpPr>
          <p:nvPr/>
        </p:nvSpPr>
        <p:spPr>
          <a:xfrm xmlns:a="http://schemas.openxmlformats.org/drawingml/2006/main">
            <a:off x="27432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08B83"/>
                </a:solidFill>
                <a:latin typeface="Arial"/>
                <a:ea typeface="Arial"/>
                <a:cs typeface="Arial"/>
              </a:defRPr>
            </a:pPr>
            <a:r>
              <a:rPr sz="1125" b="1">
                <a:solidFill>
                  <a:srgbClr val="008B83"/>
                </a:solidFill>
                <a:latin typeface="Arial"/>
                <a:ea typeface="Arial"/>
                <a:cs typeface="Arial"/>
              </a:rPr>
              <a:t>E1 APPROVED</a:t>
            </a:r>
          </a:p>
        </p:txBody>
      </p:sp>
      <p:cxnSp>
        <p:nvCxnSpPr>
          <p:cNvPr id="84" name="s9-h-rule-2"/>
          <p:cNvCxnSpPr/>
          <p:nvPr/>
        </p:nvCxnSpPr>
        <p:spPr>
          <a:xfrm xmlns:a="http://schemas.openxmlformats.org/drawingml/2006/main">
            <a:off x="4876800" y="2181225"/>
            <a:ext cx="1809750" cy="0"/>
          </a:xfrm>
          <a:prstGeom xmlns:a="http://schemas.openxmlformats.org/drawingml/2006/main" prst="straightConnector1">
            <a:avLst/>
          </a:prstGeom>
          <a:ln xmlns:a="http://schemas.openxmlformats.org/drawingml/2006/main" w="38100">
            <a:solidFill>
              <a:srgbClr val="7658D6"/>
            </a:solidFill>
            <a:prstDash val="solid"/>
          </a:ln>
        </p:spPr>
      </p:cxnSp>
      <p:sp>
        <p:nvSpPr>
          <p:cNvPr id="15" name="s9-h-value-2">
            <a:extLst xmlns:a="http://schemas.openxmlformats.org/drawingml/2006/main">
              <a:ext uri="{FF2B5EF4-FFF2-40B4-BE49-F238E27FC236}">
                <a16:creationId xmlns:a16="http://schemas.microsoft.com/office/drawing/2014/main" id="{83D75E51-677F-4C91-8292-646D579AB32F}"/>
              </a:ext>
            </a:extLst>
          </p:cNvPr>
          <p:cNvSpPr>
            <a:spLocks xmlns:a="http://schemas.openxmlformats.org/drawingml/2006/main" noGrp="1"/>
          </p:cNvSpPr>
          <p:nvPr/>
        </p:nvSpPr>
        <p:spPr>
          <a:xfrm xmlns:a="http://schemas.openxmlformats.org/drawingml/2006/main">
            <a:off x="48768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85</a:t>
            </a:r>
          </a:p>
        </p:txBody>
      </p:sp>
      <p:sp>
        <p:nvSpPr>
          <p:cNvPr id="16" name="s9-h-label-2">
            <a:extLst xmlns:a="http://schemas.openxmlformats.org/drawingml/2006/main">
              <a:ext uri="{FF2B5EF4-FFF2-40B4-BE49-F238E27FC236}">
                <a16:creationId xmlns:a16="http://schemas.microsoft.com/office/drawing/2014/main" id="{B46A99CE-8D74-42B7-B68D-EC1F8B8B129B}"/>
              </a:ext>
            </a:extLst>
          </p:cNvPr>
          <p:cNvSpPr>
            <a:spLocks xmlns:a="http://schemas.openxmlformats.org/drawingml/2006/main" noGrp="1"/>
          </p:cNvSpPr>
          <p:nvPr/>
        </p:nvSpPr>
        <p:spPr>
          <a:xfrm xmlns:a="http://schemas.openxmlformats.org/drawingml/2006/main">
            <a:off x="48768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7658D6"/>
                </a:solidFill>
                <a:latin typeface="Arial"/>
                <a:ea typeface="Arial"/>
                <a:cs typeface="Arial"/>
              </a:defRPr>
            </a:pPr>
            <a:r>
              <a:rPr sz="1125" b="1">
                <a:solidFill>
                  <a:srgbClr val="7658D6"/>
                </a:solidFill>
                <a:latin typeface="Arial"/>
                <a:ea typeface="Arial"/>
                <a:cs typeface="Arial"/>
              </a:rPr>
              <a:t>E0 PRIOR-LED</a:t>
            </a:r>
          </a:p>
        </p:txBody>
      </p:sp>
      <p:sp>
        <p:nvSpPr>
          <p:cNvPr id="17" name="s9-timing-boundary">
            <a:extLst xmlns:a="http://schemas.openxmlformats.org/drawingml/2006/main">
              <a:ext uri="{FF2B5EF4-FFF2-40B4-BE49-F238E27FC236}">
                <a16:creationId xmlns:a16="http://schemas.microsoft.com/office/drawing/2014/main" id="{32B7DD4B-06EA-40FE-BF15-A46B4B09CA58}"/>
              </a:ext>
            </a:extLst>
          </p:cNvPr>
          <p:cNvSpPr>
            <a:spLocks xmlns:a="http://schemas.openxmlformats.org/drawingml/2006/main" noGrp="1"/>
          </p:cNvSpPr>
          <p:nvPr/>
        </p:nvSpPr>
        <p:spPr>
          <a:xfrm xmlns:a="http://schemas.openxmlformats.org/drawingml/2006/main">
            <a:off x="609600" y="3581400"/>
            <a:ext cx="6096000" cy="20383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9-timing-title">
            <a:extLst xmlns:a="http://schemas.openxmlformats.org/drawingml/2006/main">
              <a:ext uri="{FF2B5EF4-FFF2-40B4-BE49-F238E27FC236}">
                <a16:creationId xmlns:a16="http://schemas.microsoft.com/office/drawing/2014/main" id="{DE5A29E3-C09B-4769-A0A0-CE7C77C6D298}"/>
              </a:ext>
            </a:extLst>
          </p:cNvPr>
          <p:cNvSpPr>
            <a:spLocks xmlns:a="http://schemas.openxmlformats.org/drawingml/2006/main" noGrp="1"/>
          </p:cNvSpPr>
          <p:nvPr/>
        </p:nvSpPr>
        <p:spPr>
          <a:xfrm xmlns:a="http://schemas.openxmlformats.org/drawingml/2006/main">
            <a:off x="876300" y="38671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1126"/>
          </a:bodyPr>
          <a:lstStyle xmlns:a="http://schemas.openxmlformats.org/drawingml/2006/main"/>
          <a:p xmlns:a="http://schemas.openxmlformats.org/drawingml/2006/main">
            <a:pPr algn="l">
              <a:buNone/>
              <a:defRPr sz="2175" b="1">
                <a:solidFill>
                  <a:srgbClr val="0C1728"/>
                </a:solidFill>
                <a:latin typeface="Arial"/>
                <a:ea typeface="Arial"/>
                <a:cs typeface="Arial"/>
              </a:defRPr>
            </a:pPr>
            <a:r>
              <a:rPr sz="2175" b="1">
                <a:solidFill>
                  <a:srgbClr val="0C1728"/>
                </a:solidFill>
                <a:latin typeface="Arial"/>
                <a:ea typeface="Arial"/>
                <a:cs typeface="Arial"/>
              </a:rPr>
              <a:t>Five product lenses · one explicit evidence state</a:t>
            </a:r>
          </a:p>
        </p:txBody>
      </p:sp>
      <p:sp>
        <p:nvSpPr>
          <p:cNvPr id="19" name="s9-timing-copy">
            <a:extLst xmlns:a="http://schemas.openxmlformats.org/drawingml/2006/main">
              <a:ext uri="{FF2B5EF4-FFF2-40B4-BE49-F238E27FC236}">
                <a16:creationId xmlns:a16="http://schemas.microsoft.com/office/drawing/2014/main" id="{92E94F2A-4684-4AD6-9F5A-912A18424301}"/>
              </a:ext>
            </a:extLst>
          </p:cNvPr>
          <p:cNvSpPr>
            <a:spLocks xmlns:a="http://schemas.openxmlformats.org/drawingml/2006/main" noGrp="1"/>
          </p:cNvSpPr>
          <p:nvPr/>
        </p:nvSpPr>
        <p:spPr>
          <a:xfrm xmlns:a="http://schemas.openxmlformats.org/drawingml/2006/main">
            <a:off x="876300" y="4410075"/>
            <a:ext cx="533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27086"/>
                </a:solidFill>
                <a:latin typeface="Arial"/>
                <a:ea typeface="Arial"/>
                <a:cs typeface="Arial"/>
              </a:defRPr>
            </a:pPr>
            <a:r>
              <a:rPr sz="1425" b="0">
                <a:solidFill>
                  <a:srgbClr val="627086"/>
                </a:solidFill>
                <a:latin typeface="Arial"/>
                <a:ea typeface="Arial"/>
                <a:cs typeface="Arial"/>
              </a:rPr>
              <a:t>Toggle A, posterior T, estimated q, contestable G or approval status. FX and Liquidity remain labelled proxies.</a:t>
            </a:r>
          </a:p>
        </p:txBody>
      </p:sp>
      <p:sp>
        <p:nvSpPr>
          <p:cNvPr id="20" name="s9-timing-decision">
            <a:extLst xmlns:a="http://schemas.openxmlformats.org/drawingml/2006/main">
              <a:ext uri="{FF2B5EF4-FFF2-40B4-BE49-F238E27FC236}">
                <a16:creationId xmlns:a16="http://schemas.microsoft.com/office/drawing/2014/main" id="{B4558216-3A90-4FBB-8AE9-6DFFDE615C36}"/>
              </a:ext>
            </a:extLst>
          </p:cNvPr>
          <p:cNvSpPr>
            <a:spLocks xmlns:a="http://schemas.openxmlformats.org/drawingml/2006/main" noGrp="1"/>
          </p:cNvSpPr>
          <p:nvPr/>
        </p:nvSpPr>
        <p:spPr>
          <a:xfrm xmlns:a="http://schemas.openxmlformats.org/drawingml/2006/main">
            <a:off x="876300" y="52006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0B63E5"/>
                </a:solidFill>
                <a:latin typeface="Arial"/>
                <a:ea typeface="Arial"/>
                <a:cs typeface="Arial"/>
              </a:defRPr>
            </a:pPr>
            <a:r>
              <a:rPr sz="1350" b="1">
                <a:solidFill>
                  <a:srgbClr val="0B63E5"/>
                </a:solidFill>
                <a:latin typeface="Arial"/>
                <a:ea typeface="Arial"/>
                <a:cs typeface="Arial"/>
              </a:rPr>
              <a:t>Click a cell to open A / T / q / q* / G</a:t>
            </a:r>
          </a:p>
        </p:txBody>
      </p:sp>
      <p:sp>
        <p:nvSpPr>
          <p:cNvPr id="21" name="s9-causal">
            <a:extLst xmlns:a="http://schemas.openxmlformats.org/drawingml/2006/main">
              <a:ext uri="{FF2B5EF4-FFF2-40B4-BE49-F238E27FC236}">
                <a16:creationId xmlns:a16="http://schemas.microsoft.com/office/drawing/2014/main" id="{DEB653AE-6340-4A85-A7AD-6C6F58485AA6}"/>
              </a:ext>
            </a:extLst>
          </p:cNvPr>
          <p:cNvSpPr>
            <a:spLocks xmlns:a="http://schemas.openxmlformats.org/drawingml/2006/main" noGrp="1"/>
          </p:cNvSpPr>
          <p:nvPr/>
        </p:nvSpPr>
        <p:spPr>
          <a:xfrm xmlns:a="http://schemas.openxmlformats.org/drawingml/2006/main">
            <a:off x="7162800" y="1714500"/>
            <a:ext cx="4133850" cy="390525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22" name="s9-causal-label">
            <a:extLst xmlns:a="http://schemas.openxmlformats.org/drawingml/2006/main">
              <a:ext uri="{FF2B5EF4-FFF2-40B4-BE49-F238E27FC236}">
                <a16:creationId xmlns:a16="http://schemas.microsoft.com/office/drawing/2014/main" id="{56CCB79D-2F4C-4071-AA99-A2CAF5C90ACD}"/>
              </a:ext>
            </a:extLst>
          </p:cNvPr>
          <p:cNvSpPr>
            <a:spLocks xmlns:a="http://schemas.openxmlformats.org/drawingml/2006/main" noGrp="1"/>
          </p:cNvSpPr>
          <p:nvPr/>
        </p:nvSpPr>
        <p:spPr>
          <a:xfrm xmlns:a="http://schemas.openxmlformats.org/drawingml/2006/main">
            <a:off x="7448550" y="2009775"/>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AGGREGATION RULE</a:t>
            </a:r>
          </a:p>
        </p:txBody>
      </p:sp>
      <p:sp>
        <p:nvSpPr>
          <p:cNvPr id="23" name="s9-zero">
            <a:extLst xmlns:a="http://schemas.openxmlformats.org/drawingml/2006/main">
              <a:ext uri="{FF2B5EF4-FFF2-40B4-BE49-F238E27FC236}">
                <a16:creationId xmlns:a16="http://schemas.microsoft.com/office/drawing/2014/main" id="{1BC298F3-8F98-44E8-90B8-57C6524EBBC2}"/>
              </a:ext>
            </a:extLst>
          </p:cNvPr>
          <p:cNvSpPr>
            <a:spLocks xmlns:a="http://schemas.openxmlformats.org/drawingml/2006/main" noGrp="1"/>
          </p:cNvSpPr>
          <p:nvPr/>
        </p:nvSpPr>
        <p:spPr>
          <a:xfrm xmlns:a="http://schemas.openxmlformats.org/drawingml/2006/main">
            <a:off x="7448550" y="2428875"/>
            <a:ext cx="1619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529"/>
          </a:bodyPr>
          <a:lstStyle xmlns:a="http://schemas.openxmlformats.org/drawingml/2006/main"/>
          <a:p xmlns:a="http://schemas.openxmlformats.org/drawingml/2006/main">
            <a:pPr algn="l">
              <a:buNone/>
              <a:defRPr sz="4350" b="1">
                <a:solidFill>
                  <a:srgbClr val="E2951C"/>
                </a:solidFill>
                <a:latin typeface="Arial"/>
                <a:ea typeface="Arial"/>
                <a:cs typeface="Arial"/>
              </a:defRPr>
            </a:pPr>
            <a:r>
              <a:rPr sz="4350" b="1">
                <a:solidFill>
                  <a:srgbClr val="E2951C"/>
                </a:solidFill>
                <a:latin typeface="Arial"/>
                <a:ea typeface="Arial"/>
                <a:cs typeface="Arial"/>
              </a:rPr>
              <a:t>0</a:t>
            </a:r>
          </a:p>
        </p:txBody>
      </p:sp>
      <p:sp>
        <p:nvSpPr>
          <p:cNvPr id="24" name="s9-zero-label">
            <a:extLst xmlns:a="http://schemas.openxmlformats.org/drawingml/2006/main">
              <a:ext uri="{FF2B5EF4-FFF2-40B4-BE49-F238E27FC236}">
                <a16:creationId xmlns:a16="http://schemas.microsoft.com/office/drawing/2014/main" id="{015FB61A-4EB2-49A8-A191-3C22BB980B1C}"/>
              </a:ext>
            </a:extLst>
          </p:cNvPr>
          <p:cNvSpPr>
            <a:spLocks xmlns:a="http://schemas.openxmlformats.org/drawingml/2006/main" noGrp="1"/>
          </p:cNvSpPr>
          <p:nvPr/>
        </p:nvSpPr>
        <p:spPr>
          <a:xfrm xmlns:a="http://schemas.openxmlformats.org/drawingml/2006/main">
            <a:off x="7448550" y="31623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heterogeneous spend totals</a:t>
            </a:r>
          </a:p>
        </p:txBody>
      </p:sp>
      <p:sp>
        <p:nvSpPr>
          <p:cNvPr id="25" name="s9-trial">
            <a:extLst xmlns:a="http://schemas.openxmlformats.org/drawingml/2006/main">
              <a:ext uri="{FF2B5EF4-FFF2-40B4-BE49-F238E27FC236}">
                <a16:creationId xmlns:a16="http://schemas.microsoft.com/office/drawing/2014/main" id="{3EEF729C-9646-4DF9-9693-A184677895B2}"/>
              </a:ext>
            </a:extLst>
          </p:cNvPr>
          <p:cNvSpPr>
            <a:spLocks xmlns:a="http://schemas.openxmlformats.org/drawingml/2006/main" noGrp="1"/>
          </p:cNvSpPr>
          <p:nvPr/>
        </p:nvSpPr>
        <p:spPr>
          <a:xfrm xmlns:a="http://schemas.openxmlformats.org/drawingml/2006/main">
            <a:off x="7448550" y="3743325"/>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210"/>
          </a:bodyPr>
          <a:lstStyle xmlns:a="http://schemas.openxmlformats.org/drawingml/2006/main"/>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WALLET FIRST</a:t>
            </a:r>
          </a:p>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Coverage Plan is the governed action layer below this evidence.</a:t>
            </a:r>
          </a:p>
        </p:txBody>
      </p:sp>
      <p:sp>
        <p:nvSpPr>
          <p:cNvPr id="26" name="s9-prohibit">
            <a:extLst xmlns:a="http://schemas.openxmlformats.org/drawingml/2006/main">
              <a:ext uri="{FF2B5EF4-FFF2-40B4-BE49-F238E27FC236}">
                <a16:creationId xmlns:a16="http://schemas.microsoft.com/office/drawing/2014/main" id="{4A94FD06-8ED0-40F6-8A16-897B0CC0077A}"/>
              </a:ext>
            </a:extLst>
          </p:cNvPr>
          <p:cNvSpPr>
            <a:spLocks xmlns:a="http://schemas.openxmlformats.org/drawingml/2006/main" noGrp="1"/>
          </p:cNvSpPr>
          <p:nvPr/>
        </p:nvSpPr>
        <p:spPr>
          <a:xfrm xmlns:a="http://schemas.openxmlformats.org/drawingml/2006/main">
            <a:off x="7448550" y="4810125"/>
            <a:ext cx="3333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667"/>
          </a:bodyPr>
          <a:lstStyle xmlns:a="http://schemas.openxmlformats.org/drawingml/2006/main"/>
          <a:p xmlns:a="http://schemas.openxmlformats.org/drawingml/2006/main">
            <a:pPr algn="l">
              <a:buNone/>
              <a:defRPr sz="1500" b="1">
                <a:solidFill>
                  <a:srgbClr val="FFFFFF"/>
                </a:solidFill>
                <a:latin typeface="Arial"/>
                <a:ea typeface="Arial"/>
                <a:cs typeface="Arial"/>
              </a:defRPr>
            </a:pPr>
            <a:r>
              <a:rPr sz="1500" b="1">
                <a:solidFill>
                  <a:srgbClr val="FFFFFF"/>
                </a:solidFill>
                <a:latin typeface="Arial"/>
                <a:ea typeface="Arial"/>
                <a:cs typeface="Arial"/>
              </a:rPr>
              <a:t>Product activities are never summed as a single banking-spend number. Only scenario contribution is aggregated.</a:t>
            </a:r>
          </a:p>
        </p:txBody>
      </p:sp>
      <p:sp>
        <p:nvSpPr>
          <p:cNvPr id="69" name="">
            <a:extLst xmlns:a="http://schemas.openxmlformats.org/drawingml/2006/main">
              <a:ext uri="{FF2B5EF4-FFF2-40B4-BE49-F238E27FC236}">
                <a16:creationId xmlns:a16="http://schemas.microsoft.com/office/drawing/2014/main" id="{852CE1C4-86BD-46B6-81C5-2B3DA529B9FF}"/>
              </a:ext>
            </a:extLst>
          </p:cNvPr>
          <p:cNvSpPr>
            <a:spLocks xmlns:a="http://schemas.openxmlformats.org/drawingml/2006/main" noGrp="1"/>
          </p:cNvSpPr>
          <p:nvPr/>
        </p:nvSpPr>
        <p:spPr>
          <a:xfrm xmlns:a="http://schemas.openxmlformats.org/drawingml/2006/main">
            <a:off x="514350" y="1447800"/>
            <a:ext cx="11239500" cy="4914900"/>
          </a:xfrm>
          <a:prstGeom xmlns:a="http://schemas.openxmlformats.org/drawingml/2006/main" prst="rect">
            <a:avLst/>
          </a:prstGeom>
          <a:solidFill xmlns:a="http://schemas.openxmlformats.org/drawingml/2006/main">
            <a:srgbClr val="FFFFFF"/>
          </a:solidFill>
          <a:ln xmlns:a="http://schemas.openxmlformats.org/drawingml/2006/main" w="9525">
            <a:solidFill>
              <a:srgbClr val="D7DEE8"/>
            </a:solidFill>
            <a:prstDash val="solid"/>
          </a:ln>
        </p:spPr>
      </p:sp>
      <p:pic>
        <p:nvPicPr>
          <p:cNvPr id="98" name=""/>
          <p:cNvPicPr>
            <a:picLocks xmlns:a="http://schemas.openxmlformats.org/drawingml/2006/main" noChangeAspect="1"/>
          </p:cNvPicPr>
          <p:nvPr/>
        </p:nvPicPr>
        <p:blipFill>
          <a:blip xmlns:r="http://schemas.openxmlformats.org/officeDocument/2006/relationships" xmlns:a="http://schemas.openxmlformats.org/drawingml/2006/main" r:embed="R9848f9c9fcba40e5"/>
          <a:stretch xmlns:a="http://schemas.openxmlformats.org/drawingml/2006/main"/>
        </p:blipFill>
        <p:spPr>
          <a:xfrm xmlns:a="http://schemas.openxmlformats.org/drawingml/2006/main">
            <a:off x="1991798" y="1524000"/>
            <a:ext cx="8208404" cy="4762500"/>
          </a:xfrm>
          <a:prstGeom xmlns:a="http://schemas.openxmlformats.org/drawingml/2006/main" prst="rect">
            <a:avLst/>
          </a:prstGeom>
        </p:spPr>
      </p:pic>
    </p:spTree>
    <p:extLst>
      <p:ext uri="{BB962C8B-B14F-4D97-AF65-F5344CB8AC3E}">
        <p14:creationId xmlns:p14="http://schemas.microsoft.com/office/powerpoint/2010/main" val="208227149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40" name="eyebrow-5">
            <a:extLst xmlns:a="http://schemas.openxmlformats.org/drawingml/2006/main">
              <a:ext uri="{FF2B5EF4-FFF2-40B4-BE49-F238E27FC236}">
                <a16:creationId xmlns:a16="http://schemas.microsoft.com/office/drawing/2014/main" id="{DF3A7B03-9B14-4428-9350-9C1DB6E6A120}"/>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BHP FORENSIC DRILL-DOWN</a:t>
            </a:r>
          </a:p>
        </p:txBody>
      </p:sp>
      <p:sp>
        <p:nvSpPr>
          <p:cNvPr id="2" name="title-5">
            <a:extLst xmlns:a="http://schemas.openxmlformats.org/drawingml/2006/main">
              <a:ext uri="{FF2B5EF4-FFF2-40B4-BE49-F238E27FC236}">
                <a16:creationId xmlns:a16="http://schemas.microsoft.com/office/drawing/2014/main" id="{A9D3F8B3-4F30-4E76-B0B2-215D588E521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Trade Finance: A → T → q → q* → G</a:t>
            </a:r>
          </a:p>
        </p:txBody>
      </p:sp>
      <p:cxnSp>
        <p:nvCxnSpPr>
          <p:cNvPr id="153" name="title-rule-5"/>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5">
            <a:extLst xmlns:a="http://schemas.openxmlformats.org/drawingml/2006/main">
              <a:ext uri="{FF2B5EF4-FFF2-40B4-BE49-F238E27FC236}">
                <a16:creationId xmlns:a16="http://schemas.microsoft.com/office/drawing/2014/main" id="{BCEC2F98-6E60-4FFE-98F2-07141617553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5">
            <a:extLst xmlns:a="http://schemas.openxmlformats.org/drawingml/2006/main">
              <a:ext uri="{FF2B5EF4-FFF2-40B4-BE49-F238E27FC236}">
                <a16:creationId xmlns:a16="http://schemas.microsoft.com/office/drawing/2014/main" id="{836B0C26-7083-4EDE-A008-3361DE477FA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5">
            <a:extLst xmlns:a="http://schemas.openxmlformats.org/drawingml/2006/main">
              <a:ext uri="{FF2B5EF4-FFF2-40B4-BE49-F238E27FC236}">
                <a16:creationId xmlns:a16="http://schemas.microsoft.com/office/drawing/2014/main" id="{BD1BC014-C19C-42CE-9DD8-683E328C355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06</a:t>
            </a:r>
          </a:p>
        </p:txBody>
      </p:sp>
      <p:cxnSp>
        <p:nvCxnSpPr>
          <p:cNvPr id="157" name="s5-facts-rule"/>
          <p:cNvCxnSpPr/>
          <p:nvPr/>
        </p:nvCxnSpPr>
        <p:spPr>
          <a:xfrm xmlns:a="http://schemas.openxmlformats.org/drawingml/2006/main">
            <a:off x="609600" y="171450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8" name="s5-facts-value">
            <a:extLst xmlns:a="http://schemas.openxmlformats.org/drawingml/2006/main">
              <a:ext uri="{FF2B5EF4-FFF2-40B4-BE49-F238E27FC236}">
                <a16:creationId xmlns:a16="http://schemas.microsoft.com/office/drawing/2014/main" id="{1A440B25-2EDA-444A-8C58-B106BE903A64}"/>
              </a:ext>
            </a:extLst>
          </p:cNvPr>
          <p:cNvSpPr>
            <a:spLocks xmlns:a="http://schemas.openxmlformats.org/drawingml/2006/main" noGrp="1"/>
          </p:cNvSpPr>
          <p:nvPr/>
        </p:nvSpPr>
        <p:spPr>
          <a:xfrm xmlns:a="http://schemas.openxmlformats.org/drawingml/2006/main">
            <a:off x="6096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R1.445bn</a:t>
            </a:r>
          </a:p>
        </p:txBody>
      </p:sp>
      <p:sp>
        <p:nvSpPr>
          <p:cNvPr id="9" name="s5-facts-label">
            <a:extLst xmlns:a="http://schemas.openxmlformats.org/drawingml/2006/main">
              <a:ext uri="{FF2B5EF4-FFF2-40B4-BE49-F238E27FC236}">
                <a16:creationId xmlns:a16="http://schemas.microsoft.com/office/drawing/2014/main" id="{78172733-3C91-4AFB-8EE5-DCE6F70D56BB}"/>
              </a:ext>
            </a:extLst>
          </p:cNvPr>
          <p:cNvSpPr>
            <a:spLocks xmlns:a="http://schemas.openxmlformats.org/drawingml/2006/main" noGrp="1"/>
          </p:cNvSpPr>
          <p:nvPr/>
        </p:nvSpPr>
        <p:spPr>
          <a:xfrm xmlns:a="http://schemas.openxmlformats.org/drawingml/2006/main">
            <a:off x="6096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A · observed activity</a:t>
            </a:r>
          </a:p>
        </p:txBody>
      </p:sp>
      <p:sp>
        <p:nvSpPr>
          <p:cNvPr id="10" name="s5-facts-note">
            <a:extLst xmlns:a="http://schemas.openxmlformats.org/drawingml/2006/main">
              <a:ext uri="{FF2B5EF4-FFF2-40B4-BE49-F238E27FC236}">
                <a16:creationId xmlns:a16="http://schemas.microsoft.com/office/drawing/2014/main" id="{CC8F1502-909F-4564-A440-CE8A3E1BC189}"/>
              </a:ext>
            </a:extLst>
          </p:cNvPr>
          <p:cNvSpPr>
            <a:spLocks xmlns:a="http://schemas.openxmlformats.org/drawingml/2006/main" noGrp="1"/>
          </p:cNvSpPr>
          <p:nvPr/>
        </p:nvSpPr>
        <p:spPr>
          <a:xfrm xmlns:a="http://schemas.openxmlformats.org/drawingml/2006/main">
            <a:off x="6096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Syn Bank supplied annual trade-flow activity</a:t>
            </a:r>
          </a:p>
        </p:txBody>
      </p:sp>
      <p:cxnSp>
        <p:nvCxnSpPr>
          <p:cNvPr id="161" name="s5-clients-rule"/>
          <p:cNvCxnSpPr/>
          <p:nvPr/>
        </p:nvCxnSpPr>
        <p:spPr>
          <a:xfrm xmlns:a="http://schemas.openxmlformats.org/drawingml/2006/main">
            <a:off x="4171950" y="171450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5-clients-value">
            <a:extLst xmlns:a="http://schemas.openxmlformats.org/drawingml/2006/main">
              <a:ext uri="{FF2B5EF4-FFF2-40B4-BE49-F238E27FC236}">
                <a16:creationId xmlns:a16="http://schemas.microsoft.com/office/drawing/2014/main" id="{03758179-E242-4EFB-8760-B7A11BC1332E}"/>
              </a:ext>
            </a:extLst>
          </p:cNvPr>
          <p:cNvSpPr>
            <a:spLocks xmlns:a="http://schemas.openxmlformats.org/drawingml/2006/main" noGrp="1"/>
          </p:cNvSpPr>
          <p:nvPr/>
        </p:nvSpPr>
        <p:spPr>
          <a:xfrm xmlns:a="http://schemas.openxmlformats.org/drawingml/2006/main">
            <a:off x="417195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R5.15–22.08bn</a:t>
            </a:r>
          </a:p>
        </p:txBody>
      </p:sp>
      <p:sp>
        <p:nvSpPr>
          <p:cNvPr id="13" name="s5-clients-label">
            <a:extLst xmlns:a="http://schemas.openxmlformats.org/drawingml/2006/main">
              <a:ext uri="{FF2B5EF4-FFF2-40B4-BE49-F238E27FC236}">
                <a16:creationId xmlns:a16="http://schemas.microsoft.com/office/drawing/2014/main" id="{67C67AE6-DD5B-4748-BF28-8E0C969E6437}"/>
              </a:ext>
            </a:extLst>
          </p:cNvPr>
          <p:cNvSpPr>
            <a:spLocks xmlns:a="http://schemas.openxmlformats.org/drawingml/2006/main" noGrp="1"/>
          </p:cNvSpPr>
          <p:nvPr/>
        </p:nvSpPr>
        <p:spPr>
          <a:xfrm xmlns:a="http://schemas.openxmlformats.org/drawingml/2006/main">
            <a:off x="417195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 · posterior wallet</a:t>
            </a:r>
          </a:p>
        </p:txBody>
      </p:sp>
      <p:sp>
        <p:nvSpPr>
          <p:cNvPr id="14" name="s5-clients-note">
            <a:extLst xmlns:a="http://schemas.openxmlformats.org/drawingml/2006/main">
              <a:ext uri="{FF2B5EF4-FFF2-40B4-BE49-F238E27FC236}">
                <a16:creationId xmlns:a16="http://schemas.microsoft.com/office/drawing/2014/main" id="{F5130D4D-27D4-409A-87DC-6A73D0DDA253}"/>
              </a:ext>
            </a:extLst>
          </p:cNvPr>
          <p:cNvSpPr>
            <a:spLocks xmlns:a="http://schemas.openxmlformats.org/drawingml/2006/main" noGrp="1"/>
          </p:cNvSpPr>
          <p:nvPr/>
        </p:nvSpPr>
        <p:spPr>
          <a:xfrm xmlns:a="http://schemas.openxmlformats.org/drawingml/2006/main">
            <a:off x="417195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P10–P90; P50 R8.93bn</a:t>
            </a:r>
          </a:p>
        </p:txBody>
      </p:sp>
      <p:cxnSp>
        <p:nvCxnSpPr>
          <p:cNvPr id="165" name="s5-review-rule"/>
          <p:cNvCxnSpPr/>
          <p:nvPr/>
        </p:nvCxnSpPr>
        <p:spPr>
          <a:xfrm xmlns:a="http://schemas.openxmlformats.org/drawingml/2006/main">
            <a:off x="7734300" y="1714500"/>
            <a:ext cx="2762250" cy="0"/>
          </a:xfrm>
          <a:prstGeom xmlns:a="http://schemas.openxmlformats.org/drawingml/2006/main" prst="straightConnector1">
            <a:avLst/>
          </a:prstGeom>
          <a:ln xmlns:a="http://schemas.openxmlformats.org/drawingml/2006/main" w="38100">
            <a:solidFill>
              <a:srgbClr val="E2951C"/>
            </a:solidFill>
            <a:prstDash val="solid"/>
          </a:ln>
        </p:spPr>
      </p:cxnSp>
      <p:sp>
        <p:nvSpPr>
          <p:cNvPr id="16" name="s5-review-value">
            <a:extLst xmlns:a="http://schemas.openxmlformats.org/drawingml/2006/main">
              <a:ext uri="{FF2B5EF4-FFF2-40B4-BE49-F238E27FC236}">
                <a16:creationId xmlns:a16="http://schemas.microsoft.com/office/drawing/2014/main" id="{0B248EA7-D79D-4761-8271-C5F303172050}"/>
              </a:ext>
            </a:extLst>
          </p:cNvPr>
          <p:cNvSpPr>
            <a:spLocks xmlns:a="http://schemas.openxmlformats.org/drawingml/2006/main" noGrp="1"/>
          </p:cNvSpPr>
          <p:nvPr/>
        </p:nvSpPr>
        <p:spPr>
          <a:xfrm xmlns:a="http://schemas.openxmlformats.org/drawingml/2006/main">
            <a:off x="77343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6.5–28.0%</a:t>
            </a:r>
          </a:p>
        </p:txBody>
      </p:sp>
      <p:sp>
        <p:nvSpPr>
          <p:cNvPr id="17" name="s5-review-label">
            <a:extLst xmlns:a="http://schemas.openxmlformats.org/drawingml/2006/main">
              <a:ext uri="{FF2B5EF4-FFF2-40B4-BE49-F238E27FC236}">
                <a16:creationId xmlns:a16="http://schemas.microsoft.com/office/drawing/2014/main" id="{07185100-F8D8-4E0F-AB36-7B79C7EB4CA5}"/>
              </a:ext>
            </a:extLst>
          </p:cNvPr>
          <p:cNvSpPr>
            <a:spLocks xmlns:a="http://schemas.openxmlformats.org/drawingml/2006/main" noGrp="1"/>
          </p:cNvSpPr>
          <p:nvPr/>
        </p:nvSpPr>
        <p:spPr>
          <a:xfrm xmlns:a="http://schemas.openxmlformats.org/drawingml/2006/main">
            <a:off x="77343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q · estimated share</a:t>
            </a:r>
          </a:p>
        </p:txBody>
      </p:sp>
      <p:sp>
        <p:nvSpPr>
          <p:cNvPr id="18" name="s5-review-note">
            <a:extLst xmlns:a="http://schemas.openxmlformats.org/drawingml/2006/main">
              <a:ext uri="{FF2B5EF4-FFF2-40B4-BE49-F238E27FC236}">
                <a16:creationId xmlns:a16="http://schemas.microsoft.com/office/drawing/2014/main" id="{00B6A798-BD97-4601-B884-6DD25E982920}"/>
              </a:ext>
            </a:extLst>
          </p:cNvPr>
          <p:cNvSpPr>
            <a:spLocks xmlns:a="http://schemas.openxmlformats.org/drawingml/2006/main" noGrp="1"/>
          </p:cNvSpPr>
          <p:nvPr/>
        </p:nvSpPr>
        <p:spPr>
          <a:xfrm xmlns:a="http://schemas.openxmlformats.org/drawingml/2006/main">
            <a:off x="77343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P50 16.2%; POSTERIOR, not measured competitor share</a:t>
            </a:r>
          </a:p>
        </p:txBody>
      </p:sp>
      <p:sp>
        <p:nvSpPr>
          <p:cNvPr id="19" name="s5-progress-title">
            <a:extLst xmlns:a="http://schemas.openxmlformats.org/drawingml/2006/main">
              <a:ext uri="{FF2B5EF4-FFF2-40B4-BE49-F238E27FC236}">
                <a16:creationId xmlns:a16="http://schemas.microsoft.com/office/drawing/2014/main" id="{16DDC5AC-2B85-4681-B529-4934A5D0A3A9}"/>
              </a:ext>
            </a:extLst>
          </p:cNvPr>
          <p:cNvSpPr>
            <a:spLocks xmlns:a="http://schemas.openxmlformats.org/drawingml/2006/main" noGrp="1"/>
          </p:cNvSpPr>
          <p:nvPr/>
        </p:nvSpPr>
        <p:spPr>
          <a:xfrm xmlns:a="http://schemas.openxmlformats.org/drawingml/2006/main">
            <a:off x="609600" y="3667125"/>
            <a:ext cx="628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q* = 40% governed target-share scenario</a:t>
            </a:r>
          </a:p>
        </p:txBody>
      </p:sp>
      <p:sp>
        <p:nvSpPr>
          <p:cNvPr id="20" name="s5-original">
            <a:extLst xmlns:a="http://schemas.openxmlformats.org/drawingml/2006/main">
              <a:ext uri="{FF2B5EF4-FFF2-40B4-BE49-F238E27FC236}">
                <a16:creationId xmlns:a16="http://schemas.microsoft.com/office/drawing/2014/main" id="{8B813946-FC51-4C34-837C-F0BE18FDB5B7}"/>
              </a:ext>
            </a:extLst>
          </p:cNvPr>
          <p:cNvSpPr>
            <a:spLocks xmlns:a="http://schemas.openxmlformats.org/drawingml/2006/main" noGrp="1"/>
          </p:cNvSpPr>
          <p:nvPr/>
        </p:nvSpPr>
        <p:spPr>
          <a:xfrm xmlns:a="http://schemas.openxmlformats.org/drawingml/2006/main">
            <a:off x="609600" y="4248150"/>
            <a:ext cx="3714750" cy="495300"/>
          </a:xfrm>
          <a:prstGeom xmlns:a="http://schemas.openxmlformats.org/drawingml/2006/main" prst="rect">
            <a:avLst/>
          </a:prstGeom>
          <a:solidFill xmlns:a="http://schemas.openxmlformats.org/drawingml/2006/main">
            <a:srgbClr val="0B63E5"/>
          </a:solidFill>
          <a:ln xmlns:a="http://schemas.openxmlformats.org/drawingml/2006/main" w="0">
            <a:noFill/>
            <a:prstDash val="solid"/>
          </a:ln>
        </p:spPr>
      </p:sp>
      <p:sp>
        <p:nvSpPr>
          <p:cNvPr id="21" name="s5-original-text">
            <a:extLst xmlns:a="http://schemas.openxmlformats.org/drawingml/2006/main">
              <a:ext uri="{FF2B5EF4-FFF2-40B4-BE49-F238E27FC236}">
                <a16:creationId xmlns:a16="http://schemas.microsoft.com/office/drawing/2014/main" id="{75EC0A4E-894C-4B92-988A-EA3B25DB4390}"/>
              </a:ext>
            </a:extLst>
          </p:cNvPr>
          <p:cNvSpPr>
            <a:spLocks xmlns:a="http://schemas.openxmlformats.org/drawingml/2006/main" noGrp="1"/>
          </p:cNvSpPr>
          <p:nvPr/>
        </p:nvSpPr>
        <p:spPr>
          <a:xfrm xmlns:a="http://schemas.openxmlformats.org/drawingml/2006/main">
            <a:off x="781050" y="4391025"/>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G P50 = R2.126bn contestable activity</a:t>
            </a:r>
          </a:p>
        </p:txBody>
      </p:sp>
      <p:sp>
        <p:nvSpPr>
          <p:cNvPr id="22" name="s5-expanded">
            <a:extLst xmlns:a="http://schemas.openxmlformats.org/drawingml/2006/main">
              <a:ext uri="{FF2B5EF4-FFF2-40B4-BE49-F238E27FC236}">
                <a16:creationId xmlns:a16="http://schemas.microsoft.com/office/drawing/2014/main" id="{F42113CF-C951-46B2-91EC-F2081E9CDD7F}"/>
              </a:ext>
            </a:extLst>
          </p:cNvPr>
          <p:cNvSpPr>
            <a:spLocks xmlns:a="http://schemas.openxmlformats.org/drawingml/2006/main" noGrp="1"/>
          </p:cNvSpPr>
          <p:nvPr/>
        </p:nvSpPr>
        <p:spPr>
          <a:xfrm xmlns:a="http://schemas.openxmlformats.org/drawingml/2006/main">
            <a:off x="4324350" y="4248150"/>
            <a:ext cx="6153150" cy="495300"/>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3" name="s5-expanded-text">
            <a:extLst xmlns:a="http://schemas.openxmlformats.org/drawingml/2006/main">
              <a:ext uri="{FF2B5EF4-FFF2-40B4-BE49-F238E27FC236}">
                <a16:creationId xmlns:a16="http://schemas.microsoft.com/office/drawing/2014/main" id="{BA3782CE-2570-4C93-B3D6-FFB96F3D8858}"/>
              </a:ext>
            </a:extLst>
          </p:cNvPr>
          <p:cNvSpPr>
            <a:spLocks xmlns:a="http://schemas.openxmlformats.org/drawingml/2006/main" noGrp="1"/>
          </p:cNvSpPr>
          <p:nvPr/>
        </p:nvSpPr>
        <p:spPr>
          <a:xfrm xmlns:a="http://schemas.openxmlformats.org/drawingml/2006/main">
            <a:off x="4514850" y="4391025"/>
            <a:ext cx="581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Scenario contribution P50 = R7.367m</a:t>
            </a:r>
          </a:p>
        </p:txBody>
      </p:sp>
      <p:sp>
        <p:nvSpPr>
          <p:cNvPr id="24" name="s5-total">
            <a:extLst xmlns:a="http://schemas.openxmlformats.org/drawingml/2006/main">
              <a:ext uri="{FF2B5EF4-FFF2-40B4-BE49-F238E27FC236}">
                <a16:creationId xmlns:a16="http://schemas.microsoft.com/office/drawing/2014/main" id="{AFBAE68A-0AFA-4CFB-B476-A65C7E11F21D}"/>
              </a:ext>
            </a:extLst>
          </p:cNvPr>
          <p:cNvSpPr>
            <a:spLocks xmlns:a="http://schemas.openxmlformats.org/drawingml/2006/main" noGrp="1"/>
          </p:cNvSpPr>
          <p:nvPr/>
        </p:nvSpPr>
        <p:spPr>
          <a:xfrm xmlns:a="http://schemas.openxmlformats.org/drawingml/2006/main">
            <a:off x="10620375" y="43719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2593"/>
          </a:bodyPr>
          <a:lstStyle xmlns:a="http://schemas.openxmlformats.org/drawingml/2006/main"/>
          <a:p xmlns:a="http://schemas.openxmlformats.org/drawingml/2006/main">
            <a:pPr algn="r">
              <a:buNone/>
              <a:defRPr sz="1350" b="1">
                <a:solidFill>
                  <a:srgbClr val="0C1728"/>
                </a:solidFill>
                <a:latin typeface="Arial"/>
                <a:ea typeface="Arial"/>
                <a:cs typeface="Arial"/>
              </a:defRPr>
            </a:pPr>
            <a:r>
              <a:rPr sz="1350" b="1">
                <a:solidFill>
                  <a:srgbClr val="0C1728"/>
                </a:solidFill>
                <a:latin typeface="Arial"/>
                <a:ea typeface="Arial"/>
                <a:cs typeface="Arial"/>
              </a:rPr>
              <a:t>Rank #2 · E1 approved</a:t>
            </a:r>
          </a:p>
        </p:txBody>
      </p:sp>
      <p:cxnSp>
        <p:nvCxnSpPr>
          <p:cNvPr id="175" name="s5-tier-rule-0"/>
          <p:cNvCxnSpPr/>
          <p:nvPr/>
        </p:nvCxnSpPr>
        <p:spPr>
          <a:xfrm xmlns:a="http://schemas.openxmlformats.org/drawingml/2006/main">
            <a:off x="609600" y="5372100"/>
            <a:ext cx="1866900" cy="0"/>
          </a:xfrm>
          <a:prstGeom xmlns:a="http://schemas.openxmlformats.org/drawingml/2006/main" prst="straightConnector1">
            <a:avLst/>
          </a:prstGeom>
          <a:ln xmlns:a="http://schemas.openxmlformats.org/drawingml/2006/main" w="38100">
            <a:solidFill>
              <a:srgbClr val="627086"/>
            </a:solidFill>
            <a:prstDash val="solid"/>
          </a:ln>
        </p:spPr>
      </p:cxnSp>
      <p:sp>
        <p:nvSpPr>
          <p:cNvPr id="26" name="s5-tier-0">
            <a:extLst xmlns:a="http://schemas.openxmlformats.org/drawingml/2006/main">
              <a:ext uri="{FF2B5EF4-FFF2-40B4-BE49-F238E27FC236}">
                <a16:creationId xmlns:a16="http://schemas.microsoft.com/office/drawing/2014/main" id="{37C6D24D-AC2B-41EC-9BF6-3296148E8B0B}"/>
              </a:ext>
            </a:extLst>
          </p:cNvPr>
          <p:cNvSpPr>
            <a:spLocks xmlns:a="http://schemas.openxmlformats.org/drawingml/2006/main" noGrp="1"/>
          </p:cNvSpPr>
          <p:nvPr/>
        </p:nvSpPr>
        <p:spPr>
          <a:xfrm xmlns:a="http://schemas.openxmlformats.org/drawingml/2006/main">
            <a:off x="609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A</a:t>
            </a:r>
          </a:p>
        </p:txBody>
      </p:sp>
      <p:sp>
        <p:nvSpPr>
          <p:cNvPr id="27" name="s5-tier-copy-0">
            <a:extLst xmlns:a="http://schemas.openxmlformats.org/drawingml/2006/main">
              <a:ext uri="{FF2B5EF4-FFF2-40B4-BE49-F238E27FC236}">
                <a16:creationId xmlns:a16="http://schemas.microsoft.com/office/drawing/2014/main" id="{E16B1B9D-D207-493C-8D15-E63E2D21B6D8}"/>
              </a:ext>
            </a:extLst>
          </p:cNvPr>
          <p:cNvSpPr>
            <a:spLocks xmlns:a="http://schemas.openxmlformats.org/drawingml/2006/main" noGrp="1"/>
          </p:cNvSpPr>
          <p:nvPr/>
        </p:nvSpPr>
        <p:spPr>
          <a:xfrm xmlns:a="http://schemas.openxmlformats.org/drawingml/2006/main">
            <a:off x="1066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03"/>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observed activity</a:t>
            </a:r>
          </a:p>
        </p:txBody>
      </p:sp>
      <p:cxnSp>
        <p:nvCxnSpPr>
          <p:cNvPr id="178" name="s5-tier-rule-1"/>
          <p:cNvCxnSpPr/>
          <p:nvPr/>
        </p:nvCxnSpPr>
        <p:spPr>
          <a:xfrm xmlns:a="http://schemas.openxmlformats.org/drawingml/2006/main">
            <a:off x="2800350" y="53721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9" name="s5-tier-1">
            <a:extLst xmlns:a="http://schemas.openxmlformats.org/drawingml/2006/main">
              <a:ext uri="{FF2B5EF4-FFF2-40B4-BE49-F238E27FC236}">
                <a16:creationId xmlns:a16="http://schemas.microsoft.com/office/drawing/2014/main" id="{0771A1C0-D6D9-4D8C-B8E1-99BBA3E2F6C7}"/>
              </a:ext>
            </a:extLst>
          </p:cNvPr>
          <p:cNvSpPr>
            <a:spLocks xmlns:a="http://schemas.openxmlformats.org/drawingml/2006/main" noGrp="1"/>
          </p:cNvSpPr>
          <p:nvPr/>
        </p:nvSpPr>
        <p:spPr>
          <a:xfrm xmlns:a="http://schemas.openxmlformats.org/drawingml/2006/main">
            <a:off x="28003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T</a:t>
            </a:r>
          </a:p>
        </p:txBody>
      </p:sp>
      <p:sp>
        <p:nvSpPr>
          <p:cNvPr id="30" name="s5-tier-copy-1">
            <a:extLst xmlns:a="http://schemas.openxmlformats.org/drawingml/2006/main">
              <a:ext uri="{FF2B5EF4-FFF2-40B4-BE49-F238E27FC236}">
                <a16:creationId xmlns:a16="http://schemas.microsoft.com/office/drawing/2014/main" id="{CABDCD83-11A1-483E-A2FD-72F112E00E71}"/>
              </a:ext>
            </a:extLst>
          </p:cNvPr>
          <p:cNvSpPr>
            <a:spLocks xmlns:a="http://schemas.openxmlformats.org/drawingml/2006/main" noGrp="1"/>
          </p:cNvSpPr>
          <p:nvPr/>
        </p:nvSpPr>
        <p:spPr>
          <a:xfrm xmlns:a="http://schemas.openxmlformats.org/drawingml/2006/main">
            <a:off x="32575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wallet posterior</a:t>
            </a:r>
          </a:p>
        </p:txBody>
      </p:sp>
      <p:cxnSp>
        <p:nvCxnSpPr>
          <p:cNvPr id="181" name="s5-tier-rule-2"/>
          <p:cNvCxnSpPr/>
          <p:nvPr/>
        </p:nvCxnSpPr>
        <p:spPr>
          <a:xfrm xmlns:a="http://schemas.openxmlformats.org/drawingml/2006/main">
            <a:off x="4991100" y="53721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32" name="s5-tier-2">
            <a:extLst xmlns:a="http://schemas.openxmlformats.org/drawingml/2006/main">
              <a:ext uri="{FF2B5EF4-FFF2-40B4-BE49-F238E27FC236}">
                <a16:creationId xmlns:a16="http://schemas.microsoft.com/office/drawing/2014/main" id="{A7946401-15DC-415C-BB31-92C9D6BF00D1}"/>
              </a:ext>
            </a:extLst>
          </p:cNvPr>
          <p:cNvSpPr>
            <a:spLocks xmlns:a="http://schemas.openxmlformats.org/drawingml/2006/main" noGrp="1"/>
          </p:cNvSpPr>
          <p:nvPr/>
        </p:nvSpPr>
        <p:spPr>
          <a:xfrm xmlns:a="http://schemas.openxmlformats.org/drawingml/2006/main">
            <a:off x="49911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7658D6"/>
                </a:solidFill>
                <a:latin typeface="Arial"/>
                <a:ea typeface="Arial"/>
                <a:cs typeface="Arial"/>
              </a:defRPr>
            </a:pPr>
            <a:r>
              <a:rPr sz="1275" b="1">
                <a:solidFill>
                  <a:srgbClr val="7658D6"/>
                </a:solidFill>
                <a:latin typeface="Arial"/>
                <a:ea typeface="Arial"/>
                <a:cs typeface="Arial"/>
              </a:rPr>
              <a:t>q</a:t>
            </a:r>
          </a:p>
        </p:txBody>
      </p:sp>
      <p:sp>
        <p:nvSpPr>
          <p:cNvPr id="33" name="s5-tier-copy-2">
            <a:extLst xmlns:a="http://schemas.openxmlformats.org/drawingml/2006/main">
              <a:ext uri="{FF2B5EF4-FFF2-40B4-BE49-F238E27FC236}">
                <a16:creationId xmlns:a16="http://schemas.microsoft.com/office/drawing/2014/main" id="{1159FE5E-8D1C-4325-9A28-19CEF77C69FD}"/>
              </a:ext>
            </a:extLst>
          </p:cNvPr>
          <p:cNvSpPr>
            <a:spLocks xmlns:a="http://schemas.openxmlformats.org/drawingml/2006/main" noGrp="1"/>
          </p:cNvSpPr>
          <p:nvPr/>
        </p:nvSpPr>
        <p:spPr>
          <a:xfrm xmlns:a="http://schemas.openxmlformats.org/drawingml/2006/main">
            <a:off x="54483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A ÷ T</a:t>
            </a:r>
          </a:p>
        </p:txBody>
      </p:sp>
      <p:cxnSp>
        <p:nvCxnSpPr>
          <p:cNvPr id="184" name="s5-tier-rule-3"/>
          <p:cNvCxnSpPr/>
          <p:nvPr/>
        </p:nvCxnSpPr>
        <p:spPr>
          <a:xfrm xmlns:a="http://schemas.openxmlformats.org/drawingml/2006/main">
            <a:off x="7181850" y="53721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35" name="s5-tier-3">
            <a:extLst xmlns:a="http://schemas.openxmlformats.org/drawingml/2006/main">
              <a:ext uri="{FF2B5EF4-FFF2-40B4-BE49-F238E27FC236}">
                <a16:creationId xmlns:a16="http://schemas.microsoft.com/office/drawing/2014/main" id="{A7292D59-65C4-40BA-A32C-482E75FBA1C9}"/>
              </a:ext>
            </a:extLst>
          </p:cNvPr>
          <p:cNvSpPr>
            <a:spLocks xmlns:a="http://schemas.openxmlformats.org/drawingml/2006/main" noGrp="1"/>
          </p:cNvSpPr>
          <p:nvPr/>
        </p:nvSpPr>
        <p:spPr>
          <a:xfrm xmlns:a="http://schemas.openxmlformats.org/drawingml/2006/main">
            <a:off x="71818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q*</a:t>
            </a:r>
          </a:p>
        </p:txBody>
      </p:sp>
      <p:sp>
        <p:nvSpPr>
          <p:cNvPr id="36" name="s5-tier-copy-3">
            <a:extLst xmlns:a="http://schemas.openxmlformats.org/drawingml/2006/main">
              <a:ext uri="{FF2B5EF4-FFF2-40B4-BE49-F238E27FC236}">
                <a16:creationId xmlns:a16="http://schemas.microsoft.com/office/drawing/2014/main" id="{DFFD95BB-0679-4286-AB12-F578E4B166BD}"/>
              </a:ext>
            </a:extLst>
          </p:cNvPr>
          <p:cNvSpPr>
            <a:spLocks xmlns:a="http://schemas.openxmlformats.org/drawingml/2006/main" noGrp="1"/>
          </p:cNvSpPr>
          <p:nvPr/>
        </p:nvSpPr>
        <p:spPr>
          <a:xfrm xmlns:a="http://schemas.openxmlformats.org/drawingml/2006/main">
            <a:off x="76390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40% scenario</a:t>
            </a:r>
          </a:p>
        </p:txBody>
      </p:sp>
      <p:cxnSp>
        <p:nvCxnSpPr>
          <p:cNvPr id="187" name="s5-tier-rule-4"/>
          <p:cNvCxnSpPr/>
          <p:nvPr/>
        </p:nvCxnSpPr>
        <p:spPr>
          <a:xfrm xmlns:a="http://schemas.openxmlformats.org/drawingml/2006/main">
            <a:off x="9372600" y="53721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5-tier-4">
            <a:extLst xmlns:a="http://schemas.openxmlformats.org/drawingml/2006/main">
              <a:ext uri="{FF2B5EF4-FFF2-40B4-BE49-F238E27FC236}">
                <a16:creationId xmlns:a16="http://schemas.microsoft.com/office/drawing/2014/main" id="{85B5E342-87F3-40BA-B68D-531F46409201}"/>
              </a:ext>
            </a:extLst>
          </p:cNvPr>
          <p:cNvSpPr>
            <a:spLocks xmlns:a="http://schemas.openxmlformats.org/drawingml/2006/main" noGrp="1"/>
          </p:cNvSpPr>
          <p:nvPr/>
        </p:nvSpPr>
        <p:spPr>
          <a:xfrm xmlns:a="http://schemas.openxmlformats.org/drawingml/2006/main">
            <a:off x="9372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E2951C"/>
                </a:solidFill>
                <a:latin typeface="Arial"/>
                <a:ea typeface="Arial"/>
                <a:cs typeface="Arial"/>
              </a:defRPr>
            </a:pPr>
            <a:r>
              <a:rPr sz="1275" b="1">
                <a:solidFill>
                  <a:srgbClr val="E2951C"/>
                </a:solidFill>
                <a:latin typeface="Arial"/>
                <a:ea typeface="Arial"/>
                <a:cs typeface="Arial"/>
              </a:rPr>
              <a:t>G</a:t>
            </a:r>
          </a:p>
        </p:txBody>
      </p:sp>
      <p:sp>
        <p:nvSpPr>
          <p:cNvPr id="39" name="s5-tier-copy-4">
            <a:extLst xmlns:a="http://schemas.openxmlformats.org/drawingml/2006/main">
              <a:ext uri="{FF2B5EF4-FFF2-40B4-BE49-F238E27FC236}">
                <a16:creationId xmlns:a16="http://schemas.microsoft.com/office/drawing/2014/main" id="{149C9D30-9707-4CC2-9ACD-3E3C99D0B19C}"/>
              </a:ext>
            </a:extLst>
          </p:cNvPr>
          <p:cNvSpPr>
            <a:spLocks xmlns:a="http://schemas.openxmlformats.org/drawingml/2006/main" noGrp="1"/>
          </p:cNvSpPr>
          <p:nvPr/>
        </p:nvSpPr>
        <p:spPr>
          <a:xfrm xmlns:a="http://schemas.openxmlformats.org/drawingml/2006/main">
            <a:off x="9829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max(q*T−A,0)</a:t>
            </a:r>
          </a:p>
        </p:txBody>
      </p:sp>
    </p:spTree>
    <p:extLst>
      <p:ext uri="{BB962C8B-B14F-4D97-AF65-F5344CB8AC3E}">
        <p14:creationId xmlns:p14="http://schemas.microsoft.com/office/powerpoint/2010/main" val="4436337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0" name="eyebrow-7">
            <a:extLst xmlns:a="http://schemas.openxmlformats.org/drawingml/2006/main">
              <a:ext uri="{FF2B5EF4-FFF2-40B4-BE49-F238E27FC236}">
                <a16:creationId xmlns:a16="http://schemas.microsoft.com/office/drawing/2014/main" id="{828CB508-C072-4158-B84B-C4BA6CF6723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DECISION TWIN ACTION LAYER</a:t>
            </a:r>
          </a:p>
        </p:txBody>
      </p:sp>
      <p:sp>
        <p:nvSpPr>
          <p:cNvPr id="2" name="title-7">
            <a:extLst xmlns:a="http://schemas.openxmlformats.org/drawingml/2006/main">
              <a:ext uri="{FF2B5EF4-FFF2-40B4-BE49-F238E27FC236}">
                <a16:creationId xmlns:a16="http://schemas.microsoft.com/office/drawing/2014/main" id="{FDE8F2CC-6484-402A-B0B0-8240E2AE2055}"/>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94"/>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Wallet gap → stakeholder → problem → solution → timing</a:t>
            </a:r>
          </a:p>
        </p:txBody>
      </p:sp>
      <p:cxnSp>
        <p:nvCxnSpPr>
          <p:cNvPr id="187" name="title-rule-7"/>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7">
            <a:extLst xmlns:a="http://schemas.openxmlformats.org/drawingml/2006/main">
              <a:ext uri="{FF2B5EF4-FFF2-40B4-BE49-F238E27FC236}">
                <a16:creationId xmlns:a16="http://schemas.microsoft.com/office/drawing/2014/main" id="{13D82DD6-D20D-469A-8D0F-1A1BF1E1B5B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7">
            <a:extLst xmlns:a="http://schemas.openxmlformats.org/drawingml/2006/main">
              <a:ext uri="{FF2B5EF4-FFF2-40B4-BE49-F238E27FC236}">
                <a16:creationId xmlns:a16="http://schemas.microsoft.com/office/drawing/2014/main" id="{A667AF92-2941-4E80-A67A-C5A56E4FB851}"/>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7">
            <a:extLst xmlns:a="http://schemas.openxmlformats.org/drawingml/2006/main">
              <a:ext uri="{FF2B5EF4-FFF2-40B4-BE49-F238E27FC236}">
                <a16:creationId xmlns:a16="http://schemas.microsoft.com/office/drawing/2014/main" id="{35D5A9AD-E71B-4151-9C21-2FE5B2DDBBE7}"/>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07</a:t>
            </a:r>
          </a:p>
        </p:txBody>
      </p:sp>
      <p:sp>
        <p:nvSpPr>
          <p:cNvPr id="7" name="s7-left">
            <a:extLst xmlns:a="http://schemas.openxmlformats.org/drawingml/2006/main">
              <a:ext uri="{FF2B5EF4-FFF2-40B4-BE49-F238E27FC236}">
                <a16:creationId xmlns:a16="http://schemas.microsoft.com/office/drawing/2014/main" id="{BD332041-30F7-47AF-8349-4C085AE4901C}"/>
              </a:ext>
            </a:extLst>
          </p:cNvPr>
          <p:cNvSpPr>
            <a:spLocks xmlns:a="http://schemas.openxmlformats.org/drawingml/2006/main" noGrp="1"/>
          </p:cNvSpPr>
          <p:nvPr/>
        </p:nvSpPr>
        <p:spPr>
          <a:xfrm xmlns:a="http://schemas.openxmlformats.org/drawingml/2006/main">
            <a:off x="609600" y="1714500"/>
            <a:ext cx="4762500" cy="4029075"/>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7-left-label">
            <a:extLst xmlns:a="http://schemas.openxmlformats.org/drawingml/2006/main">
              <a:ext uri="{FF2B5EF4-FFF2-40B4-BE49-F238E27FC236}">
                <a16:creationId xmlns:a16="http://schemas.microsoft.com/office/drawing/2014/main" id="{9FDD295D-3D25-44AD-BF98-10093564EB04}"/>
              </a:ext>
            </a:extLst>
          </p:cNvPr>
          <p:cNvSpPr>
            <a:spLocks xmlns:a="http://schemas.openxmlformats.org/drawingml/2006/main" noGrp="1"/>
          </p:cNvSpPr>
          <p:nvPr/>
        </p:nvSpPr>
        <p:spPr>
          <a:xfrm xmlns:a="http://schemas.openxmlformats.org/drawingml/2006/main">
            <a:off x="876300" y="1990725"/>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BHP TRADE FINANCE CELL</a:t>
            </a:r>
          </a:p>
        </p:txBody>
      </p:sp>
      <p:sp>
        <p:nvSpPr>
          <p:cNvPr id="9" name="s7-left-main">
            <a:extLst xmlns:a="http://schemas.openxmlformats.org/drawingml/2006/main">
              <a:ext uri="{FF2B5EF4-FFF2-40B4-BE49-F238E27FC236}">
                <a16:creationId xmlns:a16="http://schemas.microsoft.com/office/drawing/2014/main" id="{B26B0801-ECFC-4D58-955C-517444792231}"/>
              </a:ext>
            </a:extLst>
          </p:cNvPr>
          <p:cNvSpPr>
            <a:spLocks xmlns:a="http://schemas.openxmlformats.org/drawingml/2006/main" noGrp="1"/>
          </p:cNvSpPr>
          <p:nvPr/>
        </p:nvSpPr>
        <p:spPr>
          <a:xfrm xmlns:a="http://schemas.openxmlformats.org/drawingml/2006/main">
            <a:off x="876300" y="2457450"/>
            <a:ext cx="333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27"/>
          </a:bodyPr>
          <a:lstStyle xmlns:a="http://schemas.openxmlformats.org/drawingml/2006/main"/>
          <a:p xmlns:a="http://schemas.openxmlformats.org/drawingml/2006/main">
            <a:pPr algn="l">
              <a:buNone/>
              <a:defRPr sz="3450" b="1">
                <a:solidFill>
                  <a:srgbClr val="FFFFFF"/>
                </a:solidFill>
                <a:latin typeface="Arial"/>
                <a:ea typeface="Arial"/>
                <a:cs typeface="Arial"/>
              </a:defRPr>
            </a:pPr>
            <a:r>
              <a:rPr sz="3450" b="1">
                <a:solidFill>
                  <a:srgbClr val="FFFFFF"/>
                </a:solidFill>
                <a:latin typeface="Arial"/>
                <a:ea typeface="Arial"/>
                <a:cs typeface="Arial"/>
              </a:rPr>
              <a:t>#2 in wallet</a:t>
            </a:r>
          </a:p>
        </p:txBody>
      </p:sp>
      <p:sp>
        <p:nvSpPr>
          <p:cNvPr id="10" name="s7-left-sub">
            <a:extLst xmlns:a="http://schemas.openxmlformats.org/drawingml/2006/main">
              <a:ext uri="{FF2B5EF4-FFF2-40B4-BE49-F238E27FC236}">
                <a16:creationId xmlns:a16="http://schemas.microsoft.com/office/drawing/2014/main" id="{B162CD34-9A14-4A07-BBF4-CC4CB386FE9B}"/>
              </a:ext>
            </a:extLst>
          </p:cNvPr>
          <p:cNvSpPr>
            <a:spLocks xmlns:a="http://schemas.openxmlformats.org/drawingml/2006/main" noGrp="1"/>
          </p:cNvSpPr>
          <p:nvPr/>
        </p:nvSpPr>
        <p:spPr>
          <a:xfrm xmlns:a="http://schemas.openxmlformats.org/drawingml/2006/main">
            <a:off x="876300" y="3171825"/>
            <a:ext cx="3905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767"/>
          </a:bodyPr>
          <a:lstStyle xmlns:a="http://schemas.openxmlformats.org/drawingml/2006/main"/>
          <a:p xmlns:a="http://schemas.openxmlformats.org/drawingml/2006/main">
            <a:pPr algn="l">
              <a:buNone/>
              <a:defRPr sz="1575" b="0">
                <a:solidFill>
                  <a:srgbClr val="C7D5E8"/>
                </a:solidFill>
                <a:latin typeface="Arial"/>
                <a:ea typeface="Arial"/>
                <a:cs typeface="Arial"/>
              </a:defRPr>
            </a:pPr>
            <a:r>
              <a:rPr sz="1575" b="0">
                <a:solidFill>
                  <a:srgbClr val="C7D5E8"/>
                </a:solidFill>
                <a:latin typeface="Arial"/>
                <a:ea typeface="Arial"/>
                <a:cs typeface="Arial"/>
              </a:rPr>
              <a:t>The wallet interval starts the investigation; it does not automatically become a product pitch.</a:t>
            </a:r>
          </a:p>
        </p:txBody>
      </p:sp>
      <p:sp>
        <p:nvSpPr>
          <p:cNvPr id="11" name="s7-col-0">
            <a:extLst xmlns:a="http://schemas.openxmlformats.org/drawingml/2006/main">
              <a:ext uri="{FF2B5EF4-FFF2-40B4-BE49-F238E27FC236}">
                <a16:creationId xmlns:a16="http://schemas.microsoft.com/office/drawing/2014/main" id="{4D72BA7A-71E6-4888-9C1F-D80DB400BB83}"/>
              </a:ext>
            </a:extLst>
          </p:cNvPr>
          <p:cNvSpPr>
            <a:spLocks xmlns:a="http://schemas.openxmlformats.org/drawingml/2006/main" noGrp="1"/>
          </p:cNvSpPr>
          <p:nvPr/>
        </p:nvSpPr>
        <p:spPr>
          <a:xfrm xmlns:a="http://schemas.openxmlformats.org/drawingml/2006/main">
            <a:off x="87630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STAKEHOLDER</a:t>
            </a:r>
          </a:p>
        </p:txBody>
      </p:sp>
      <p:sp>
        <p:nvSpPr>
          <p:cNvPr id="12" name="s7-col-1">
            <a:extLst xmlns:a="http://schemas.openxmlformats.org/drawingml/2006/main">
              <a:ext uri="{FF2B5EF4-FFF2-40B4-BE49-F238E27FC236}">
                <a16:creationId xmlns:a16="http://schemas.microsoft.com/office/drawing/2014/main" id="{E784F9CD-637A-42F0-8272-60FFACC2197B}"/>
              </a:ext>
            </a:extLst>
          </p:cNvPr>
          <p:cNvSpPr>
            <a:spLocks xmlns:a="http://schemas.openxmlformats.org/drawingml/2006/main" noGrp="1"/>
          </p:cNvSpPr>
          <p:nvPr/>
        </p:nvSpPr>
        <p:spPr>
          <a:xfrm xmlns:a="http://schemas.openxmlformats.org/drawingml/2006/main">
            <a:off x="2105025"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PROBLEM</a:t>
            </a:r>
          </a:p>
        </p:txBody>
      </p:sp>
      <p:sp>
        <p:nvSpPr>
          <p:cNvPr id="13" name="s7-col-2">
            <a:extLst xmlns:a="http://schemas.openxmlformats.org/drawingml/2006/main">
              <a:ext uri="{FF2B5EF4-FFF2-40B4-BE49-F238E27FC236}">
                <a16:creationId xmlns:a16="http://schemas.microsoft.com/office/drawing/2014/main" id="{8AD4A461-9F2F-4E5C-8A13-19E7FD49F91C}"/>
              </a:ext>
            </a:extLst>
          </p:cNvPr>
          <p:cNvSpPr>
            <a:spLocks xmlns:a="http://schemas.openxmlformats.org/drawingml/2006/main" noGrp="1"/>
          </p:cNvSpPr>
          <p:nvPr/>
        </p:nvSpPr>
        <p:spPr>
          <a:xfrm xmlns:a="http://schemas.openxmlformats.org/drawingml/2006/main">
            <a:off x="333375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SOLUTION</a:t>
            </a:r>
          </a:p>
        </p:txBody>
      </p:sp>
      <p:sp>
        <p:nvSpPr>
          <p:cNvPr id="14" name="s7-cell-0-0">
            <a:extLst xmlns:a="http://schemas.openxmlformats.org/drawingml/2006/main">
              <a:ext uri="{FF2B5EF4-FFF2-40B4-BE49-F238E27FC236}">
                <a16:creationId xmlns:a16="http://schemas.microsoft.com/office/drawing/2014/main" id="{20A05160-3124-47F9-868A-BF537688F62E}"/>
              </a:ext>
            </a:extLst>
          </p:cNvPr>
          <p:cNvSpPr>
            <a:spLocks xmlns:a="http://schemas.openxmlformats.org/drawingml/2006/main" noGrp="1"/>
          </p:cNvSpPr>
          <p:nvPr/>
        </p:nvSpPr>
        <p:spPr>
          <a:xfrm xmlns:a="http://schemas.openxmlformats.org/drawingml/2006/main">
            <a:off x="87630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5" name="s7-cell-text-0-0">
            <a:extLst xmlns:a="http://schemas.openxmlformats.org/drawingml/2006/main">
              <a:ext uri="{FF2B5EF4-FFF2-40B4-BE49-F238E27FC236}">
                <a16:creationId xmlns:a16="http://schemas.microsoft.com/office/drawing/2014/main" id="{E32F9F82-5352-41AB-BE1E-2A9B2E5F0511}"/>
              </a:ext>
            </a:extLst>
          </p:cNvPr>
          <p:cNvSpPr>
            <a:spLocks xmlns:a="http://schemas.openxmlformats.org/drawingml/2006/main" noGrp="1"/>
          </p:cNvSpPr>
          <p:nvPr/>
        </p:nvSpPr>
        <p:spPr>
          <a:xfrm xmlns:a="http://schemas.openxmlformats.org/drawingml/2006/main">
            <a:off x="87630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TREASURER</a:t>
            </a:r>
          </a:p>
        </p:txBody>
      </p:sp>
      <p:sp>
        <p:nvSpPr>
          <p:cNvPr id="16" name="s7-cell-0-1">
            <a:extLst xmlns:a="http://schemas.openxmlformats.org/drawingml/2006/main">
              <a:ext uri="{FF2B5EF4-FFF2-40B4-BE49-F238E27FC236}">
                <a16:creationId xmlns:a16="http://schemas.microsoft.com/office/drawing/2014/main" id="{80C30B4C-AEB7-4830-BE15-35252B50A8C7}"/>
              </a:ext>
            </a:extLst>
          </p:cNvPr>
          <p:cNvSpPr>
            <a:spLocks xmlns:a="http://schemas.openxmlformats.org/drawingml/2006/main" noGrp="1"/>
          </p:cNvSpPr>
          <p:nvPr/>
        </p:nvSpPr>
        <p:spPr>
          <a:xfrm xmlns:a="http://schemas.openxmlformats.org/drawingml/2006/main">
            <a:off x="2105025"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7" name="s7-cell-text-0-1">
            <a:extLst xmlns:a="http://schemas.openxmlformats.org/drawingml/2006/main">
              <a:ext uri="{FF2B5EF4-FFF2-40B4-BE49-F238E27FC236}">
                <a16:creationId xmlns:a16="http://schemas.microsoft.com/office/drawing/2014/main" id="{21972F9A-42E2-4E86-AF7C-087FA7CF829D}"/>
              </a:ext>
            </a:extLst>
          </p:cNvPr>
          <p:cNvSpPr>
            <a:spLocks xmlns:a="http://schemas.openxmlformats.org/drawingml/2006/main" noGrp="1"/>
          </p:cNvSpPr>
          <p:nvPr/>
        </p:nvSpPr>
        <p:spPr>
          <a:xfrm xmlns:a="http://schemas.openxmlformats.org/drawingml/2006/main">
            <a:off x="2105025"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WC PRESSURE</a:t>
            </a:r>
          </a:p>
        </p:txBody>
      </p:sp>
      <p:sp>
        <p:nvSpPr>
          <p:cNvPr id="18" name="s7-cell-0-2">
            <a:extLst xmlns:a="http://schemas.openxmlformats.org/drawingml/2006/main">
              <a:ext uri="{FF2B5EF4-FFF2-40B4-BE49-F238E27FC236}">
                <a16:creationId xmlns:a16="http://schemas.microsoft.com/office/drawing/2014/main" id="{BF8B429A-05BE-4C8F-99AF-1814CD334DAA}"/>
              </a:ext>
            </a:extLst>
          </p:cNvPr>
          <p:cNvSpPr>
            <a:spLocks xmlns:a="http://schemas.openxmlformats.org/drawingml/2006/main" noGrp="1"/>
          </p:cNvSpPr>
          <p:nvPr/>
        </p:nvSpPr>
        <p:spPr>
          <a:xfrm xmlns:a="http://schemas.openxmlformats.org/drawingml/2006/main">
            <a:off x="333375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9" name="s7-cell-text-0-2">
            <a:extLst xmlns:a="http://schemas.openxmlformats.org/drawingml/2006/main">
              <a:ext uri="{FF2B5EF4-FFF2-40B4-BE49-F238E27FC236}">
                <a16:creationId xmlns:a16="http://schemas.microsoft.com/office/drawing/2014/main" id="{BDEE9D0E-7353-4427-9E9E-48B63074607B}"/>
              </a:ext>
            </a:extLst>
          </p:cNvPr>
          <p:cNvSpPr>
            <a:spLocks xmlns:a="http://schemas.openxmlformats.org/drawingml/2006/main" noGrp="1"/>
          </p:cNvSpPr>
          <p:nvPr/>
        </p:nvSpPr>
        <p:spPr>
          <a:xfrm xmlns:a="http://schemas.openxmlformats.org/drawingml/2006/main">
            <a:off x="333375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TRADE FINANCE</a:t>
            </a:r>
          </a:p>
        </p:txBody>
      </p:sp>
      <p:sp>
        <p:nvSpPr>
          <p:cNvPr id="20" name="s7-cell-1-0">
            <a:extLst xmlns:a="http://schemas.openxmlformats.org/drawingml/2006/main">
              <a:ext uri="{FF2B5EF4-FFF2-40B4-BE49-F238E27FC236}">
                <a16:creationId xmlns:a16="http://schemas.microsoft.com/office/drawing/2014/main" id="{B408B8AA-EBC6-48BD-97F1-2A5EBDB27B4F}"/>
              </a:ext>
            </a:extLst>
          </p:cNvPr>
          <p:cNvSpPr>
            <a:spLocks xmlns:a="http://schemas.openxmlformats.org/drawingml/2006/main" noGrp="1"/>
          </p:cNvSpPr>
          <p:nvPr/>
        </p:nvSpPr>
        <p:spPr>
          <a:xfrm xmlns:a="http://schemas.openxmlformats.org/drawingml/2006/main">
            <a:off x="87630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1" name="s7-cell-text-1-0">
            <a:extLst xmlns:a="http://schemas.openxmlformats.org/drawingml/2006/main">
              <a:ext uri="{FF2B5EF4-FFF2-40B4-BE49-F238E27FC236}">
                <a16:creationId xmlns:a16="http://schemas.microsoft.com/office/drawing/2014/main" id="{38DB4768-7713-4A94-A5F8-FBE3807BDE3A}"/>
              </a:ext>
            </a:extLst>
          </p:cNvPr>
          <p:cNvSpPr>
            <a:spLocks xmlns:a="http://schemas.openxmlformats.org/drawingml/2006/main" noGrp="1"/>
          </p:cNvSpPr>
          <p:nvPr/>
        </p:nvSpPr>
        <p:spPr>
          <a:xfrm xmlns:a="http://schemas.openxmlformats.org/drawingml/2006/main">
            <a:off x="87630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CFO</a:t>
            </a:r>
          </a:p>
        </p:txBody>
      </p:sp>
      <p:sp>
        <p:nvSpPr>
          <p:cNvPr id="22" name="s7-cell-1-1">
            <a:extLst xmlns:a="http://schemas.openxmlformats.org/drawingml/2006/main">
              <a:ext uri="{FF2B5EF4-FFF2-40B4-BE49-F238E27FC236}">
                <a16:creationId xmlns:a16="http://schemas.microsoft.com/office/drawing/2014/main" id="{D9AE079B-8354-4A0A-8BF9-C3047702CAB8}"/>
              </a:ext>
            </a:extLst>
          </p:cNvPr>
          <p:cNvSpPr>
            <a:spLocks xmlns:a="http://schemas.openxmlformats.org/drawingml/2006/main" noGrp="1"/>
          </p:cNvSpPr>
          <p:nvPr/>
        </p:nvSpPr>
        <p:spPr>
          <a:xfrm xmlns:a="http://schemas.openxmlformats.org/drawingml/2006/main">
            <a:off x="2105025" y="4686300"/>
            <a:ext cx="1152525" cy="400050"/>
          </a:xfrm>
          <a:prstGeom xmlns:a="http://schemas.openxmlformats.org/drawingml/2006/main" prst="rect">
            <a:avLst/>
          </a:prstGeom>
          <a:solidFill xmlns:a="http://schemas.openxmlformats.org/drawingml/2006/main">
            <a:srgbClr val="E2951C"/>
          </a:solidFill>
          <a:ln xmlns:a="http://schemas.openxmlformats.org/drawingml/2006/main" w="0">
            <a:noFill/>
            <a:prstDash val="solid"/>
          </a:ln>
        </p:spPr>
      </p:sp>
      <p:sp>
        <p:nvSpPr>
          <p:cNvPr id="23" name="s7-cell-text-1-1">
            <a:extLst xmlns:a="http://schemas.openxmlformats.org/drawingml/2006/main">
              <a:ext uri="{FF2B5EF4-FFF2-40B4-BE49-F238E27FC236}">
                <a16:creationId xmlns:a16="http://schemas.microsoft.com/office/drawing/2014/main" id="{746528C7-3656-4343-B455-6E0C61ED8205}"/>
              </a:ext>
            </a:extLst>
          </p:cNvPr>
          <p:cNvSpPr>
            <a:spLocks xmlns:a="http://schemas.openxmlformats.org/drawingml/2006/main" noGrp="1"/>
          </p:cNvSpPr>
          <p:nvPr/>
        </p:nvSpPr>
        <p:spPr>
          <a:xfrm xmlns:a="http://schemas.openxmlformats.org/drawingml/2006/main">
            <a:off x="2105025"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SUPPLY RISK</a:t>
            </a:r>
          </a:p>
        </p:txBody>
      </p:sp>
      <p:sp>
        <p:nvSpPr>
          <p:cNvPr id="24" name="s7-cell-1-2">
            <a:extLst xmlns:a="http://schemas.openxmlformats.org/drawingml/2006/main">
              <a:ext uri="{FF2B5EF4-FFF2-40B4-BE49-F238E27FC236}">
                <a16:creationId xmlns:a16="http://schemas.microsoft.com/office/drawing/2014/main" id="{7C4EDF3A-87CA-4F4F-BFF9-C539C3E36E09}"/>
              </a:ext>
            </a:extLst>
          </p:cNvPr>
          <p:cNvSpPr>
            <a:spLocks xmlns:a="http://schemas.openxmlformats.org/drawingml/2006/main" noGrp="1"/>
          </p:cNvSpPr>
          <p:nvPr/>
        </p:nvSpPr>
        <p:spPr>
          <a:xfrm xmlns:a="http://schemas.openxmlformats.org/drawingml/2006/main">
            <a:off x="333375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5" name="s7-cell-text-1-2">
            <a:extLst xmlns:a="http://schemas.openxmlformats.org/drawingml/2006/main">
              <a:ext uri="{FF2B5EF4-FFF2-40B4-BE49-F238E27FC236}">
                <a16:creationId xmlns:a16="http://schemas.microsoft.com/office/drawing/2014/main" id="{CCE9BB30-FEA9-4572-8368-7D3FD69E3A1B}"/>
              </a:ext>
            </a:extLst>
          </p:cNvPr>
          <p:cNvSpPr>
            <a:spLocks xmlns:a="http://schemas.openxmlformats.org/drawingml/2006/main" noGrp="1"/>
          </p:cNvSpPr>
          <p:nvPr/>
        </p:nvSpPr>
        <p:spPr>
          <a:xfrm xmlns:a="http://schemas.openxmlformats.org/drawingml/2006/main">
            <a:off x="333375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 SCF</a:t>
            </a:r>
          </a:p>
        </p:txBody>
      </p:sp>
      <p:sp>
        <p:nvSpPr>
          <p:cNvPr id="26" name="s7-cell-2-0">
            <a:extLst xmlns:a="http://schemas.openxmlformats.org/drawingml/2006/main">
              <a:ext uri="{FF2B5EF4-FFF2-40B4-BE49-F238E27FC236}">
                <a16:creationId xmlns:a16="http://schemas.microsoft.com/office/drawing/2014/main" id="{44997F7E-F694-4A79-988F-B80EF742BC0C}"/>
              </a:ext>
            </a:extLst>
          </p:cNvPr>
          <p:cNvSpPr>
            <a:spLocks xmlns:a="http://schemas.openxmlformats.org/drawingml/2006/main" noGrp="1"/>
          </p:cNvSpPr>
          <p:nvPr/>
        </p:nvSpPr>
        <p:spPr>
          <a:xfrm xmlns:a="http://schemas.openxmlformats.org/drawingml/2006/main">
            <a:off x="87630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7" name="s7-cell-text-2-0">
            <a:extLst xmlns:a="http://schemas.openxmlformats.org/drawingml/2006/main">
              <a:ext uri="{FF2B5EF4-FFF2-40B4-BE49-F238E27FC236}">
                <a16:creationId xmlns:a16="http://schemas.microsoft.com/office/drawing/2014/main" id="{8DD0E37A-9F6F-46A4-A786-31CBF50ABC9A}"/>
              </a:ext>
            </a:extLst>
          </p:cNvPr>
          <p:cNvSpPr>
            <a:spLocks xmlns:a="http://schemas.openxmlformats.org/drawingml/2006/main" noGrp="1"/>
          </p:cNvSpPr>
          <p:nvPr/>
        </p:nvSpPr>
        <p:spPr>
          <a:xfrm xmlns:a="http://schemas.openxmlformats.org/drawingml/2006/main">
            <a:off x="87630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FIN OPS</a:t>
            </a:r>
          </a:p>
        </p:txBody>
      </p:sp>
      <p:sp>
        <p:nvSpPr>
          <p:cNvPr id="28" name="s7-cell-2-1">
            <a:extLst xmlns:a="http://schemas.openxmlformats.org/drawingml/2006/main">
              <a:ext uri="{FF2B5EF4-FFF2-40B4-BE49-F238E27FC236}">
                <a16:creationId xmlns:a16="http://schemas.microsoft.com/office/drawing/2014/main" id="{F3593081-1F1E-4D6F-A6B7-96F2F8E9885E}"/>
              </a:ext>
            </a:extLst>
          </p:cNvPr>
          <p:cNvSpPr>
            <a:spLocks xmlns:a="http://schemas.openxmlformats.org/drawingml/2006/main" noGrp="1"/>
          </p:cNvSpPr>
          <p:nvPr/>
        </p:nvSpPr>
        <p:spPr>
          <a:xfrm xmlns:a="http://schemas.openxmlformats.org/drawingml/2006/main">
            <a:off x="2105025"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9" name="s7-cell-text-2-1">
            <a:extLst xmlns:a="http://schemas.openxmlformats.org/drawingml/2006/main">
              <a:ext uri="{FF2B5EF4-FFF2-40B4-BE49-F238E27FC236}">
                <a16:creationId xmlns:a16="http://schemas.microsoft.com/office/drawing/2014/main" id="{34FBB233-F383-4E15-96FA-C03B1C1C11D6}"/>
              </a:ext>
            </a:extLst>
          </p:cNvPr>
          <p:cNvSpPr>
            <a:spLocks xmlns:a="http://schemas.openxmlformats.org/drawingml/2006/main" noGrp="1"/>
          </p:cNvSpPr>
          <p:nvPr/>
        </p:nvSpPr>
        <p:spPr>
          <a:xfrm xmlns:a="http://schemas.openxmlformats.org/drawingml/2006/main">
            <a:off x="2105025"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CONFIRM</a:t>
            </a:r>
          </a:p>
        </p:txBody>
      </p:sp>
      <p:sp>
        <p:nvSpPr>
          <p:cNvPr id="30" name="s7-cell-2-2">
            <a:extLst xmlns:a="http://schemas.openxmlformats.org/drawingml/2006/main">
              <a:ext uri="{FF2B5EF4-FFF2-40B4-BE49-F238E27FC236}">
                <a16:creationId xmlns:a16="http://schemas.microsoft.com/office/drawing/2014/main" id="{7C2E5D13-CFFD-4924-B47D-F8D039D25FA3}"/>
              </a:ext>
            </a:extLst>
          </p:cNvPr>
          <p:cNvSpPr>
            <a:spLocks xmlns:a="http://schemas.openxmlformats.org/drawingml/2006/main" noGrp="1"/>
          </p:cNvSpPr>
          <p:nvPr/>
        </p:nvSpPr>
        <p:spPr>
          <a:xfrm xmlns:a="http://schemas.openxmlformats.org/drawingml/2006/main">
            <a:off x="333375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31" name="s7-cell-text-2-2">
            <a:extLst xmlns:a="http://schemas.openxmlformats.org/drawingml/2006/main">
              <a:ext uri="{FF2B5EF4-FFF2-40B4-BE49-F238E27FC236}">
                <a16:creationId xmlns:a16="http://schemas.microsoft.com/office/drawing/2014/main" id="{1F835D1C-1888-4039-861E-C7B8AF0DD965}"/>
              </a:ext>
            </a:extLst>
          </p:cNvPr>
          <p:cNvSpPr>
            <a:spLocks xmlns:a="http://schemas.openxmlformats.org/drawingml/2006/main" noGrp="1"/>
          </p:cNvSpPr>
          <p:nvPr/>
        </p:nvSpPr>
        <p:spPr>
          <a:xfrm xmlns:a="http://schemas.openxmlformats.org/drawingml/2006/main">
            <a:off x="333375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DISCOVERY</a:t>
            </a:r>
          </a:p>
        </p:txBody>
      </p:sp>
      <p:sp>
        <p:nvSpPr>
          <p:cNvPr id="32" name="s7-global-label">
            <a:extLst xmlns:a="http://schemas.openxmlformats.org/drawingml/2006/main">
              <a:ext uri="{FF2B5EF4-FFF2-40B4-BE49-F238E27FC236}">
                <a16:creationId xmlns:a16="http://schemas.microsoft.com/office/drawing/2014/main" id="{C2C8EE5E-4332-4989-B140-C66A0D89C264}"/>
              </a:ext>
            </a:extLst>
          </p:cNvPr>
          <p:cNvSpPr>
            <a:spLocks xmlns:a="http://schemas.openxmlformats.org/drawingml/2006/main" noGrp="1"/>
          </p:cNvSpPr>
          <p:nvPr/>
        </p:nvSpPr>
        <p:spPr>
          <a:xfrm xmlns:a="http://schemas.openxmlformats.org/drawingml/2006/main">
            <a:off x="5829300" y="18097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WHY NOW + WHAT TO ASK</a:t>
            </a:r>
          </a:p>
        </p:txBody>
      </p:sp>
      <p:cxnSp>
        <p:nvCxnSpPr>
          <p:cNvPr id="217" name="s7-first-rule"/>
          <p:cNvCxnSpPr/>
          <p:nvPr/>
        </p:nvCxnSpPr>
        <p:spPr>
          <a:xfrm xmlns:a="http://schemas.openxmlformats.org/drawingml/2006/main">
            <a:off x="5829300" y="21907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4" name="s7-first-value">
            <a:extLst xmlns:a="http://schemas.openxmlformats.org/drawingml/2006/main">
              <a:ext uri="{FF2B5EF4-FFF2-40B4-BE49-F238E27FC236}">
                <a16:creationId xmlns:a16="http://schemas.microsoft.com/office/drawing/2014/main" id="{5DFBDE0D-BB22-48AE-9127-B9B943EC1C54}"/>
              </a:ext>
            </a:extLst>
          </p:cNvPr>
          <p:cNvSpPr>
            <a:spLocks xmlns:a="http://schemas.openxmlformats.org/drawingml/2006/main" noGrp="1"/>
          </p:cNvSpPr>
          <p:nvPr/>
        </p:nvSpPr>
        <p:spPr>
          <a:xfrm xmlns:a="http://schemas.openxmlformats.org/drawingml/2006/main">
            <a:off x="582930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36.0%</a:t>
            </a:r>
          </a:p>
        </p:txBody>
      </p:sp>
      <p:sp>
        <p:nvSpPr>
          <p:cNvPr id="35" name="s7-first-label">
            <a:extLst xmlns:a="http://schemas.openxmlformats.org/drawingml/2006/main">
              <a:ext uri="{FF2B5EF4-FFF2-40B4-BE49-F238E27FC236}">
                <a16:creationId xmlns:a16="http://schemas.microsoft.com/office/drawing/2014/main" id="{77AEEA6F-9743-421E-8A93-67A472078906}"/>
              </a:ext>
            </a:extLst>
          </p:cNvPr>
          <p:cNvSpPr>
            <a:spLocks xmlns:a="http://schemas.openxmlformats.org/drawingml/2006/main" noGrp="1"/>
          </p:cNvSpPr>
          <p:nvPr/>
        </p:nvSpPr>
        <p:spPr>
          <a:xfrm xmlns:a="http://schemas.openxmlformats.org/drawingml/2006/main">
            <a:off x="582930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90-day baseline</a:t>
            </a:r>
          </a:p>
        </p:txBody>
      </p:sp>
      <p:sp>
        <p:nvSpPr>
          <p:cNvPr id="36" name="s7-first-note">
            <a:extLst xmlns:a="http://schemas.openxmlformats.org/drawingml/2006/main">
              <a:ext uri="{FF2B5EF4-FFF2-40B4-BE49-F238E27FC236}">
                <a16:creationId xmlns:a16="http://schemas.microsoft.com/office/drawing/2014/main" id="{D3447E88-3148-4101-BB31-FA0D8ACFED75}"/>
              </a:ext>
            </a:extLst>
          </p:cNvPr>
          <p:cNvSpPr>
            <a:spLocks xmlns:a="http://schemas.openxmlformats.org/drawingml/2006/main" noGrp="1"/>
          </p:cNvSpPr>
          <p:nvPr/>
        </p:nvSpPr>
        <p:spPr>
          <a:xfrm xmlns:a="http://schemas.openxmlformats.org/drawingml/2006/main">
            <a:off x="582930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Transparent—not calibrated hazard</a:t>
            </a:r>
          </a:p>
        </p:txBody>
      </p:sp>
      <p:cxnSp>
        <p:nvCxnSpPr>
          <p:cNvPr id="221" name="s7-top10-rule"/>
          <p:cNvCxnSpPr/>
          <p:nvPr/>
        </p:nvCxnSpPr>
        <p:spPr>
          <a:xfrm xmlns:a="http://schemas.openxmlformats.org/drawingml/2006/main">
            <a:off x="8705850" y="21907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7-top10-value">
            <a:extLst xmlns:a="http://schemas.openxmlformats.org/drawingml/2006/main">
              <a:ext uri="{FF2B5EF4-FFF2-40B4-BE49-F238E27FC236}">
                <a16:creationId xmlns:a16="http://schemas.microsoft.com/office/drawing/2014/main" id="{0C9D1DB5-20D1-440E-A241-7CF31E4AF8E2}"/>
              </a:ext>
            </a:extLst>
          </p:cNvPr>
          <p:cNvSpPr>
            <a:spLocks xmlns:a="http://schemas.openxmlformats.org/drawingml/2006/main" noGrp="1"/>
          </p:cNvSpPr>
          <p:nvPr/>
        </p:nvSpPr>
        <p:spPr>
          <a:xfrm xmlns:a="http://schemas.openxmlformats.org/drawingml/2006/main">
            <a:off x="870585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a:t>
            </a:r>
          </a:p>
        </p:txBody>
      </p:sp>
      <p:sp>
        <p:nvSpPr>
          <p:cNvPr id="39" name="s7-top10-label">
            <a:extLst xmlns:a="http://schemas.openxmlformats.org/drawingml/2006/main">
              <a:ext uri="{FF2B5EF4-FFF2-40B4-BE49-F238E27FC236}">
                <a16:creationId xmlns:a16="http://schemas.microsoft.com/office/drawing/2014/main" id="{F9407FAD-6E0A-44B6-A687-5D5874A605FB}"/>
              </a:ext>
            </a:extLst>
          </p:cNvPr>
          <p:cNvSpPr>
            <a:spLocks xmlns:a="http://schemas.openxmlformats.org/drawingml/2006/main" noGrp="1"/>
          </p:cNvSpPr>
          <p:nvPr/>
        </p:nvSpPr>
        <p:spPr>
          <a:xfrm xmlns:a="http://schemas.openxmlformats.org/drawingml/2006/main">
            <a:off x="870585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primary VOI question</a:t>
            </a:r>
          </a:p>
        </p:txBody>
      </p:sp>
      <p:sp>
        <p:nvSpPr>
          <p:cNvPr id="40" name="s7-top10-note">
            <a:extLst xmlns:a="http://schemas.openxmlformats.org/drawingml/2006/main">
              <a:ext uri="{FF2B5EF4-FFF2-40B4-BE49-F238E27FC236}">
                <a16:creationId xmlns:a16="http://schemas.microsoft.com/office/drawing/2014/main" id="{3BE49421-E8F7-4EC3-AF74-5D7F1E6125BF}"/>
              </a:ext>
            </a:extLst>
          </p:cNvPr>
          <p:cNvSpPr>
            <a:spLocks xmlns:a="http://schemas.openxmlformats.org/drawingml/2006/main" noGrp="1"/>
          </p:cNvSpPr>
          <p:nvPr/>
        </p:nvSpPr>
        <p:spPr>
          <a:xfrm xmlns:a="http://schemas.openxmlformats.org/drawingml/2006/main">
            <a:off x="870585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Only if it can change the decision</a:t>
            </a:r>
          </a:p>
        </p:txBody>
      </p:sp>
      <p:cxnSp>
        <p:nvCxnSpPr>
          <p:cNvPr id="225" name="s7-fx-rule"/>
          <p:cNvCxnSpPr/>
          <p:nvPr/>
        </p:nvCxnSpPr>
        <p:spPr>
          <a:xfrm xmlns:a="http://schemas.openxmlformats.org/drawingml/2006/main">
            <a:off x="5829300" y="396240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42" name="s7-fx-value">
            <a:extLst xmlns:a="http://schemas.openxmlformats.org/drawingml/2006/main">
              <a:ext uri="{FF2B5EF4-FFF2-40B4-BE49-F238E27FC236}">
                <a16:creationId xmlns:a16="http://schemas.microsoft.com/office/drawing/2014/main" id="{6BE9C760-BEFA-4672-AD3B-F1AB22DAE3EA}"/>
              </a:ext>
            </a:extLst>
          </p:cNvPr>
          <p:cNvSpPr>
            <a:spLocks xmlns:a="http://schemas.openxmlformats.org/drawingml/2006/main" noGrp="1"/>
          </p:cNvSpPr>
          <p:nvPr/>
        </p:nvSpPr>
        <p:spPr>
          <a:xfrm xmlns:a="http://schemas.openxmlformats.org/drawingml/2006/main">
            <a:off x="582930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a:t>
            </a:r>
          </a:p>
        </p:txBody>
      </p:sp>
      <p:sp>
        <p:nvSpPr>
          <p:cNvPr id="43" name="s7-fx-label">
            <a:extLst xmlns:a="http://schemas.openxmlformats.org/drawingml/2006/main">
              <a:ext uri="{FF2B5EF4-FFF2-40B4-BE49-F238E27FC236}">
                <a16:creationId xmlns:a16="http://schemas.microsoft.com/office/drawing/2014/main" id="{FD3C6F74-047F-44B6-9358-CE3874C5702B}"/>
              </a:ext>
            </a:extLst>
          </p:cNvPr>
          <p:cNvSpPr>
            <a:spLocks xmlns:a="http://schemas.openxmlformats.org/drawingml/2006/main" noGrp="1"/>
          </p:cNvSpPr>
          <p:nvPr/>
        </p:nvSpPr>
        <p:spPr>
          <a:xfrm xmlns:a="http://schemas.openxmlformats.org/drawingml/2006/main">
            <a:off x="582930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weekly conversations</a:t>
            </a:r>
          </a:p>
        </p:txBody>
      </p:sp>
      <p:sp>
        <p:nvSpPr>
          <p:cNvPr id="44" name="s7-fx-note">
            <a:extLst xmlns:a="http://schemas.openxmlformats.org/drawingml/2006/main">
              <a:ext uri="{FF2B5EF4-FFF2-40B4-BE49-F238E27FC236}">
                <a16:creationId xmlns:a16="http://schemas.microsoft.com/office/drawing/2014/main" id="{8CB5B412-DB5B-4A0E-86DB-B9F0C922A280}"/>
              </a:ext>
            </a:extLst>
          </p:cNvPr>
          <p:cNvSpPr>
            <a:spLocks xmlns:a="http://schemas.openxmlformats.org/drawingml/2006/main" noGrp="1"/>
          </p:cNvSpPr>
          <p:nvPr/>
        </p:nvSpPr>
        <p:spPr>
          <a:xfrm xmlns:a="http://schemas.openxmlformats.org/drawingml/2006/main">
            <a:off x="582930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All discovery under unknown bank gates</a:t>
            </a:r>
          </a:p>
        </p:txBody>
      </p:sp>
      <p:cxnSp>
        <p:nvCxnSpPr>
          <p:cNvPr id="229" name="s7-econ-rule"/>
          <p:cNvCxnSpPr/>
          <p:nvPr/>
        </p:nvCxnSpPr>
        <p:spPr>
          <a:xfrm xmlns:a="http://schemas.openxmlformats.org/drawingml/2006/main">
            <a:off x="8705850" y="396240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6" name="s7-econ-value">
            <a:extLst xmlns:a="http://schemas.openxmlformats.org/drawingml/2006/main">
              <a:ext uri="{FF2B5EF4-FFF2-40B4-BE49-F238E27FC236}">
                <a16:creationId xmlns:a16="http://schemas.microsoft.com/office/drawing/2014/main" id="{F635547D-9720-48A5-BA26-2B12CF5D0B6C}"/>
              </a:ext>
            </a:extLst>
          </p:cNvPr>
          <p:cNvSpPr>
            <a:spLocks xmlns:a="http://schemas.openxmlformats.org/drawingml/2006/main" noGrp="1"/>
          </p:cNvSpPr>
          <p:nvPr/>
        </p:nvSpPr>
        <p:spPr>
          <a:xfrm xmlns:a="http://schemas.openxmlformats.org/drawingml/2006/main">
            <a:off x="870585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NULL</a:t>
            </a:r>
          </a:p>
        </p:txBody>
      </p:sp>
      <p:sp>
        <p:nvSpPr>
          <p:cNvPr id="47" name="s7-econ-label">
            <a:extLst xmlns:a="http://schemas.openxmlformats.org/drawingml/2006/main">
              <a:ext uri="{FF2B5EF4-FFF2-40B4-BE49-F238E27FC236}">
                <a16:creationId xmlns:a16="http://schemas.microsoft.com/office/drawing/2014/main" id="{F8CFA969-8DD7-4918-8E0F-C6E3F943BF8F}"/>
              </a:ext>
            </a:extLst>
          </p:cNvPr>
          <p:cNvSpPr>
            <a:spLocks xmlns:a="http://schemas.openxmlformats.org/drawingml/2006/main" noGrp="1"/>
          </p:cNvSpPr>
          <p:nvPr/>
        </p:nvSpPr>
        <p:spPr>
          <a:xfrm xmlns:a="http://schemas.openxmlformats.org/drawingml/2006/main">
            <a:off x="870585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causal value</a:t>
            </a:r>
          </a:p>
        </p:txBody>
      </p:sp>
      <p:sp>
        <p:nvSpPr>
          <p:cNvPr id="48" name="s7-econ-note">
            <a:extLst xmlns:a="http://schemas.openxmlformats.org/drawingml/2006/main">
              <a:ext uri="{FF2B5EF4-FFF2-40B4-BE49-F238E27FC236}">
                <a16:creationId xmlns:a16="http://schemas.microsoft.com/office/drawing/2014/main" id="{679B5143-E8B2-42B7-B923-94A70BE4A577}"/>
              </a:ext>
            </a:extLst>
          </p:cNvPr>
          <p:cNvSpPr>
            <a:spLocks xmlns:a="http://schemas.openxmlformats.org/drawingml/2006/main" noGrp="1"/>
          </p:cNvSpPr>
          <p:nvPr/>
        </p:nvSpPr>
        <p:spPr>
          <a:xfrm xmlns:a="http://schemas.openxmlformats.org/drawingml/2006/main">
            <a:off x="870585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qualified RM trial history</a:t>
            </a:r>
          </a:p>
        </p:txBody>
      </p:sp>
      <p:sp>
        <p:nvSpPr>
          <p:cNvPr id="49" name="s7-conclusion">
            <a:extLst xmlns:a="http://schemas.openxmlformats.org/drawingml/2006/main">
              <a:ext uri="{FF2B5EF4-FFF2-40B4-BE49-F238E27FC236}">
                <a16:creationId xmlns:a16="http://schemas.microsoft.com/office/drawing/2014/main" id="{FC881B4E-551C-4ABA-B943-85403F2869BA}"/>
              </a:ext>
            </a:extLst>
          </p:cNvPr>
          <p:cNvSpPr>
            <a:spLocks xmlns:a="http://schemas.openxmlformats.org/drawingml/2006/main" noGrp="1"/>
          </p:cNvSpPr>
          <p:nvPr/>
        </p:nvSpPr>
        <p:spPr>
          <a:xfrm xmlns:a="http://schemas.openxmlformats.org/drawingml/2006/main">
            <a:off x="5829300" y="5619750"/>
            <a:ext cx="5257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758"/>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Permitted action now: validate wallet, stakeholder and feasibility. Conditional commercial action begins only after the missing facts and required gates are confirmed.</a:t>
            </a:r>
          </a:p>
        </p:txBody>
      </p:sp>
    </p:spTree>
    <p:extLst>
      <p:ext uri="{BB962C8B-B14F-4D97-AF65-F5344CB8AC3E}">
        <p14:creationId xmlns:p14="http://schemas.microsoft.com/office/powerpoint/2010/main" val="163831442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3" name="eyebrow-6">
            <a:extLst xmlns:a="http://schemas.openxmlformats.org/drawingml/2006/main">
              <a:ext uri="{FF2B5EF4-FFF2-40B4-BE49-F238E27FC236}">
                <a16:creationId xmlns:a16="http://schemas.microsoft.com/office/drawing/2014/main" id="{89E91E12-CE66-45C3-A120-BC0CCCDB80E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GROUNDED GENAI BRIEFING</a:t>
            </a:r>
          </a:p>
        </p:txBody>
      </p:sp>
      <p:sp>
        <p:nvSpPr>
          <p:cNvPr id="2" name="title-6">
            <a:extLst xmlns:a="http://schemas.openxmlformats.org/drawingml/2006/main">
              <a:ext uri="{FF2B5EF4-FFF2-40B4-BE49-F238E27FC236}">
                <a16:creationId xmlns:a16="http://schemas.microsoft.com/office/drawing/2014/main" id="{A3E00FF7-9183-418A-806A-FE7CA9FEBBD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A closed evidence pack controls every published word</a:t>
            </a:r>
          </a:p>
        </p:txBody>
      </p:sp>
      <p:cxnSp>
        <p:nvCxnSpPr>
          <p:cNvPr id="80" name="title-rule-6"/>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6">
            <a:extLst xmlns:a="http://schemas.openxmlformats.org/drawingml/2006/main">
              <a:ext uri="{FF2B5EF4-FFF2-40B4-BE49-F238E27FC236}">
                <a16:creationId xmlns:a16="http://schemas.microsoft.com/office/drawing/2014/main" id="{12855A77-AC13-4F57-A20D-7CE78FF9268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6">
            <a:extLst xmlns:a="http://schemas.openxmlformats.org/drawingml/2006/main">
              <a:ext uri="{FF2B5EF4-FFF2-40B4-BE49-F238E27FC236}">
                <a16:creationId xmlns:a16="http://schemas.microsoft.com/office/drawing/2014/main" id="{F9533333-6E7B-4473-9C8C-25780F633948}"/>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6">
            <a:extLst xmlns:a="http://schemas.openxmlformats.org/drawingml/2006/main">
              <a:ext uri="{FF2B5EF4-FFF2-40B4-BE49-F238E27FC236}">
                <a16:creationId xmlns:a16="http://schemas.microsoft.com/office/drawing/2014/main" id="{55DD1F24-B291-41C2-B201-5EBE85341DDA}"/>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08</a:t>
            </a:r>
          </a:p>
        </p:txBody>
      </p:sp>
      <p:cxnSp>
        <p:nvCxnSpPr>
          <p:cNvPr id="84" name="s6-wallet-rule"/>
          <p:cNvCxnSpPr/>
          <p:nvPr/>
        </p:nvCxnSpPr>
        <p:spPr>
          <a:xfrm xmlns:a="http://schemas.openxmlformats.org/drawingml/2006/main">
            <a:off x="609600" y="173355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6-wallet-value">
            <a:extLst xmlns:a="http://schemas.openxmlformats.org/drawingml/2006/main">
              <a:ext uri="{FF2B5EF4-FFF2-40B4-BE49-F238E27FC236}">
                <a16:creationId xmlns:a16="http://schemas.microsoft.com/office/drawing/2014/main" id="{1AE85D63-8C12-468A-A058-88FA88D8AADB}"/>
              </a:ext>
            </a:extLst>
          </p:cNvPr>
          <p:cNvSpPr>
            <a:spLocks xmlns:a="http://schemas.openxmlformats.org/drawingml/2006/main" noGrp="1"/>
          </p:cNvSpPr>
          <p:nvPr/>
        </p:nvSpPr>
        <p:spPr>
          <a:xfrm xmlns:a="http://schemas.openxmlformats.org/drawingml/2006/main">
            <a:off x="6096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 / 3</a:t>
            </a:r>
          </a:p>
        </p:txBody>
      </p:sp>
      <p:sp>
        <p:nvSpPr>
          <p:cNvPr id="9" name="s6-wallet-label">
            <a:extLst xmlns:a="http://schemas.openxmlformats.org/drawingml/2006/main">
              <a:ext uri="{FF2B5EF4-FFF2-40B4-BE49-F238E27FC236}">
                <a16:creationId xmlns:a16="http://schemas.microsoft.com/office/drawing/2014/main" id="{D27EFF17-7C19-401E-8465-85B3049CFD21}"/>
              </a:ext>
            </a:extLst>
          </p:cNvPr>
          <p:cNvSpPr>
            <a:spLocks xmlns:a="http://schemas.openxmlformats.org/drawingml/2006/main" noGrp="1"/>
          </p:cNvSpPr>
          <p:nvPr/>
        </p:nvSpPr>
        <p:spPr>
          <a:xfrm xmlns:a="http://schemas.openxmlformats.org/drawingml/2006/main">
            <a:off x="6096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showcase fallback briefs</a:t>
            </a:r>
          </a:p>
        </p:txBody>
      </p:sp>
      <p:sp>
        <p:nvSpPr>
          <p:cNvPr id="10" name="s6-wallet-note">
            <a:extLst xmlns:a="http://schemas.openxmlformats.org/drawingml/2006/main">
              <a:ext uri="{FF2B5EF4-FFF2-40B4-BE49-F238E27FC236}">
                <a16:creationId xmlns:a16="http://schemas.microsoft.com/office/drawing/2014/main" id="{7B254F8C-194F-4785-B639-94DC06E07543}"/>
              </a:ext>
            </a:extLst>
          </p:cNvPr>
          <p:cNvSpPr>
            <a:spLocks xmlns:a="http://schemas.openxmlformats.org/drawingml/2006/main" noGrp="1"/>
          </p:cNvSpPr>
          <p:nvPr/>
        </p:nvSpPr>
        <p:spPr>
          <a:xfrm xmlns:a="http://schemas.openxmlformats.org/drawingml/2006/main">
            <a:off x="6096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BHP · Glencore · Shoprite; deterministic and validated</a:t>
            </a:r>
          </a:p>
        </p:txBody>
      </p:sp>
      <p:cxnSp>
        <p:nvCxnSpPr>
          <p:cNvPr id="88" name="s6-share-rule"/>
          <p:cNvCxnSpPr/>
          <p:nvPr/>
        </p:nvCxnSpPr>
        <p:spPr>
          <a:xfrm xmlns:a="http://schemas.openxmlformats.org/drawingml/2006/main">
            <a:off x="4171950" y="173355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12" name="s6-share-value">
            <a:extLst xmlns:a="http://schemas.openxmlformats.org/drawingml/2006/main">
              <a:ext uri="{FF2B5EF4-FFF2-40B4-BE49-F238E27FC236}">
                <a16:creationId xmlns:a16="http://schemas.microsoft.com/office/drawing/2014/main" id="{4B3086FD-423F-47F2-AB5B-4E54DE9E2B14}"/>
              </a:ext>
            </a:extLst>
          </p:cNvPr>
          <p:cNvSpPr>
            <a:spLocks xmlns:a="http://schemas.openxmlformats.org/drawingml/2006/main" noGrp="1"/>
          </p:cNvSpPr>
          <p:nvPr/>
        </p:nvSpPr>
        <p:spPr>
          <a:xfrm xmlns:a="http://schemas.openxmlformats.org/drawingml/2006/main">
            <a:off x="417195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9</a:t>
            </a:r>
          </a:p>
        </p:txBody>
      </p:sp>
      <p:sp>
        <p:nvSpPr>
          <p:cNvPr id="13" name="s6-share-label">
            <a:extLst xmlns:a="http://schemas.openxmlformats.org/drawingml/2006/main">
              <a:ext uri="{FF2B5EF4-FFF2-40B4-BE49-F238E27FC236}">
                <a16:creationId xmlns:a16="http://schemas.microsoft.com/office/drawing/2014/main" id="{8AE78D56-1FD6-4A6E-862F-EC8D03691079}"/>
              </a:ext>
            </a:extLst>
          </p:cNvPr>
          <p:cNvSpPr>
            <a:spLocks xmlns:a="http://schemas.openxmlformats.org/drawingml/2006/main" noGrp="1"/>
          </p:cNvSpPr>
          <p:nvPr/>
        </p:nvSpPr>
        <p:spPr>
          <a:xfrm xmlns:a="http://schemas.openxmlformats.org/drawingml/2006/main">
            <a:off x="417195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comparative target runs</a:t>
            </a:r>
          </a:p>
        </p:txBody>
      </p:sp>
      <p:sp>
        <p:nvSpPr>
          <p:cNvPr id="14" name="s6-share-note">
            <a:extLst xmlns:a="http://schemas.openxmlformats.org/drawingml/2006/main">
              <a:ext uri="{FF2B5EF4-FFF2-40B4-BE49-F238E27FC236}">
                <a16:creationId xmlns:a16="http://schemas.microsoft.com/office/drawing/2014/main" id="{D705F613-E75F-4CF2-8AFD-DF7F1EF2183E}"/>
              </a:ext>
            </a:extLst>
          </p:cNvPr>
          <p:cNvSpPr>
            <a:spLocks xmlns:a="http://schemas.openxmlformats.org/drawingml/2006/main" noGrp="1"/>
          </p:cNvSpPr>
          <p:nvPr/>
        </p:nvSpPr>
        <p:spPr>
          <a:xfrm xmlns:a="http://schemas.openxmlformats.org/drawingml/2006/main">
            <a:off x="417195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OpenAI · Anthropic · Google × three clients</a:t>
            </a:r>
          </a:p>
        </p:txBody>
      </p:sp>
      <p:cxnSp>
        <p:nvCxnSpPr>
          <p:cNvPr id="92" name="s6-narrow-rule"/>
          <p:cNvCxnSpPr/>
          <p:nvPr/>
        </p:nvCxnSpPr>
        <p:spPr>
          <a:xfrm xmlns:a="http://schemas.openxmlformats.org/drawingml/2006/main">
            <a:off x="7734300" y="1733550"/>
            <a:ext cx="2762250" cy="0"/>
          </a:xfrm>
          <a:prstGeom xmlns:a="http://schemas.openxmlformats.org/drawingml/2006/main" prst="straightConnector1">
            <a:avLst/>
          </a:prstGeom>
          <a:ln xmlns:a="http://schemas.openxmlformats.org/drawingml/2006/main" w="38100">
            <a:solidFill>
              <a:srgbClr val="7658D6"/>
            </a:solidFill>
            <a:prstDash val="solid"/>
          </a:ln>
        </p:spPr>
      </p:cxnSp>
      <p:sp>
        <p:nvSpPr>
          <p:cNvPr id="16" name="s6-narrow-value">
            <a:extLst xmlns:a="http://schemas.openxmlformats.org/drawingml/2006/main">
              <a:ext uri="{FF2B5EF4-FFF2-40B4-BE49-F238E27FC236}">
                <a16:creationId xmlns:a16="http://schemas.microsoft.com/office/drawing/2014/main" id="{54B27390-8478-4190-B397-7E345044377F}"/>
              </a:ext>
            </a:extLst>
          </p:cNvPr>
          <p:cNvSpPr>
            <a:spLocks xmlns:a="http://schemas.openxmlformats.org/drawingml/2006/main" noGrp="1"/>
          </p:cNvSpPr>
          <p:nvPr/>
        </p:nvSpPr>
        <p:spPr>
          <a:xfrm xmlns:a="http://schemas.openxmlformats.org/drawingml/2006/main">
            <a:off x="77343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17" name="s6-narrow-label">
            <a:extLst xmlns:a="http://schemas.openxmlformats.org/drawingml/2006/main">
              <a:ext uri="{FF2B5EF4-FFF2-40B4-BE49-F238E27FC236}">
                <a16:creationId xmlns:a16="http://schemas.microsoft.com/office/drawing/2014/main" id="{CA6FF6C8-8BA3-4AF2-84F3-3CF7725E999B}"/>
              </a:ext>
            </a:extLst>
          </p:cNvPr>
          <p:cNvSpPr>
            <a:spLocks xmlns:a="http://schemas.openxmlformats.org/drawingml/2006/main" noGrp="1"/>
          </p:cNvSpPr>
          <p:nvPr/>
        </p:nvSpPr>
        <p:spPr>
          <a:xfrm xmlns:a="http://schemas.openxmlformats.org/drawingml/2006/main">
            <a:off x="77343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live runs executed</a:t>
            </a:r>
          </a:p>
        </p:txBody>
      </p:sp>
      <p:sp>
        <p:nvSpPr>
          <p:cNvPr id="18" name="s6-narrow-note">
            <a:extLst xmlns:a="http://schemas.openxmlformats.org/drawingml/2006/main">
              <a:ext uri="{FF2B5EF4-FFF2-40B4-BE49-F238E27FC236}">
                <a16:creationId xmlns:a16="http://schemas.microsoft.com/office/drawing/2014/main" id="{CF1FE09A-18E6-45F8-A148-97159F3C06CE}"/>
              </a:ext>
            </a:extLst>
          </p:cNvPr>
          <p:cNvSpPr>
            <a:spLocks xmlns:a="http://schemas.openxmlformats.org/drawingml/2006/main" noGrp="1"/>
          </p:cNvSpPr>
          <p:nvPr/>
        </p:nvSpPr>
        <p:spPr>
          <a:xfrm xmlns:a="http://schemas.openxmlformats.org/drawingml/2006/main">
            <a:off x="77343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Fresh rotated credentials and acknowledgement absent</a:t>
            </a:r>
          </a:p>
        </p:txBody>
      </p:sp>
      <p:sp>
        <p:nvSpPr>
          <p:cNvPr id="19" name="s6-design">
            <a:extLst xmlns:a="http://schemas.openxmlformats.org/drawingml/2006/main">
              <a:ext uri="{FF2B5EF4-FFF2-40B4-BE49-F238E27FC236}">
                <a16:creationId xmlns:a16="http://schemas.microsoft.com/office/drawing/2014/main" id="{05957727-0C06-4368-99B5-D111F33B9C04}"/>
              </a:ext>
            </a:extLst>
          </p:cNvPr>
          <p:cNvSpPr>
            <a:spLocks xmlns:a="http://schemas.openxmlformats.org/drawingml/2006/main" noGrp="1"/>
          </p:cNvSpPr>
          <p:nvPr/>
        </p:nvSpPr>
        <p:spPr>
          <a:xfrm xmlns:a="http://schemas.openxmlformats.org/drawingml/2006/main">
            <a:off x="609600" y="3714750"/>
            <a:ext cx="6572250" cy="2105025"/>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0" name="s6-design-label">
            <a:extLst xmlns:a="http://schemas.openxmlformats.org/drawingml/2006/main">
              <a:ext uri="{FF2B5EF4-FFF2-40B4-BE49-F238E27FC236}">
                <a16:creationId xmlns:a16="http://schemas.microsoft.com/office/drawing/2014/main" id="{CA532B02-9A0D-4D07-842C-6B95D8A78283}"/>
              </a:ext>
            </a:extLst>
          </p:cNvPr>
          <p:cNvSpPr>
            <a:spLocks xmlns:a="http://schemas.openxmlformats.org/drawingml/2006/main" noGrp="1"/>
          </p:cNvSpPr>
          <p:nvPr/>
        </p:nvSpPr>
        <p:spPr>
          <a:xfrm xmlns:a="http://schemas.openxmlformats.org/drawingml/2006/main">
            <a:off x="85725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CONTROLLED WORKFLOW</a:t>
            </a:r>
          </a:p>
        </p:txBody>
      </p:sp>
      <p:sp>
        <p:nvSpPr>
          <p:cNvPr id="21" name="s6-dot-0">
            <a:extLst xmlns:a="http://schemas.openxmlformats.org/drawingml/2006/main">
              <a:ext uri="{FF2B5EF4-FFF2-40B4-BE49-F238E27FC236}">
                <a16:creationId xmlns:a16="http://schemas.microsoft.com/office/drawing/2014/main" id="{537F89AB-AE82-4A47-9F9F-0FD915B21346}"/>
              </a:ext>
            </a:extLst>
          </p:cNvPr>
          <p:cNvSpPr>
            <a:spLocks xmlns:a="http://schemas.openxmlformats.org/drawingml/2006/main" noGrp="1"/>
          </p:cNvSpPr>
          <p:nvPr/>
        </p:nvSpPr>
        <p:spPr>
          <a:xfrm xmlns:a="http://schemas.openxmlformats.org/drawingml/2006/main">
            <a:off x="876300" y="43719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2" name="s6-line-0">
            <a:extLst xmlns:a="http://schemas.openxmlformats.org/drawingml/2006/main">
              <a:ext uri="{FF2B5EF4-FFF2-40B4-BE49-F238E27FC236}">
                <a16:creationId xmlns:a16="http://schemas.microsoft.com/office/drawing/2014/main" id="{2581C3A7-0531-43CF-974C-F3F21A25448D}"/>
              </a:ext>
            </a:extLst>
          </p:cNvPr>
          <p:cNvSpPr>
            <a:spLocks xmlns:a="http://schemas.openxmlformats.org/drawingml/2006/main" noGrp="1"/>
          </p:cNvSpPr>
          <p:nvPr/>
        </p:nvSpPr>
        <p:spPr>
          <a:xfrm xmlns:a="http://schemas.openxmlformats.org/drawingml/2006/main">
            <a:off x="1143000" y="43053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Resolve exact provider model; no silent substitution</a:t>
            </a:r>
          </a:p>
        </p:txBody>
      </p:sp>
      <p:sp>
        <p:nvSpPr>
          <p:cNvPr id="23" name="s6-dot-1">
            <a:extLst xmlns:a="http://schemas.openxmlformats.org/drawingml/2006/main">
              <a:ext uri="{FF2B5EF4-FFF2-40B4-BE49-F238E27FC236}">
                <a16:creationId xmlns:a16="http://schemas.microsoft.com/office/drawing/2014/main" id="{5221E02D-0ED5-4687-9C3B-B55C79DBBBCB}"/>
              </a:ext>
            </a:extLst>
          </p:cNvPr>
          <p:cNvSpPr>
            <a:spLocks xmlns:a="http://schemas.openxmlformats.org/drawingml/2006/main" noGrp="1"/>
          </p:cNvSpPr>
          <p:nvPr/>
        </p:nvSpPr>
        <p:spPr>
          <a:xfrm xmlns:a="http://schemas.openxmlformats.org/drawingml/2006/main">
            <a:off x="876300" y="46958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4" name="s6-line-1">
            <a:extLst xmlns:a="http://schemas.openxmlformats.org/drawingml/2006/main">
              <a:ext uri="{FF2B5EF4-FFF2-40B4-BE49-F238E27FC236}">
                <a16:creationId xmlns:a16="http://schemas.microsoft.com/office/drawing/2014/main" id="{67DA7D36-1D01-4F90-A892-185D0DA36C77}"/>
              </a:ext>
            </a:extLst>
          </p:cNvPr>
          <p:cNvSpPr>
            <a:spLocks xmlns:a="http://schemas.openxmlformats.org/drawingml/2006/main" noGrp="1"/>
          </p:cNvSpPr>
          <p:nvPr/>
        </p:nvSpPr>
        <p:spPr>
          <a:xfrm xmlns:a="http://schemas.openxmlformats.org/drawingml/2006/main">
            <a:off x="1143000" y="46291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Send approved public evidence + minimal synthetic aggregates only</a:t>
            </a:r>
          </a:p>
        </p:txBody>
      </p:sp>
      <p:sp>
        <p:nvSpPr>
          <p:cNvPr id="25" name="s6-dot-2">
            <a:extLst xmlns:a="http://schemas.openxmlformats.org/drawingml/2006/main">
              <a:ext uri="{FF2B5EF4-FFF2-40B4-BE49-F238E27FC236}">
                <a16:creationId xmlns:a16="http://schemas.microsoft.com/office/drawing/2014/main" id="{FC042356-81D3-4737-B434-7C233A633E82}"/>
              </a:ext>
            </a:extLst>
          </p:cNvPr>
          <p:cNvSpPr>
            <a:spLocks xmlns:a="http://schemas.openxmlformats.org/drawingml/2006/main" noGrp="1"/>
          </p:cNvSpPr>
          <p:nvPr/>
        </p:nvSpPr>
        <p:spPr>
          <a:xfrm xmlns:a="http://schemas.openxmlformats.org/drawingml/2006/main">
            <a:off x="876300" y="50196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6" name="s6-line-2">
            <a:extLst xmlns:a="http://schemas.openxmlformats.org/drawingml/2006/main">
              <a:ext uri="{FF2B5EF4-FFF2-40B4-BE49-F238E27FC236}">
                <a16:creationId xmlns:a16="http://schemas.microsoft.com/office/drawing/2014/main" id="{980DA0C8-15A2-4C08-81BD-D3C1761C3BC4}"/>
              </a:ext>
            </a:extLst>
          </p:cNvPr>
          <p:cNvSpPr>
            <a:spLocks xmlns:a="http://schemas.openxmlformats.org/drawingml/2006/main" noGrp="1"/>
          </p:cNvSpPr>
          <p:nvPr/>
        </p:nvSpPr>
        <p:spPr>
          <a:xfrm xmlns:a="http://schemas.openxmlformats.org/drawingml/2006/main">
            <a:off x="1143000" y="49530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Validate schema, every number, sign, currency and citation</a:t>
            </a:r>
          </a:p>
        </p:txBody>
      </p:sp>
      <p:sp>
        <p:nvSpPr>
          <p:cNvPr id="27" name="s6-dot-3">
            <a:extLst xmlns:a="http://schemas.openxmlformats.org/drawingml/2006/main">
              <a:ext uri="{FF2B5EF4-FFF2-40B4-BE49-F238E27FC236}">
                <a16:creationId xmlns:a16="http://schemas.microsoft.com/office/drawing/2014/main" id="{CA00842C-D9A8-40D5-86DF-87BCE6B01143}"/>
              </a:ext>
            </a:extLst>
          </p:cNvPr>
          <p:cNvSpPr>
            <a:spLocks xmlns:a="http://schemas.openxmlformats.org/drawingml/2006/main" noGrp="1"/>
          </p:cNvSpPr>
          <p:nvPr/>
        </p:nvSpPr>
        <p:spPr>
          <a:xfrm xmlns:a="http://schemas.openxmlformats.org/drawingml/2006/main">
            <a:off x="876300" y="53435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8" name="s6-line-3">
            <a:extLst xmlns:a="http://schemas.openxmlformats.org/drawingml/2006/main">
              <a:ext uri="{FF2B5EF4-FFF2-40B4-BE49-F238E27FC236}">
                <a16:creationId xmlns:a16="http://schemas.microsoft.com/office/drawing/2014/main" id="{D49635A1-4E27-4414-AA52-B8741A125B4D}"/>
              </a:ext>
            </a:extLst>
          </p:cNvPr>
          <p:cNvSpPr>
            <a:spLocks xmlns:a="http://schemas.openxmlformats.org/drawingml/2006/main" noGrp="1"/>
          </p:cNvSpPr>
          <p:nvPr/>
        </p:nvSpPr>
        <p:spPr>
          <a:xfrm xmlns:a="http://schemas.openxmlformats.org/drawingml/2006/main">
            <a:off x="1143000" y="52768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Provider failure returns the deterministic brief</a:t>
            </a:r>
          </a:p>
        </p:txBody>
      </p:sp>
      <p:sp>
        <p:nvSpPr>
          <p:cNvPr id="29" name="s6-boundary">
            <a:extLst xmlns:a="http://schemas.openxmlformats.org/drawingml/2006/main">
              <a:ext uri="{FF2B5EF4-FFF2-40B4-BE49-F238E27FC236}">
                <a16:creationId xmlns:a16="http://schemas.microsoft.com/office/drawing/2014/main" id="{3AD1566D-AF29-4339-A7D7-83E118845CF7}"/>
              </a:ext>
            </a:extLst>
          </p:cNvPr>
          <p:cNvSpPr>
            <a:spLocks xmlns:a="http://schemas.openxmlformats.org/drawingml/2006/main" noGrp="1"/>
          </p:cNvSpPr>
          <p:nvPr/>
        </p:nvSpPr>
        <p:spPr>
          <a:xfrm xmlns:a="http://schemas.openxmlformats.org/drawingml/2006/main">
            <a:off x="7524750" y="3714750"/>
            <a:ext cx="3771900" cy="2105025"/>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30" name="s6-boundary-label">
            <a:extLst xmlns:a="http://schemas.openxmlformats.org/drawingml/2006/main">
              <a:ext uri="{FF2B5EF4-FFF2-40B4-BE49-F238E27FC236}">
                <a16:creationId xmlns:a16="http://schemas.microsoft.com/office/drawing/2014/main" id="{63C41553-A63B-47E9-92FE-3FFB3C02F0E1}"/>
              </a:ext>
            </a:extLst>
          </p:cNvPr>
          <p:cNvSpPr>
            <a:spLocks xmlns:a="http://schemas.openxmlformats.org/drawingml/2006/main" noGrp="1"/>
          </p:cNvSpPr>
          <p:nvPr/>
        </p:nvSpPr>
        <p:spPr>
          <a:xfrm xmlns:a="http://schemas.openxmlformats.org/drawingml/2006/main">
            <a:off x="777240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CLAIM BOUNDARY</a:t>
            </a:r>
          </a:p>
        </p:txBody>
      </p:sp>
      <p:sp>
        <p:nvSpPr>
          <p:cNvPr id="31" name="s6-boundary-title">
            <a:extLst xmlns:a="http://schemas.openxmlformats.org/drawingml/2006/main">
              <a:ext uri="{FF2B5EF4-FFF2-40B4-BE49-F238E27FC236}">
                <a16:creationId xmlns:a16="http://schemas.microsoft.com/office/drawing/2014/main" id="{673C5F22-BFDE-40D5-91A6-FB9E4116193E}"/>
              </a:ext>
            </a:extLst>
          </p:cNvPr>
          <p:cNvSpPr>
            <a:spLocks xmlns:a="http://schemas.openxmlformats.org/drawingml/2006/main" noGrp="1"/>
          </p:cNvSpPr>
          <p:nvPr/>
        </p:nvSpPr>
        <p:spPr>
          <a:xfrm xmlns:a="http://schemas.openxmlformats.org/drawingml/2006/main">
            <a:off x="7772400" y="4333875"/>
            <a:ext cx="3143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12"/>
          </a:bodyPr>
          <a:lstStyle xmlns:a="http://schemas.openxmlformats.org/drawingml/2006/main"/>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Strong mechanics,</a:t>
            </a:r>
          </a:p>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not empirical E3 accuracy</a:t>
            </a:r>
          </a:p>
        </p:txBody>
      </p:sp>
      <p:sp>
        <p:nvSpPr>
          <p:cNvPr id="32" name="s6-boundary-copy">
            <a:extLst xmlns:a="http://schemas.openxmlformats.org/drawingml/2006/main">
              <a:ext uri="{FF2B5EF4-FFF2-40B4-BE49-F238E27FC236}">
                <a16:creationId xmlns:a16="http://schemas.microsoft.com/office/drawing/2014/main" id="{19B5B1A7-8705-4956-9F44-0A179FAA3ED7}"/>
              </a:ext>
            </a:extLst>
          </p:cNvPr>
          <p:cNvSpPr>
            <a:spLocks xmlns:a="http://schemas.openxmlformats.org/drawingml/2006/main" noGrp="1"/>
          </p:cNvSpPr>
          <p:nvPr/>
        </p:nvSpPr>
        <p:spPr>
          <a:xfrm xmlns:a="http://schemas.openxmlformats.org/drawingml/2006/main">
            <a:off x="7772400" y="5219700"/>
            <a:ext cx="314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275" b="0">
                <a:solidFill>
                  <a:srgbClr val="627086"/>
                </a:solidFill>
                <a:latin typeface="Arial"/>
                <a:ea typeface="Arial"/>
                <a:cs typeface="Arial"/>
              </a:defRPr>
            </a:pPr>
            <a:r>
              <a:rPr sz="1275" b="0">
                <a:solidFill>
                  <a:srgbClr val="627086"/>
                </a:solidFill>
                <a:latin typeface="Arial"/>
                <a:ea typeface="Arial"/>
                <a:cs typeface="Arial"/>
              </a:rPr>
              <a:t>The report records all nine runs as NOT_EXECUTED. It will not present provider access failure as successful evaluation.</a:t>
            </a:r>
          </a:p>
        </p:txBody>
      </p:sp>
    </p:spTree>
    <p:extLst>
      <p:ext uri="{BB962C8B-B14F-4D97-AF65-F5344CB8AC3E}">
        <p14:creationId xmlns:p14="http://schemas.microsoft.com/office/powerpoint/2010/main" val="63984162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47" name="eyebrow-8">
            <a:extLst xmlns:a="http://schemas.openxmlformats.org/drawingml/2006/main">
              <a:ext uri="{FF2B5EF4-FFF2-40B4-BE49-F238E27FC236}">
                <a16:creationId xmlns:a16="http://schemas.microsoft.com/office/drawing/2014/main" id="{E3BE7863-3C4B-40B2-924E-533958ED5CFB}"/>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VALIDATION HIERARCHY</a:t>
            </a:r>
          </a:p>
        </p:txBody>
      </p:sp>
      <p:sp>
        <p:nvSpPr>
          <p:cNvPr id="2" name="title-8">
            <a:extLst xmlns:a="http://schemas.openxmlformats.org/drawingml/2006/main">
              <a:ext uri="{FF2B5EF4-FFF2-40B4-BE49-F238E27FC236}">
                <a16:creationId xmlns:a16="http://schemas.microsoft.com/office/drawing/2014/main" id="{1E78FC11-1660-4D85-A710-4FE57F3E30E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Each claim earns the strongest label its evidence permits</a:t>
            </a:r>
          </a:p>
        </p:txBody>
      </p:sp>
      <p:cxnSp>
        <p:nvCxnSpPr>
          <p:cNvPr id="178" name="title-rule-8"/>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8">
            <a:extLst xmlns:a="http://schemas.openxmlformats.org/drawingml/2006/main">
              <a:ext uri="{FF2B5EF4-FFF2-40B4-BE49-F238E27FC236}">
                <a16:creationId xmlns:a16="http://schemas.microsoft.com/office/drawing/2014/main" id="{BBEA1D29-F9FB-423D-A9B0-AD48D74E630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8">
            <a:extLst xmlns:a="http://schemas.openxmlformats.org/drawingml/2006/main">
              <a:ext uri="{FF2B5EF4-FFF2-40B4-BE49-F238E27FC236}">
                <a16:creationId xmlns:a16="http://schemas.microsoft.com/office/drawing/2014/main" id="{0538EE51-4AB2-4E49-9787-5A672474BEE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8">
            <a:extLst xmlns:a="http://schemas.openxmlformats.org/drawingml/2006/main">
              <a:ext uri="{FF2B5EF4-FFF2-40B4-BE49-F238E27FC236}">
                <a16:creationId xmlns:a16="http://schemas.microsoft.com/office/drawing/2014/main" id="{00BAC427-4164-4DAB-808C-918E249A0DD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09</a:t>
            </a:r>
          </a:p>
        </p:txBody>
      </p:sp>
      <p:cxnSp>
        <p:nvCxnSpPr>
          <p:cNvPr id="182" name="s8-link-0"/>
          <p:cNvCxnSpPr/>
          <p:nvPr/>
        </p:nvCxnSpPr>
        <p:spPr>
          <a:xfrm xmlns:a="http://schemas.openxmlformats.org/drawingml/2006/main">
            <a:off x="173355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3" name="s8-link-1"/>
          <p:cNvCxnSpPr/>
          <p:nvPr/>
        </p:nvCxnSpPr>
        <p:spPr>
          <a:xfrm xmlns:a="http://schemas.openxmlformats.org/drawingml/2006/main">
            <a:off x="3876675"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4" name="s8-link-2"/>
          <p:cNvCxnSpPr/>
          <p:nvPr/>
        </p:nvCxnSpPr>
        <p:spPr>
          <a:xfrm xmlns:a="http://schemas.openxmlformats.org/drawingml/2006/main">
            <a:off x="601980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5" name="s8-link-3"/>
          <p:cNvCxnSpPr/>
          <p:nvPr/>
        </p:nvCxnSpPr>
        <p:spPr>
          <a:xfrm xmlns:a="http://schemas.openxmlformats.org/drawingml/2006/main">
            <a:off x="8162925" y="2905125"/>
            <a:ext cx="885825" cy="0"/>
          </a:xfrm>
          <a:prstGeom xmlns:a="http://schemas.openxmlformats.org/drawingml/2006/main" prst="straightConnector1">
            <a:avLst/>
          </a:prstGeom>
          <a:ln xmlns:a="http://schemas.openxmlformats.org/drawingml/2006/main" w="28575">
            <a:solidFill>
              <a:srgbClr val="D7DEE8"/>
            </a:solidFill>
            <a:prstDash val="solid"/>
          </a:ln>
        </p:spPr>
      </p:cxnSp>
      <p:sp>
        <p:nvSpPr>
          <p:cNvPr id="11" name="s8-stage-0">
            <a:extLst xmlns:a="http://schemas.openxmlformats.org/drawingml/2006/main">
              <a:ext uri="{FF2B5EF4-FFF2-40B4-BE49-F238E27FC236}">
                <a16:creationId xmlns:a16="http://schemas.microsoft.com/office/drawing/2014/main" id="{B416DE64-DD74-44D4-9BC7-CBFD683FF0F6}"/>
              </a:ext>
            </a:extLst>
          </p:cNvPr>
          <p:cNvSpPr>
            <a:spLocks xmlns:a="http://schemas.openxmlformats.org/drawingml/2006/main" noGrp="1"/>
          </p:cNvSpPr>
          <p:nvPr/>
        </p:nvSpPr>
        <p:spPr>
          <a:xfrm xmlns:a="http://schemas.openxmlformats.org/drawingml/2006/main">
            <a:off x="6096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12" name="s8-num-0">
            <a:extLst xmlns:a="http://schemas.openxmlformats.org/drawingml/2006/main">
              <a:ext uri="{FF2B5EF4-FFF2-40B4-BE49-F238E27FC236}">
                <a16:creationId xmlns:a16="http://schemas.microsoft.com/office/drawing/2014/main" id="{6C194FCB-9502-4B35-B4DF-7A85F277E192}"/>
              </a:ext>
            </a:extLst>
          </p:cNvPr>
          <p:cNvSpPr>
            <a:spLocks xmlns:a="http://schemas.openxmlformats.org/drawingml/2006/main" noGrp="1"/>
          </p:cNvSpPr>
          <p:nvPr/>
        </p:nvSpPr>
        <p:spPr>
          <a:xfrm xmlns:a="http://schemas.openxmlformats.org/drawingml/2006/main">
            <a:off x="7620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B63E5"/>
                </a:solidFill>
                <a:latin typeface="Arial"/>
                <a:ea typeface="Arial"/>
                <a:cs typeface="Arial"/>
              </a:defRPr>
            </a:pPr>
            <a:r>
              <a:rPr sz="1650" b="1">
                <a:solidFill>
                  <a:srgbClr val="0B63E5"/>
                </a:solidFill>
                <a:latin typeface="Arial"/>
                <a:ea typeface="Arial"/>
                <a:cs typeface="Arial"/>
              </a:rPr>
              <a:t>1</a:t>
            </a:r>
          </a:p>
        </p:txBody>
      </p:sp>
      <p:sp>
        <p:nvSpPr>
          <p:cNvPr id="13" name="s8-title-0">
            <a:extLst xmlns:a="http://schemas.openxmlformats.org/drawingml/2006/main">
              <a:ext uri="{FF2B5EF4-FFF2-40B4-BE49-F238E27FC236}">
                <a16:creationId xmlns:a16="http://schemas.microsoft.com/office/drawing/2014/main" id="{3B3A07E6-26DE-4767-A3E8-325CEF1665AD}"/>
              </a:ext>
            </a:extLst>
          </p:cNvPr>
          <p:cNvSpPr>
            <a:spLocks xmlns:a="http://schemas.openxmlformats.org/drawingml/2006/main" noGrp="1"/>
          </p:cNvSpPr>
          <p:nvPr/>
        </p:nvSpPr>
        <p:spPr>
          <a:xfrm xmlns:a="http://schemas.openxmlformats.org/drawingml/2006/main">
            <a:off x="7620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Mechanical</a:t>
            </a:r>
          </a:p>
        </p:txBody>
      </p:sp>
      <p:sp>
        <p:nvSpPr>
          <p:cNvPr id="14" name="s8-copy-0">
            <a:extLst xmlns:a="http://schemas.openxmlformats.org/drawingml/2006/main">
              <a:ext uri="{FF2B5EF4-FFF2-40B4-BE49-F238E27FC236}">
                <a16:creationId xmlns:a16="http://schemas.microsoft.com/office/drawing/2014/main" id="{E3D7BFA8-ACA3-432A-8E07-9A443C062F12}"/>
              </a:ext>
            </a:extLst>
          </p:cNvPr>
          <p:cNvSpPr>
            <a:spLocks xmlns:a="http://schemas.openxmlformats.org/drawingml/2006/main" noGrp="1"/>
          </p:cNvSpPr>
          <p:nvPr/>
        </p:nvSpPr>
        <p:spPr>
          <a:xfrm xmlns:a="http://schemas.openxmlformats.org/drawingml/2006/main">
            <a:off x="7620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66"/>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Contracts, identities, arithmetic, PIT lineage</a:t>
            </a:r>
          </a:p>
        </p:txBody>
      </p:sp>
      <p:sp>
        <p:nvSpPr>
          <p:cNvPr id="15" name="s8-stage-1">
            <a:extLst xmlns:a="http://schemas.openxmlformats.org/drawingml/2006/main">
              <a:ext uri="{FF2B5EF4-FFF2-40B4-BE49-F238E27FC236}">
                <a16:creationId xmlns:a16="http://schemas.microsoft.com/office/drawing/2014/main" id="{1394FB5E-59E8-4720-88A5-50B852C57A43}"/>
              </a:ext>
            </a:extLst>
          </p:cNvPr>
          <p:cNvSpPr>
            <a:spLocks xmlns:a="http://schemas.openxmlformats.org/drawingml/2006/main" noGrp="1"/>
          </p:cNvSpPr>
          <p:nvPr/>
        </p:nvSpPr>
        <p:spPr>
          <a:xfrm xmlns:a="http://schemas.openxmlformats.org/drawingml/2006/main">
            <a:off x="275272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16" name="s8-num-1">
            <a:extLst xmlns:a="http://schemas.openxmlformats.org/drawingml/2006/main">
              <a:ext uri="{FF2B5EF4-FFF2-40B4-BE49-F238E27FC236}">
                <a16:creationId xmlns:a16="http://schemas.microsoft.com/office/drawing/2014/main" id="{D4330A39-507A-40B9-AF7F-88F08F9CFAD7}"/>
              </a:ext>
            </a:extLst>
          </p:cNvPr>
          <p:cNvSpPr>
            <a:spLocks xmlns:a="http://schemas.openxmlformats.org/drawingml/2006/main" noGrp="1"/>
          </p:cNvSpPr>
          <p:nvPr/>
        </p:nvSpPr>
        <p:spPr>
          <a:xfrm xmlns:a="http://schemas.openxmlformats.org/drawingml/2006/main">
            <a:off x="290512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08B83"/>
                </a:solidFill>
                <a:latin typeface="Arial"/>
                <a:ea typeface="Arial"/>
                <a:cs typeface="Arial"/>
              </a:defRPr>
            </a:pPr>
            <a:r>
              <a:rPr sz="1650" b="1">
                <a:solidFill>
                  <a:srgbClr val="008B83"/>
                </a:solidFill>
                <a:latin typeface="Arial"/>
                <a:ea typeface="Arial"/>
                <a:cs typeface="Arial"/>
              </a:rPr>
              <a:t>2</a:t>
            </a:r>
          </a:p>
        </p:txBody>
      </p:sp>
      <p:sp>
        <p:nvSpPr>
          <p:cNvPr id="17" name="s8-title-1">
            <a:extLst xmlns:a="http://schemas.openxmlformats.org/drawingml/2006/main">
              <a:ext uri="{FF2B5EF4-FFF2-40B4-BE49-F238E27FC236}">
                <a16:creationId xmlns:a16="http://schemas.microsoft.com/office/drawing/2014/main" id="{F0D21B9A-AE3B-44BA-A071-B6E957F53E09}"/>
              </a:ext>
            </a:extLst>
          </p:cNvPr>
          <p:cNvSpPr>
            <a:spLocks xmlns:a="http://schemas.openxmlformats.org/drawingml/2006/main" noGrp="1"/>
          </p:cNvSpPr>
          <p:nvPr/>
        </p:nvSpPr>
        <p:spPr>
          <a:xfrm xmlns:a="http://schemas.openxmlformats.org/drawingml/2006/main">
            <a:off x="290512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Known truth</a:t>
            </a:r>
          </a:p>
        </p:txBody>
      </p:sp>
      <p:sp>
        <p:nvSpPr>
          <p:cNvPr id="18" name="s8-copy-1">
            <a:extLst xmlns:a="http://schemas.openxmlformats.org/drawingml/2006/main">
              <a:ext uri="{FF2B5EF4-FFF2-40B4-BE49-F238E27FC236}">
                <a16:creationId xmlns:a16="http://schemas.microsoft.com/office/drawing/2014/main" id="{32A2414F-1E71-4E74-A760-1EAACAC49DF6}"/>
              </a:ext>
            </a:extLst>
          </p:cNvPr>
          <p:cNvSpPr>
            <a:spLocks xmlns:a="http://schemas.openxmlformats.org/drawingml/2006/main" noGrp="1"/>
          </p:cNvSpPr>
          <p:nvPr/>
        </p:nvSpPr>
        <p:spPr>
          <a:xfrm xmlns:a="http://schemas.openxmlformats.org/drawingml/2006/main">
            <a:off x="290512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78"/>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Synthetic panel coverage, width and CRPS</a:t>
            </a:r>
          </a:p>
        </p:txBody>
      </p:sp>
      <p:sp>
        <p:nvSpPr>
          <p:cNvPr id="19" name="s8-stage-2">
            <a:extLst xmlns:a="http://schemas.openxmlformats.org/drawingml/2006/main">
              <a:ext uri="{FF2B5EF4-FFF2-40B4-BE49-F238E27FC236}">
                <a16:creationId xmlns:a16="http://schemas.microsoft.com/office/drawing/2014/main" id="{597A8FA3-2C00-4037-B671-294999977BF0}"/>
              </a:ext>
            </a:extLst>
          </p:cNvPr>
          <p:cNvSpPr>
            <a:spLocks xmlns:a="http://schemas.openxmlformats.org/drawingml/2006/main" noGrp="1"/>
          </p:cNvSpPr>
          <p:nvPr/>
        </p:nvSpPr>
        <p:spPr>
          <a:xfrm xmlns:a="http://schemas.openxmlformats.org/drawingml/2006/main">
            <a:off x="489585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0" name="s8-num-2">
            <a:extLst xmlns:a="http://schemas.openxmlformats.org/drawingml/2006/main">
              <a:ext uri="{FF2B5EF4-FFF2-40B4-BE49-F238E27FC236}">
                <a16:creationId xmlns:a16="http://schemas.microsoft.com/office/drawing/2014/main" id="{00BD6BB1-DA50-458A-923A-3F380FE3378F}"/>
              </a:ext>
            </a:extLst>
          </p:cNvPr>
          <p:cNvSpPr>
            <a:spLocks xmlns:a="http://schemas.openxmlformats.org/drawingml/2006/main" noGrp="1"/>
          </p:cNvSpPr>
          <p:nvPr/>
        </p:nvSpPr>
        <p:spPr>
          <a:xfrm xmlns:a="http://schemas.openxmlformats.org/drawingml/2006/main">
            <a:off x="504825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E2951C"/>
                </a:solidFill>
                <a:latin typeface="Arial"/>
                <a:ea typeface="Arial"/>
                <a:cs typeface="Arial"/>
              </a:defRPr>
            </a:pPr>
            <a:r>
              <a:rPr sz="1650" b="1">
                <a:solidFill>
                  <a:srgbClr val="E2951C"/>
                </a:solidFill>
                <a:latin typeface="Arial"/>
                <a:ea typeface="Arial"/>
                <a:cs typeface="Arial"/>
              </a:rPr>
              <a:t>3</a:t>
            </a:r>
          </a:p>
        </p:txBody>
      </p:sp>
      <p:sp>
        <p:nvSpPr>
          <p:cNvPr id="21" name="s8-title-2">
            <a:extLst xmlns:a="http://schemas.openxmlformats.org/drawingml/2006/main">
              <a:ext uri="{FF2B5EF4-FFF2-40B4-BE49-F238E27FC236}">
                <a16:creationId xmlns:a16="http://schemas.microsoft.com/office/drawing/2014/main" id="{6E622450-1947-4807-A1DC-3BC641DFD9B3}"/>
              </a:ext>
            </a:extLst>
          </p:cNvPr>
          <p:cNvSpPr>
            <a:spLocks xmlns:a="http://schemas.openxmlformats.org/drawingml/2006/main" noGrp="1"/>
          </p:cNvSpPr>
          <p:nvPr/>
        </p:nvSpPr>
        <p:spPr>
          <a:xfrm xmlns:a="http://schemas.openxmlformats.org/drawingml/2006/main">
            <a:off x="504825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Predictive</a:t>
            </a:r>
          </a:p>
        </p:txBody>
      </p:sp>
      <p:sp>
        <p:nvSpPr>
          <p:cNvPr id="22" name="s8-copy-2">
            <a:extLst xmlns:a="http://schemas.openxmlformats.org/drawingml/2006/main">
              <a:ext uri="{FF2B5EF4-FFF2-40B4-BE49-F238E27FC236}">
                <a16:creationId xmlns:a16="http://schemas.microsoft.com/office/drawing/2014/main" id="{0BE8D46E-DA8F-4D7B-832F-853B4C75286A}"/>
              </a:ext>
            </a:extLst>
          </p:cNvPr>
          <p:cNvSpPr>
            <a:spLocks xmlns:a="http://schemas.openxmlformats.org/drawingml/2006/main" noGrp="1"/>
          </p:cNvSpPr>
          <p:nvPr/>
        </p:nvSpPr>
        <p:spPr>
          <a:xfrm xmlns:a="http://schemas.openxmlformats.org/drawingml/2006/main">
            <a:off x="504825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503"/>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Posterior intervals and ranking stability</a:t>
            </a:r>
          </a:p>
        </p:txBody>
      </p:sp>
      <p:sp>
        <p:nvSpPr>
          <p:cNvPr id="23" name="s8-stage-3">
            <a:extLst xmlns:a="http://schemas.openxmlformats.org/drawingml/2006/main">
              <a:ext uri="{FF2B5EF4-FFF2-40B4-BE49-F238E27FC236}">
                <a16:creationId xmlns:a16="http://schemas.microsoft.com/office/drawing/2014/main" id="{B5B82F11-5883-4E3E-BA84-174C42DCA51A}"/>
              </a:ext>
            </a:extLst>
          </p:cNvPr>
          <p:cNvSpPr>
            <a:spLocks xmlns:a="http://schemas.openxmlformats.org/drawingml/2006/main" noGrp="1"/>
          </p:cNvSpPr>
          <p:nvPr/>
        </p:nvSpPr>
        <p:spPr>
          <a:xfrm xmlns:a="http://schemas.openxmlformats.org/drawingml/2006/main">
            <a:off x="703897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24" name="s8-num-3">
            <a:extLst xmlns:a="http://schemas.openxmlformats.org/drawingml/2006/main">
              <a:ext uri="{FF2B5EF4-FFF2-40B4-BE49-F238E27FC236}">
                <a16:creationId xmlns:a16="http://schemas.microsoft.com/office/drawing/2014/main" id="{5187568C-3785-4E47-BB50-F192DE5C7F6A}"/>
              </a:ext>
            </a:extLst>
          </p:cNvPr>
          <p:cNvSpPr>
            <a:spLocks xmlns:a="http://schemas.openxmlformats.org/drawingml/2006/main" noGrp="1"/>
          </p:cNvSpPr>
          <p:nvPr/>
        </p:nvSpPr>
        <p:spPr>
          <a:xfrm xmlns:a="http://schemas.openxmlformats.org/drawingml/2006/main">
            <a:off x="719137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7658D6"/>
                </a:solidFill>
                <a:latin typeface="Arial"/>
                <a:ea typeface="Arial"/>
                <a:cs typeface="Arial"/>
              </a:defRPr>
            </a:pPr>
            <a:r>
              <a:rPr sz="1650" b="1">
                <a:solidFill>
                  <a:srgbClr val="7658D6"/>
                </a:solidFill>
                <a:latin typeface="Arial"/>
                <a:ea typeface="Arial"/>
                <a:cs typeface="Arial"/>
              </a:rPr>
              <a:t>4</a:t>
            </a:r>
          </a:p>
        </p:txBody>
      </p:sp>
      <p:sp>
        <p:nvSpPr>
          <p:cNvPr id="25" name="s8-title-3">
            <a:extLst xmlns:a="http://schemas.openxmlformats.org/drawingml/2006/main">
              <a:ext uri="{FF2B5EF4-FFF2-40B4-BE49-F238E27FC236}">
                <a16:creationId xmlns:a16="http://schemas.microsoft.com/office/drawing/2014/main" id="{1AAB9F8C-74AA-4DA9-A510-7E96B786D5BD}"/>
              </a:ext>
            </a:extLst>
          </p:cNvPr>
          <p:cNvSpPr>
            <a:spLocks xmlns:a="http://schemas.openxmlformats.org/drawingml/2006/main" noGrp="1"/>
          </p:cNvSpPr>
          <p:nvPr/>
        </p:nvSpPr>
        <p:spPr>
          <a:xfrm xmlns:a="http://schemas.openxmlformats.org/drawingml/2006/main">
            <a:off x="719137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External</a:t>
            </a:r>
          </a:p>
        </p:txBody>
      </p:sp>
      <p:sp>
        <p:nvSpPr>
          <p:cNvPr id="26" name="s8-copy-3">
            <a:extLst xmlns:a="http://schemas.openxmlformats.org/drawingml/2006/main">
              <a:ext uri="{FF2B5EF4-FFF2-40B4-BE49-F238E27FC236}">
                <a16:creationId xmlns:a16="http://schemas.microsoft.com/office/drawing/2014/main" id="{87B7DC59-F499-4386-ABD9-3F3E6D37B8A8}"/>
              </a:ext>
            </a:extLst>
          </p:cNvPr>
          <p:cNvSpPr>
            <a:spLocks xmlns:a="http://schemas.openxmlformats.org/drawingml/2006/main" noGrp="1"/>
          </p:cNvSpPr>
          <p:nvPr/>
        </p:nvSpPr>
        <p:spPr>
          <a:xfrm xmlns:a="http://schemas.openxmlformats.org/drawingml/2006/main">
            <a:off x="719137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609"/>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E3 calibration, approved rates and live eval</a:t>
            </a:r>
          </a:p>
        </p:txBody>
      </p:sp>
      <p:sp>
        <p:nvSpPr>
          <p:cNvPr id="27" name="s8-stage-4">
            <a:extLst xmlns:a="http://schemas.openxmlformats.org/drawingml/2006/main">
              <a:ext uri="{FF2B5EF4-FFF2-40B4-BE49-F238E27FC236}">
                <a16:creationId xmlns:a16="http://schemas.microsoft.com/office/drawing/2014/main" id="{9E8D03A3-FE39-45A6-96E7-90958973D4FB}"/>
              </a:ext>
            </a:extLst>
          </p:cNvPr>
          <p:cNvSpPr>
            <a:spLocks xmlns:a="http://schemas.openxmlformats.org/drawingml/2006/main" noGrp="1"/>
          </p:cNvSpPr>
          <p:nvPr/>
        </p:nvSpPr>
        <p:spPr>
          <a:xfrm xmlns:a="http://schemas.openxmlformats.org/drawingml/2006/main">
            <a:off x="91821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8" name="s8-num-4">
            <a:extLst xmlns:a="http://schemas.openxmlformats.org/drawingml/2006/main">
              <a:ext uri="{FF2B5EF4-FFF2-40B4-BE49-F238E27FC236}">
                <a16:creationId xmlns:a16="http://schemas.microsoft.com/office/drawing/2014/main" id="{8FE1E30B-C228-4670-8A6D-79B8CA2A30F4}"/>
              </a:ext>
            </a:extLst>
          </p:cNvPr>
          <p:cNvSpPr>
            <a:spLocks xmlns:a="http://schemas.openxmlformats.org/drawingml/2006/main" noGrp="1"/>
          </p:cNvSpPr>
          <p:nvPr/>
        </p:nvSpPr>
        <p:spPr>
          <a:xfrm xmlns:a="http://schemas.openxmlformats.org/drawingml/2006/main">
            <a:off x="93345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5</a:t>
            </a:r>
          </a:p>
        </p:txBody>
      </p:sp>
      <p:sp>
        <p:nvSpPr>
          <p:cNvPr id="29" name="s8-title-4">
            <a:extLst xmlns:a="http://schemas.openxmlformats.org/drawingml/2006/main">
              <a:ext uri="{FF2B5EF4-FFF2-40B4-BE49-F238E27FC236}">
                <a16:creationId xmlns:a16="http://schemas.microsoft.com/office/drawing/2014/main" id="{72D2EE35-B185-4AE3-ABF9-CFBD4D87F5FC}"/>
              </a:ext>
            </a:extLst>
          </p:cNvPr>
          <p:cNvSpPr>
            <a:spLocks xmlns:a="http://schemas.openxmlformats.org/drawingml/2006/main" noGrp="1"/>
          </p:cNvSpPr>
          <p:nvPr/>
        </p:nvSpPr>
        <p:spPr>
          <a:xfrm xmlns:a="http://schemas.openxmlformats.org/drawingml/2006/main">
            <a:off x="93345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Causal</a:t>
            </a:r>
          </a:p>
        </p:txBody>
      </p:sp>
      <p:sp>
        <p:nvSpPr>
          <p:cNvPr id="30" name="s8-copy-4">
            <a:extLst xmlns:a="http://schemas.openxmlformats.org/drawingml/2006/main">
              <a:ext uri="{FF2B5EF4-FFF2-40B4-BE49-F238E27FC236}">
                <a16:creationId xmlns:a16="http://schemas.microsoft.com/office/drawing/2014/main" id="{BB391761-1144-4411-BDA9-0C4320354D52}"/>
              </a:ext>
            </a:extLst>
          </p:cNvPr>
          <p:cNvSpPr>
            <a:spLocks xmlns:a="http://schemas.openxmlformats.org/drawingml/2006/main" noGrp="1"/>
          </p:cNvSpPr>
          <p:nvPr/>
        </p:nvSpPr>
        <p:spPr>
          <a:xfrm xmlns:a="http://schemas.openxmlformats.org/drawingml/2006/main">
            <a:off x="93345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828"/>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Qualified randomized RM outcome history</a:t>
            </a:r>
          </a:p>
        </p:txBody>
      </p:sp>
      <p:cxnSp>
        <p:nvCxnSpPr>
          <p:cNvPr id="206" name="s8-checks-rule"/>
          <p:cNvCxnSpPr/>
          <p:nvPr/>
        </p:nvCxnSpPr>
        <p:spPr>
          <a:xfrm xmlns:a="http://schemas.openxmlformats.org/drawingml/2006/main">
            <a:off x="609600" y="443865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32" name="s8-checks-value">
            <a:extLst xmlns:a="http://schemas.openxmlformats.org/drawingml/2006/main">
              <a:ext uri="{FF2B5EF4-FFF2-40B4-BE49-F238E27FC236}">
                <a16:creationId xmlns:a16="http://schemas.microsoft.com/office/drawing/2014/main" id="{70E78E76-AAAA-4364-A45E-37627D328455}"/>
              </a:ext>
            </a:extLst>
          </p:cNvPr>
          <p:cNvSpPr>
            <a:spLocks xmlns:a="http://schemas.openxmlformats.org/drawingml/2006/main" noGrp="1"/>
          </p:cNvSpPr>
          <p:nvPr/>
        </p:nvSpPr>
        <p:spPr>
          <a:xfrm xmlns:a="http://schemas.openxmlformats.org/drawingml/2006/main">
            <a:off x="6096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33" name="s8-checks-label">
            <a:extLst xmlns:a="http://schemas.openxmlformats.org/drawingml/2006/main">
              <a:ext uri="{FF2B5EF4-FFF2-40B4-BE49-F238E27FC236}">
                <a16:creationId xmlns:a16="http://schemas.microsoft.com/office/drawing/2014/main" id="{D43164D6-AAC6-4717-AE21-05DF4994520D}"/>
              </a:ext>
            </a:extLst>
          </p:cNvPr>
          <p:cNvSpPr>
            <a:spLocks xmlns:a="http://schemas.openxmlformats.org/drawingml/2006/main" noGrp="1"/>
          </p:cNvSpPr>
          <p:nvPr/>
        </p:nvSpPr>
        <p:spPr>
          <a:xfrm xmlns:a="http://schemas.openxmlformats.org/drawingml/2006/main">
            <a:off x="6096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wallet identities</a:t>
            </a:r>
          </a:p>
        </p:txBody>
      </p:sp>
      <p:sp>
        <p:nvSpPr>
          <p:cNvPr id="34" name="s8-checks-note">
            <a:extLst xmlns:a="http://schemas.openxmlformats.org/drawingml/2006/main">
              <a:ext uri="{FF2B5EF4-FFF2-40B4-BE49-F238E27FC236}">
                <a16:creationId xmlns:a16="http://schemas.microsoft.com/office/drawing/2014/main" id="{AFE9E91B-2AE2-482D-943B-72FF8090C6E1}"/>
              </a:ext>
            </a:extLst>
          </p:cNvPr>
          <p:cNvSpPr>
            <a:spLocks xmlns:a="http://schemas.openxmlformats.org/drawingml/2006/main" noGrp="1"/>
          </p:cNvSpPr>
          <p:nvPr/>
        </p:nvSpPr>
        <p:spPr>
          <a:xfrm xmlns:a="http://schemas.openxmlformats.org/drawingml/2006/main">
            <a:off x="6096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T ≥ A; q=A/T; G=max(q*T−A,0)</a:t>
            </a:r>
          </a:p>
        </p:txBody>
      </p:sp>
      <p:cxnSp>
        <p:nvCxnSpPr>
          <p:cNvPr id="210" name="s8-cases-rule"/>
          <p:cNvCxnSpPr/>
          <p:nvPr/>
        </p:nvCxnSpPr>
        <p:spPr>
          <a:xfrm xmlns:a="http://schemas.openxmlformats.org/drawingml/2006/main">
            <a:off x="3390900" y="44386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6" name="s8-cases-value">
            <a:extLst xmlns:a="http://schemas.openxmlformats.org/drawingml/2006/main">
              <a:ext uri="{FF2B5EF4-FFF2-40B4-BE49-F238E27FC236}">
                <a16:creationId xmlns:a16="http://schemas.microsoft.com/office/drawing/2014/main" id="{D8457571-ECA1-4B7D-8CD2-B558FE6845FE}"/>
              </a:ext>
            </a:extLst>
          </p:cNvPr>
          <p:cNvSpPr>
            <a:spLocks xmlns:a="http://schemas.openxmlformats.org/drawingml/2006/main" noGrp="1"/>
          </p:cNvSpPr>
          <p:nvPr/>
        </p:nvSpPr>
        <p:spPr>
          <a:xfrm xmlns:a="http://schemas.openxmlformats.org/drawingml/2006/main">
            <a:off x="33909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88.0%</a:t>
            </a:r>
          </a:p>
        </p:txBody>
      </p:sp>
      <p:sp>
        <p:nvSpPr>
          <p:cNvPr id="37" name="s8-cases-label">
            <a:extLst xmlns:a="http://schemas.openxmlformats.org/drawingml/2006/main">
              <a:ext uri="{FF2B5EF4-FFF2-40B4-BE49-F238E27FC236}">
                <a16:creationId xmlns:a16="http://schemas.microsoft.com/office/drawing/2014/main" id="{748A3F37-FD86-4FA3-9A58-041E12FE2593}"/>
              </a:ext>
            </a:extLst>
          </p:cNvPr>
          <p:cNvSpPr>
            <a:spLocks xmlns:a="http://schemas.openxmlformats.org/drawingml/2006/main" noGrp="1"/>
          </p:cNvSpPr>
          <p:nvPr/>
        </p:nvSpPr>
        <p:spPr>
          <a:xfrm xmlns:a="http://schemas.openxmlformats.org/drawingml/2006/main">
            <a:off x="33909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base 90% coverage</a:t>
            </a:r>
          </a:p>
        </p:txBody>
      </p:sp>
      <p:sp>
        <p:nvSpPr>
          <p:cNvPr id="38" name="s8-cases-note">
            <a:extLst xmlns:a="http://schemas.openxmlformats.org/drawingml/2006/main">
              <a:ext uri="{FF2B5EF4-FFF2-40B4-BE49-F238E27FC236}">
                <a16:creationId xmlns:a16="http://schemas.microsoft.com/office/drawing/2014/main" id="{C2D618FC-F541-4555-B033-A1FCD5476A54}"/>
              </a:ext>
            </a:extLst>
          </p:cNvPr>
          <p:cNvSpPr>
            <a:spLocks xmlns:a="http://schemas.openxmlformats.org/drawingml/2006/main" noGrp="1"/>
          </p:cNvSpPr>
          <p:nvPr/>
        </p:nvSpPr>
        <p:spPr>
          <a:xfrm xmlns:a="http://schemas.openxmlformats.org/drawingml/2006/main">
            <a:off x="33909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Known-truth E1 weight 0.35 arm</a:t>
            </a:r>
          </a:p>
        </p:txBody>
      </p:sp>
      <p:cxnSp>
        <p:nvCxnSpPr>
          <p:cNvPr id="214" name="s8-stress-rule"/>
          <p:cNvCxnSpPr/>
          <p:nvPr/>
        </p:nvCxnSpPr>
        <p:spPr>
          <a:xfrm xmlns:a="http://schemas.openxmlformats.org/drawingml/2006/main">
            <a:off x="6172200" y="44386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40" name="s8-stress-value">
            <a:extLst xmlns:a="http://schemas.openxmlformats.org/drawingml/2006/main">
              <a:ext uri="{FF2B5EF4-FFF2-40B4-BE49-F238E27FC236}">
                <a16:creationId xmlns:a16="http://schemas.microsoft.com/office/drawing/2014/main" id="{79CADD48-F427-48B1-B0B4-49A478351BA1}"/>
              </a:ext>
            </a:extLst>
          </p:cNvPr>
          <p:cNvSpPr>
            <a:spLocks xmlns:a="http://schemas.openxmlformats.org/drawingml/2006/main" noGrp="1"/>
          </p:cNvSpPr>
          <p:nvPr/>
        </p:nvSpPr>
        <p:spPr>
          <a:xfrm xmlns:a="http://schemas.openxmlformats.org/drawingml/2006/main">
            <a:off x="61722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41" name="s8-stress-label">
            <a:extLst xmlns:a="http://schemas.openxmlformats.org/drawingml/2006/main">
              <a:ext uri="{FF2B5EF4-FFF2-40B4-BE49-F238E27FC236}">
                <a16:creationId xmlns:a16="http://schemas.microsoft.com/office/drawing/2014/main" id="{F2D8BF75-70A0-4B1F-9C7B-877980F8218B}"/>
              </a:ext>
            </a:extLst>
          </p:cNvPr>
          <p:cNvSpPr>
            <a:spLocks xmlns:a="http://schemas.openxmlformats.org/drawingml/2006/main" noGrp="1"/>
          </p:cNvSpPr>
          <p:nvPr/>
        </p:nvSpPr>
        <p:spPr>
          <a:xfrm xmlns:a="http://schemas.openxmlformats.org/drawingml/2006/main">
            <a:off x="61722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TF first-rank frequency</a:t>
            </a:r>
          </a:p>
        </p:txBody>
      </p:sp>
      <p:sp>
        <p:nvSpPr>
          <p:cNvPr id="42" name="s8-stress-note">
            <a:extLst xmlns:a="http://schemas.openxmlformats.org/drawingml/2006/main">
              <a:ext uri="{FF2B5EF4-FFF2-40B4-BE49-F238E27FC236}">
                <a16:creationId xmlns:a16="http://schemas.microsoft.com/office/drawing/2014/main" id="{36241C21-692C-41D5-85D7-4948982799CC}"/>
              </a:ext>
            </a:extLst>
          </p:cNvPr>
          <p:cNvSpPr>
            <a:spLocks xmlns:a="http://schemas.openxmlformats.org/drawingml/2006/main" noGrp="1"/>
          </p:cNvSpPr>
          <p:nvPr/>
        </p:nvSpPr>
        <p:spPr>
          <a:xfrm xmlns:a="http://schemas.openxmlformats.org/drawingml/2006/main">
            <a:off x="61722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10,000-draw global benchmark</a:t>
            </a:r>
          </a:p>
        </p:txBody>
      </p:sp>
      <p:cxnSp>
        <p:nvCxnSpPr>
          <p:cNvPr id="218" name="s8-fail-rule"/>
          <p:cNvCxnSpPr/>
          <p:nvPr/>
        </p:nvCxnSpPr>
        <p:spPr>
          <a:xfrm xmlns:a="http://schemas.openxmlformats.org/drawingml/2006/main">
            <a:off x="8953500" y="443865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4" name="s8-fail-value">
            <a:extLst xmlns:a="http://schemas.openxmlformats.org/drawingml/2006/main">
              <a:ext uri="{FF2B5EF4-FFF2-40B4-BE49-F238E27FC236}">
                <a16:creationId xmlns:a16="http://schemas.microsoft.com/office/drawing/2014/main" id="{4305D1F8-1CE9-46D0-B5FE-DC212B5ED7A4}"/>
              </a:ext>
            </a:extLst>
          </p:cNvPr>
          <p:cNvSpPr>
            <a:spLocks xmlns:a="http://schemas.openxmlformats.org/drawingml/2006/main" noGrp="1"/>
          </p:cNvSpPr>
          <p:nvPr/>
        </p:nvSpPr>
        <p:spPr>
          <a:xfrm xmlns:a="http://schemas.openxmlformats.org/drawingml/2006/main">
            <a:off x="89535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45" name="s8-fail-label">
            <a:extLst xmlns:a="http://schemas.openxmlformats.org/drawingml/2006/main">
              <a:ext uri="{FF2B5EF4-FFF2-40B4-BE49-F238E27FC236}">
                <a16:creationId xmlns:a16="http://schemas.microsoft.com/office/drawing/2014/main" id="{7848A7C9-8815-41ED-B94B-44CBD55C021C}"/>
              </a:ext>
            </a:extLst>
          </p:cNvPr>
          <p:cNvSpPr>
            <a:spLocks xmlns:a="http://schemas.openxmlformats.org/drawingml/2006/main" noGrp="1"/>
          </p:cNvSpPr>
          <p:nvPr/>
        </p:nvSpPr>
        <p:spPr>
          <a:xfrm xmlns:a="http://schemas.openxmlformats.org/drawingml/2006/main">
            <a:off x="89535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measured-share claims</a:t>
            </a:r>
          </a:p>
        </p:txBody>
      </p:sp>
      <p:sp>
        <p:nvSpPr>
          <p:cNvPr id="46" name="s8-fail-note">
            <a:extLst xmlns:a="http://schemas.openxmlformats.org/drawingml/2006/main">
              <a:ext uri="{FF2B5EF4-FFF2-40B4-BE49-F238E27FC236}">
                <a16:creationId xmlns:a16="http://schemas.microsoft.com/office/drawing/2014/main" id="{78AFFBBC-FFA9-4353-81AC-CDAEFADAA35C}"/>
              </a:ext>
            </a:extLst>
          </p:cNvPr>
          <p:cNvSpPr>
            <a:spLocks xmlns:a="http://schemas.openxmlformats.org/drawingml/2006/main" noGrp="1"/>
          </p:cNvSpPr>
          <p:nvPr/>
        </p:nvSpPr>
        <p:spPr>
          <a:xfrm xmlns:a="http://schemas.openxmlformats.org/drawingml/2006/main">
            <a:off x="89535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E3 multibank observation exists</a:t>
            </a:r>
          </a:p>
        </p:txBody>
      </p:sp>
    </p:spTree>
    <p:extLst>
      <p:ext uri="{BB962C8B-B14F-4D97-AF65-F5344CB8AC3E}">
        <p14:creationId xmlns:p14="http://schemas.microsoft.com/office/powerpoint/2010/main" val="413119166"/>
      </p:ext>
    </p:extLst>
  </p:cSld>
</p:sld>
</file>

<file path=ppt/slides/slide10.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sp>
        <p:nvSpPr>
          <p:cNvPr id="19" name="s10-kicker">
            <a:extLst xmlns:a="http://schemas.openxmlformats.org/drawingml/2006/main">
              <a:ext uri="{FF2B5EF4-FFF2-40B4-BE49-F238E27FC236}">
                <a16:creationId xmlns:a16="http://schemas.microsoft.com/office/drawing/2014/main" id="{71C6F305-F54F-4AD8-BBAD-77DCEDD02F10}"/>
              </a:ext>
            </a:extLst>
          </p:cNvPr>
          <p:cNvSpPr>
            <a:spLocks xmlns:a="http://schemas.openxmlformats.org/drawingml/2006/main" noGrp="1"/>
          </p:cNvSpPr>
          <p:nvPr/>
        </p:nvSpPr>
        <p:spPr>
          <a:xfrm xmlns:a="http://schemas.openxmlformats.org/drawingml/2006/main">
            <a:off x="609600" y="457200"/>
            <a:ext cx="304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THE DECISION</a:t>
            </a:r>
          </a:p>
        </p:txBody>
      </p:sp>
      <p:sp>
        <p:nvSpPr>
          <p:cNvPr id="2" name="s10-title">
            <a:extLst xmlns:a="http://schemas.openxmlformats.org/drawingml/2006/main">
              <a:ext uri="{FF2B5EF4-FFF2-40B4-BE49-F238E27FC236}">
                <a16:creationId xmlns:a16="http://schemas.microsoft.com/office/drawing/2014/main" id="{7E88C5EB-8E92-4D5E-8985-8FFB80460AE1}"/>
              </a:ext>
            </a:extLst>
          </p:cNvPr>
          <p:cNvSpPr>
            <a:spLocks xmlns:a="http://schemas.openxmlformats.org/drawingml/2006/main" noGrp="1"/>
          </p:cNvSpPr>
          <p:nvPr/>
        </p:nvSpPr>
        <p:spPr>
          <a:xfrm xmlns:a="http://schemas.openxmlformats.org/drawingml/2006/main">
            <a:off x="609600" y="1066800"/>
            <a:ext cx="7239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Find the gap.</a:t>
            </a:r>
          </a:p>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Plan the conversation.</a:t>
            </a:r>
          </a:p>
        </p:txBody>
      </p:sp>
      <p:sp>
        <p:nvSpPr>
          <p:cNvPr id="3" name="s10-subtitle">
            <a:extLst xmlns:a="http://schemas.openxmlformats.org/drawingml/2006/main">
              <a:ext uri="{FF2B5EF4-FFF2-40B4-BE49-F238E27FC236}">
                <a16:creationId xmlns:a16="http://schemas.microsoft.com/office/drawing/2014/main" id="{7EA1814A-A2FC-41B7-9193-3C7C4E8DE6B5}"/>
              </a:ext>
            </a:extLst>
          </p:cNvPr>
          <p:cNvSpPr>
            <a:spLocks xmlns:a="http://schemas.openxmlformats.org/drawingml/2006/main" noGrp="1"/>
          </p:cNvSpPr>
          <p:nvPr/>
        </p:nvSpPr>
        <p:spPr>
          <a:xfrm xmlns:a="http://schemas.openxmlformats.org/drawingml/2006/main">
            <a:off x="609600" y="2638425"/>
            <a:ext cx="742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370"/>
          </a:bodyPr>
          <a:lstStyle xmlns:a="http://schemas.openxmlformats.org/drawingml/2006/main"/>
          <a:p xmlns:a="http://schemas.openxmlformats.org/drawingml/2006/main">
            <a:pPr algn="l">
              <a:buNone/>
              <a:defRPr sz="1800" b="0">
                <a:solidFill>
                  <a:srgbClr val="C7D5E8"/>
                </a:solidFill>
                <a:latin typeface="Arial"/>
                <a:ea typeface="Arial"/>
                <a:cs typeface="Arial"/>
              </a:defRPr>
            </a:pPr>
            <a:r>
              <a:rPr sz="1800" b="0">
                <a:solidFill>
                  <a:srgbClr val="C7D5E8"/>
                </a:solidFill>
                <a:latin typeface="Arial"/>
                <a:ea typeface="Arial"/>
                <a:cs typeface="Arial"/>
              </a:rPr>
              <a:t>V3.1.1 converts partial bank observation into a governed wallet interval, a commercial scenario and a relationship action—while preserving every evidence boundary.</a:t>
            </a:r>
          </a:p>
        </p:txBody>
      </p:sp>
      <p:cxnSp>
        <p:nvCxnSpPr>
          <p:cNvPr id="58" name="s10-step-rule-0"/>
          <p:cNvCxnSpPr/>
          <p:nvPr/>
        </p:nvCxnSpPr>
        <p:spPr>
          <a:xfrm xmlns:a="http://schemas.openxmlformats.org/drawingml/2006/main">
            <a:off x="60960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5" name="s10-step-num-0">
            <a:extLst xmlns:a="http://schemas.openxmlformats.org/drawingml/2006/main">
              <a:ext uri="{FF2B5EF4-FFF2-40B4-BE49-F238E27FC236}">
                <a16:creationId xmlns:a16="http://schemas.microsoft.com/office/drawing/2014/main" id="{238D21C1-DA30-41DA-9400-AF41A46BECB0}"/>
              </a:ext>
            </a:extLst>
          </p:cNvPr>
          <p:cNvSpPr>
            <a:spLocks xmlns:a="http://schemas.openxmlformats.org/drawingml/2006/main" noGrp="1"/>
          </p:cNvSpPr>
          <p:nvPr/>
        </p:nvSpPr>
        <p:spPr>
          <a:xfrm xmlns:a="http://schemas.openxmlformats.org/drawingml/2006/main">
            <a:off x="6096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01</a:t>
            </a:r>
          </a:p>
        </p:txBody>
      </p:sp>
      <p:sp>
        <p:nvSpPr>
          <p:cNvPr id="6" name="s10-step-title-0">
            <a:extLst xmlns:a="http://schemas.openxmlformats.org/drawingml/2006/main">
              <a:ext uri="{FF2B5EF4-FFF2-40B4-BE49-F238E27FC236}">
                <a16:creationId xmlns:a16="http://schemas.microsoft.com/office/drawing/2014/main" id="{C0F296F1-97E4-4C17-AD67-E972321D4AF1}"/>
              </a:ext>
            </a:extLst>
          </p:cNvPr>
          <p:cNvSpPr>
            <a:spLocks xmlns:a="http://schemas.openxmlformats.org/drawingml/2006/main" noGrp="1"/>
          </p:cNvSpPr>
          <p:nvPr/>
        </p:nvSpPr>
        <p:spPr>
          <a:xfrm xmlns:a="http://schemas.openxmlformats.org/drawingml/2006/main">
            <a:off x="6096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Demonstrate the wallet</a:t>
            </a:r>
          </a:p>
        </p:txBody>
      </p:sp>
      <p:sp>
        <p:nvSpPr>
          <p:cNvPr id="7" name="s10-step-copy-0">
            <a:extLst xmlns:a="http://schemas.openxmlformats.org/drawingml/2006/main">
              <a:ext uri="{FF2B5EF4-FFF2-40B4-BE49-F238E27FC236}">
                <a16:creationId xmlns:a16="http://schemas.microsoft.com/office/drawing/2014/main" id="{38A49CAF-0448-42A4-A8E9-55790E10B172}"/>
              </a:ext>
            </a:extLst>
          </p:cNvPr>
          <p:cNvSpPr>
            <a:spLocks xmlns:a="http://schemas.openxmlformats.org/drawingml/2006/main" noGrp="1"/>
          </p:cNvSpPr>
          <p:nvPr/>
        </p:nvSpPr>
        <p:spPr>
          <a:xfrm xmlns:a="http://schemas.openxmlformats.org/drawingml/2006/main">
            <a:off x="6096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Twenty relationships × five products, approval-authoritative anchors, intervals and contestable gaps.</a:t>
            </a:r>
          </a:p>
        </p:txBody>
      </p:sp>
      <p:cxnSp>
        <p:nvCxnSpPr>
          <p:cNvPr id="62" name="s10-step-rule-1"/>
          <p:cNvCxnSpPr/>
          <p:nvPr/>
        </p:nvCxnSpPr>
        <p:spPr>
          <a:xfrm xmlns:a="http://schemas.openxmlformats.org/drawingml/2006/main">
            <a:off x="421005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9" name="s10-step-num-1">
            <a:extLst xmlns:a="http://schemas.openxmlformats.org/drawingml/2006/main">
              <a:ext uri="{FF2B5EF4-FFF2-40B4-BE49-F238E27FC236}">
                <a16:creationId xmlns:a16="http://schemas.microsoft.com/office/drawing/2014/main" id="{32BBD710-970C-4D52-BBB5-B3163C1DFE90}"/>
              </a:ext>
            </a:extLst>
          </p:cNvPr>
          <p:cNvSpPr>
            <a:spLocks xmlns:a="http://schemas.openxmlformats.org/drawingml/2006/main" noGrp="1"/>
          </p:cNvSpPr>
          <p:nvPr/>
        </p:nvSpPr>
        <p:spPr>
          <a:xfrm xmlns:a="http://schemas.openxmlformats.org/drawingml/2006/main">
            <a:off x="421005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02</a:t>
            </a:r>
          </a:p>
        </p:txBody>
      </p:sp>
      <p:sp>
        <p:nvSpPr>
          <p:cNvPr id="10" name="s10-step-title-1">
            <a:extLst xmlns:a="http://schemas.openxmlformats.org/drawingml/2006/main">
              <a:ext uri="{FF2B5EF4-FFF2-40B4-BE49-F238E27FC236}">
                <a16:creationId xmlns:a16="http://schemas.microsoft.com/office/drawing/2014/main" id="{908A8357-7431-4A00-AA58-99BF52E31C3A}"/>
              </a:ext>
            </a:extLst>
          </p:cNvPr>
          <p:cNvSpPr>
            <a:spLocks xmlns:a="http://schemas.openxmlformats.org/drawingml/2006/main" noGrp="1"/>
          </p:cNvSpPr>
          <p:nvPr/>
        </p:nvSpPr>
        <p:spPr>
          <a:xfrm xmlns:a="http://schemas.openxmlformats.org/drawingml/2006/main">
            <a:off x="421005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711"/>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Run eight discovery conversations</a:t>
            </a:r>
          </a:p>
        </p:txBody>
      </p:sp>
      <p:sp>
        <p:nvSpPr>
          <p:cNvPr id="11" name="s10-step-copy-1">
            <a:extLst xmlns:a="http://schemas.openxmlformats.org/drawingml/2006/main">
              <a:ext uri="{FF2B5EF4-FFF2-40B4-BE49-F238E27FC236}">
                <a16:creationId xmlns:a16="http://schemas.microsoft.com/office/drawing/2014/main" id="{F4604711-2998-4E86-B185-B8DA6E8A1F1F}"/>
              </a:ext>
            </a:extLst>
          </p:cNvPr>
          <p:cNvSpPr>
            <a:spLocks xmlns:a="http://schemas.openxmlformats.org/drawingml/2006/main" noGrp="1"/>
          </p:cNvSpPr>
          <p:nvPr/>
        </p:nvSpPr>
        <p:spPr>
          <a:xfrm xmlns:a="http://schemas.openxmlformats.org/drawingml/2006/main">
            <a:off x="421005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Decision Twin adds stakeholder, business issue, bundle, timing, feasibility and the highest-VOI question.</a:t>
            </a:r>
          </a:p>
        </p:txBody>
      </p:sp>
      <p:cxnSp>
        <p:nvCxnSpPr>
          <p:cNvPr id="66" name="s10-step-rule-2"/>
          <p:cNvCxnSpPr/>
          <p:nvPr/>
        </p:nvCxnSpPr>
        <p:spPr>
          <a:xfrm xmlns:a="http://schemas.openxmlformats.org/drawingml/2006/main">
            <a:off x="7810500" y="4143375"/>
            <a:ext cx="3105150" cy="0"/>
          </a:xfrm>
          <a:prstGeom xmlns:a="http://schemas.openxmlformats.org/drawingml/2006/main" prst="straightConnector1">
            <a:avLst/>
          </a:prstGeom>
          <a:ln xmlns:a="http://schemas.openxmlformats.org/drawingml/2006/main" w="38100">
            <a:solidFill>
              <a:srgbClr val="E2951C"/>
            </a:solidFill>
            <a:prstDash val="solid"/>
          </a:ln>
        </p:spPr>
      </p:cxnSp>
      <p:sp>
        <p:nvSpPr>
          <p:cNvPr id="13" name="s10-step-num-2">
            <a:extLst xmlns:a="http://schemas.openxmlformats.org/drawingml/2006/main">
              <a:ext uri="{FF2B5EF4-FFF2-40B4-BE49-F238E27FC236}">
                <a16:creationId xmlns:a16="http://schemas.microsoft.com/office/drawing/2014/main" id="{74563C8A-6C34-4D43-975D-2FE18893490D}"/>
              </a:ext>
            </a:extLst>
          </p:cNvPr>
          <p:cNvSpPr>
            <a:spLocks xmlns:a="http://schemas.openxmlformats.org/drawingml/2006/main" noGrp="1"/>
          </p:cNvSpPr>
          <p:nvPr/>
        </p:nvSpPr>
        <p:spPr>
          <a:xfrm xmlns:a="http://schemas.openxmlformats.org/drawingml/2006/main">
            <a:off x="78105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03</a:t>
            </a:r>
          </a:p>
        </p:txBody>
      </p:sp>
      <p:sp>
        <p:nvSpPr>
          <p:cNvPr id="14" name="s10-step-title-2">
            <a:extLst xmlns:a="http://schemas.openxmlformats.org/drawingml/2006/main">
              <a:ext uri="{FF2B5EF4-FFF2-40B4-BE49-F238E27FC236}">
                <a16:creationId xmlns:a16="http://schemas.microsoft.com/office/drawing/2014/main" id="{79B21AD7-B082-4A09-9360-C4401FD36846}"/>
              </a:ext>
            </a:extLst>
          </p:cNvPr>
          <p:cNvSpPr>
            <a:spLocks xmlns:a="http://schemas.openxmlformats.org/drawingml/2006/main" noGrp="1"/>
          </p:cNvSpPr>
          <p:nvPr/>
        </p:nvSpPr>
        <p:spPr>
          <a:xfrm xmlns:a="http://schemas.openxmlformats.org/drawingml/2006/main">
            <a:off x="78105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Earn production</a:t>
            </a:r>
          </a:p>
        </p:txBody>
      </p:sp>
      <p:sp>
        <p:nvSpPr>
          <p:cNvPr id="15" name="s10-step-copy-2">
            <a:extLst xmlns:a="http://schemas.openxmlformats.org/drawingml/2006/main">
              <a:ext uri="{FF2B5EF4-FFF2-40B4-BE49-F238E27FC236}">
                <a16:creationId xmlns:a16="http://schemas.microsoft.com/office/drawing/2014/main" id="{1742C1B2-A7D0-458D-B9BC-06BABC4F9ABB}"/>
              </a:ext>
            </a:extLst>
          </p:cNvPr>
          <p:cNvSpPr>
            <a:spLocks xmlns:a="http://schemas.openxmlformats.org/drawingml/2006/main" noGrp="1"/>
          </p:cNvSpPr>
          <p:nvPr/>
        </p:nvSpPr>
        <p:spPr>
          <a:xfrm xmlns:a="http://schemas.openxmlformats.org/drawingml/2006/main">
            <a:off x="78105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E3 panel, bank rates and controls, live provider adjudication, RM pilot and randomized outcomes.</a:t>
            </a:r>
          </a:p>
        </p:txBody>
      </p:sp>
      <p:sp>
        <p:nvSpPr>
          <p:cNvPr id="16" name="s10-close">
            <a:extLst xmlns:a="http://schemas.openxmlformats.org/drawingml/2006/main">
              <a:ext uri="{FF2B5EF4-FFF2-40B4-BE49-F238E27FC236}">
                <a16:creationId xmlns:a16="http://schemas.microsoft.com/office/drawing/2014/main" id="{D790BBC6-FEEE-4DE7-8BE3-C35B4E618C59}"/>
              </a:ext>
            </a:extLst>
          </p:cNvPr>
          <p:cNvSpPr>
            <a:spLocks xmlns:a="http://schemas.openxmlformats.org/drawingml/2006/main" noGrp="1"/>
          </p:cNvSpPr>
          <p:nvPr/>
        </p:nvSpPr>
        <p:spPr>
          <a:xfrm xmlns:a="http://schemas.openxmlformats.org/drawingml/2006/main">
            <a:off x="609600" y="63436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Submission mechanics validated; live-provider proof remains an explicit gate. Bank-production claims stay fail-closed.</a:t>
            </a:r>
          </a:p>
        </p:txBody>
      </p:sp>
      <p:sp>
        <p:nvSpPr>
          <p:cNvPr id="17" name="s10-team">
            <a:extLst xmlns:a="http://schemas.openxmlformats.org/drawingml/2006/main">
              <a:ext uri="{FF2B5EF4-FFF2-40B4-BE49-F238E27FC236}">
                <a16:creationId xmlns:a16="http://schemas.microsoft.com/office/drawing/2014/main" id="{2DFEA64C-B21E-476D-9DB5-823C313B9721}"/>
              </a:ext>
            </a:extLst>
          </p:cNvPr>
          <p:cNvSpPr>
            <a:spLocks xmlns:a="http://schemas.openxmlformats.org/drawingml/2006/main" noGrp="1"/>
          </p:cNvSpPr>
          <p:nvPr/>
        </p:nvSpPr>
        <p:spPr>
          <a:xfrm xmlns:a="http://schemas.openxmlformats.org/drawingml/2006/main">
            <a:off x="8096250" y="6343650"/>
            <a:ext cx="3486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900" b="1">
                <a:solidFill>
                  <a:srgbClr val="8FA5BD"/>
                </a:solidFill>
                <a:latin typeface="Arial"/>
                <a:ea typeface="Arial"/>
                <a:cs typeface="Arial"/>
              </a:defRPr>
            </a:pPr>
            <a:r>
              <a:rPr sz="900" b="1">
                <a:solidFill>
                  <a:srgbClr val="8FA5BD"/>
                </a:solidFill>
                <a:latin typeface="Arial"/>
                <a:ea typeface="Arial"/>
                <a:cs typeface="Arial"/>
              </a:rPr>
              <a:t>Corporate Wallet Digital Twin | Christopher Koen | V3.1.1</a:t>
            </a:r>
          </a:p>
        </p:txBody>
      </p:sp>
      <p:sp>
        <p:nvSpPr>
          <p:cNvPr id="18" name="s10-repository">
            <a:extLst xmlns:a="http://schemas.openxmlformats.org/drawingml/2006/main">
              <a:ext uri="{FF2B5EF4-FFF2-40B4-BE49-F238E27FC236}">
                <a16:creationId xmlns:a16="http://schemas.microsoft.com/office/drawing/2014/main" id="{9A8C3A41-0D53-41F9-943F-CE1F0E07577A}"/>
              </a:ext>
            </a:extLst>
          </p:cNvPr>
          <p:cNvSpPr>
            <a:spLocks xmlns:a="http://schemas.openxmlformats.org/drawingml/2006/main" noGrp="1"/>
          </p:cNvSpPr>
          <p:nvPr/>
        </p:nvSpPr>
        <p:spPr>
          <a:xfrm xmlns:a="http://schemas.openxmlformats.org/drawingml/2006/main">
            <a:off x="609600" y="60769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7CB6FF"/>
                </a:solidFill>
                <a:latin typeface="Arial"/>
                <a:ea typeface="Arial"/>
                <a:cs typeface="Arial"/>
              </a:defRPr>
            </a:pPr>
            <a:r>
              <a:rPr sz="825" b="1">
                <a:solidFill>
                  <a:srgbClr val="7CB6FF"/>
                </a:solidFill>
                <a:latin typeface="Arial"/>
                <a:ea typeface="Arial"/>
                <a:cs typeface="Arial"/>
              </a:rPr>
              <a:t>CODE: https://github.com/ChristopherJohannesKoen/corporate-wallet-digital-twin-hackathon-2026-public</a:t>
            </a:r>
          </a:p>
        </p:txBody>
      </p:sp>
    </p:spTree>
    <p:extLst>
      <p:ext uri="{BB962C8B-B14F-4D97-AF65-F5344CB8AC3E}">
        <p14:creationId xmlns:p14="http://schemas.microsoft.com/office/powerpoint/2010/main" val="13838946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2026-08-13T10:03:14.3550000Z</dcterms:created>
  <dcterms:modified xsi:type="dcterms:W3CDTF">2026-08-13T10:03:14.3550000Z</dcterms:modified>
</coreProperties>
</file>