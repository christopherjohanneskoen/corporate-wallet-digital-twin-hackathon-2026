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fcdd26d21d4bec" /><Relationship Type="http://schemas.openxmlformats.org/officeDocument/2006/relationships/extended-properties" Target="/docProps/app.xml" Id="R9a09533e71fe4adc" /><Relationship Type="http://schemas.openxmlformats.org/officeDocument/2006/relationships/officeDocument" Target="/ppt/presentation.xml" Id="Rad28ce29265641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0133be53734417"/>
  </p:sldMasterIdLst>
  <p:notesMasterIdLst>
    <p:notesMasterId xmlns:r="http://schemas.openxmlformats.org/officeDocument/2006/relationships" r:id="R83390452c5dc4232"/>
  </p:notesMasterIdLst>
  <p:sldIdLst>
    <p:sldId xmlns:r="http://schemas.openxmlformats.org/officeDocument/2006/relationships" id="256" r:id="R493857750b1a44e8"/>
    <p:sldId xmlns:r="http://schemas.openxmlformats.org/officeDocument/2006/relationships" id="257" r:id="R602ff677a9b34f69"/>
    <p:sldId xmlns:r="http://schemas.openxmlformats.org/officeDocument/2006/relationships" id="258" r:id="R1df858234b604e93"/>
    <p:sldId xmlns:r="http://schemas.openxmlformats.org/officeDocument/2006/relationships" id="259" r:id="R5ffbb87a88b04d2e"/>
    <p:sldId xmlns:r="http://schemas.openxmlformats.org/officeDocument/2006/relationships" id="260" r:id="R13c3211b86714a30"/>
    <p:sldId xmlns:r="http://schemas.openxmlformats.org/officeDocument/2006/relationships" id="261" r:id="R7a54193047574514"/>
    <p:sldId xmlns:r="http://schemas.openxmlformats.org/officeDocument/2006/relationships" id="262" r:id="R3f81a30606fe4500"/>
    <p:sldId xmlns:r="http://schemas.openxmlformats.org/officeDocument/2006/relationships" id="263" r:id="R00914492d6dc4824"/>
    <p:sldId xmlns:r="http://schemas.openxmlformats.org/officeDocument/2006/relationships" id="264" r:id="Rcfd6d952c40341a9"/>
    <p:sldId xmlns:r="http://schemas.openxmlformats.org/officeDocument/2006/relationships" id="265" r:id="Rb37ba5405af14b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9d2cf6bbbf47d6" /><Relationship Type="http://schemas.openxmlformats.org/officeDocument/2006/relationships/slideMaster" Target="/ppt/slideMasters/slideMaster1.xml" Id="Ra40133be53734417" /><Relationship Type="http://schemas.openxmlformats.org/officeDocument/2006/relationships/notesMaster" Target="/ppt/notesMasters/notesMaster1.xml" Id="R83390452c5dc4232" /><Relationship Type="http://schemas.openxmlformats.org/officeDocument/2006/relationships/presProps" Target="/ppt/presProps.xml" Id="R8ab1623a41044232" /><Relationship Type="http://schemas.openxmlformats.org/officeDocument/2006/relationships/tableStyles" Target="/ppt/tableStyles.xml" Id="R88c147599d7848f9" /><Relationship Type="http://schemas.openxmlformats.org/officeDocument/2006/relationships/slide" Target="/ppt/slides/slide1.xml" Id="R493857750b1a44e8" /><Relationship Type="http://schemas.openxmlformats.org/officeDocument/2006/relationships/slide" Target="/ppt/slides/slide2.xml" Id="R602ff677a9b34f69" /><Relationship Type="http://schemas.openxmlformats.org/officeDocument/2006/relationships/slide" Target="/ppt/slides/slide3.xml" Id="R1df858234b604e93" /><Relationship Type="http://schemas.openxmlformats.org/officeDocument/2006/relationships/slide" Target="/ppt/slides/slide4.xml" Id="R5ffbb87a88b04d2e" /><Relationship Type="http://schemas.openxmlformats.org/officeDocument/2006/relationships/slide" Target="/ppt/slides/slide5.xml" Id="R13c3211b86714a30" /><Relationship Type="http://schemas.openxmlformats.org/officeDocument/2006/relationships/slide" Target="/ppt/slides/slide6.xml" Id="R7a54193047574514" /><Relationship Type="http://schemas.openxmlformats.org/officeDocument/2006/relationships/slide" Target="/ppt/slides/slide7.xml" Id="R3f81a30606fe4500" /><Relationship Type="http://schemas.openxmlformats.org/officeDocument/2006/relationships/slide" Target="/ppt/slides/slide8.xml" Id="R00914492d6dc4824" /><Relationship Type="http://schemas.openxmlformats.org/officeDocument/2006/relationships/slide" Target="/ppt/slides/slide9.xml" Id="Rcfd6d952c40341a9" /><Relationship Type="http://schemas.openxmlformats.org/officeDocument/2006/relationships/slide" Target="/ppt/slides/slide10.xml" Id="Rb37ba5405af14b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c744773f2445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23311988594f37" /><Relationship Type="http://schemas.openxmlformats.org/officeDocument/2006/relationships/notesMaster" Target="/ppt/notesMasters/notesMaster1.xml" Id="Rf1a93878af2d45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14cf08b7ef40f3" /><Relationship Type="http://schemas.openxmlformats.org/officeDocument/2006/relationships/notesMaster" Target="/ppt/notesMasters/notesMaster1.xml" Id="Re032d84b29544d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bca65045eb4882" /><Relationship Type="http://schemas.openxmlformats.org/officeDocument/2006/relationships/notesMaster" Target="/ppt/notesMasters/notesMaster1.xml" Id="R7d4d6181c4074f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2c3cbbf6964a14" /><Relationship Type="http://schemas.openxmlformats.org/officeDocument/2006/relationships/notesMaster" Target="/ppt/notesMasters/notesMaster1.xml" Id="R355172de4b8b45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439b1659724fd6" /><Relationship Type="http://schemas.openxmlformats.org/officeDocument/2006/relationships/notesMaster" Target="/ppt/notesMasters/notesMaster1.xml" Id="R71511fae1f484d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25ba74c088406b" /><Relationship Type="http://schemas.openxmlformats.org/officeDocument/2006/relationships/notesMaster" Target="/ppt/notesMasters/notesMaster1.xml" Id="Rbf34e7d7c31946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63991d18074c02" /><Relationship Type="http://schemas.openxmlformats.org/officeDocument/2006/relationships/notesMaster" Target="/ppt/notesMasters/notesMaster1.xml" Id="Raa2cf0b4c15248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4f92b67b294bf5" /><Relationship Type="http://schemas.openxmlformats.org/officeDocument/2006/relationships/notesMaster" Target="/ppt/notesMasters/notesMaster1.xml" Id="Ra7cb067591b44a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6ba862a705449b" /><Relationship Type="http://schemas.openxmlformats.org/officeDocument/2006/relationships/notesMaster" Target="/ppt/notesMasters/notesMaster1.xml" Id="Rb99171e052984c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f1a566f1194207" /><Relationship Type="http://schemas.openxmlformats.org/officeDocument/2006/relationships/notesMaster" Target="/ppt/notesMasters/notesMaster1.xml" Id="R1bcd75b7a1784e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decision: the bank sees its own activity but not the client's full wallet.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output/assets/wallet-twin-cover.png</a:t>
            </a:r>
          </a:p>
          <a:p xmlns:a="http://schemas.openxmlformats.org/drawingml/2006/main">
            <a:r>
              <a:t>- config/submission.json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A=qT. One observation and two unknowns is the reason the system reports bounds and posteriors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docs/Corporate_Wallet_Digital_Twin_V2_Technical_Foundations.md - sections on identification and claim classes</a:t>
            </a:r>
          </a:p>
          <a:p xmlns:a="http://schemas.openxmlformats.org/drawingml/2006/main">
            <a:r>
              <a:t>- docs/v2_model_validation.md</a:t>
            </a:r>
          </a:p>
          <a:p xmlns:a="http://schemas.openxmlformats.org/drawingml/2006/main">
            <a:r>
              <a:t>- contracts/jsonschema/claim.schema.json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evidence trace explicit: page, period and available date. The anchor narrows the interval but does not become an exact wallet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outputs/evidence/E01.json - BHP Cross-border FX opportunity</a:t>
            </a:r>
          </a:p>
          <a:p xmlns:a="http://schemas.openxmlformats.org/drawingml/2006/main">
            <a:r>
              <a:t>- data/public_facts.csv - BHP-2025-FX</a:t>
            </a:r>
          </a:p>
          <a:p xmlns:a="http://schemas.openxmlformats.org/drawingml/2006/main">
            <a:r>
              <a:t>- BHP Annual Report 2025 p.160 (registered source; report file excluded from GitHub)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decision, then explain that P(top 10) is rank uncertainty, not win probability.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outputs/data/portfolio.json - opportunities sorted by priority_score</a:t>
            </a:r>
          </a:p>
          <a:p xmlns:a="http://schemas.openxmlformats.org/drawingml/2006/main">
            <a:r>
              <a:t>- outputs/opportunity_register.csv</a:t>
            </a:r>
          </a:p>
          <a:p xmlns:a="http://schemas.openxmlformats.org/drawingml/2006/main">
            <a:r>
              <a:t>- config/assumptions.json - scenario economics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timing layer can prioritize a conversation, but transaction-derived events are not banker outcomes. The causal label remains closed.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outputs/v2_validation/offline_validation_report.json - historical_validation.timing_surrogate</a:t>
            </a:r>
          </a:p>
          <a:p xmlns:a="http://schemas.openxmlformats.org/drawingml/2006/main">
            <a:r>
              <a:t>- outputs/client_demo/client_demo_data_manifest.json - trial_analog</a:t>
            </a:r>
          </a:p>
          <a:p xmlns:a="http://schemas.openxmlformats.org/drawingml/2006/main">
            <a:r>
              <a:t>- docs/v2_pilot_protocol.md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honest distinction: all 20 have E1 coverage, while 51 expanded facts still await finance-SME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outputs/client_demo/client_demo_data_manifest.json - source_estate</a:t>
            </a:r>
          </a:p>
          <a:p xmlns:a="http://schemas.openxmlformats.org/drawingml/2006/main">
            <a:r>
              <a:t>- outputs/v2_validation/public_evidence_qa.json</a:t>
            </a:r>
          </a:p>
          <a:p xmlns:a="http://schemas.openxmlformats.org/drawingml/2006/main">
            <a:r>
              <a:t>- data/v2/public_evidence_coverage.csv</a:t>
            </a:r>
          </a:p>
          <a:p xmlns:a="http://schemas.openxmlformats.org/drawingml/2006/main">
            <a:r>
              <a:t>- data/v2/public_facts_expanded.csv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both conclusions. Trade Finance is the stable first product, but Cross-border FX dominates the breadth of the top ten in many global draws.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outputs/data/portfolio.json - sensitivity.scenarios</a:t>
            </a:r>
          </a:p>
          <a:p xmlns:a="http://schemas.openxmlformats.org/drawingml/2006/main">
            <a:r>
              <a:t>- dashboard/app/data/shadow-fixture.json - sensitivity</a:t>
            </a:r>
          </a:p>
          <a:p xmlns:a="http://schemas.openxmlformats.org/drawingml/2006/main">
            <a:r>
              <a:t>- outputs/sensitivity_register.csv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headline numbers, then immediately disclose that the panel validates mechanics rather than real-world competitor-share accuracy.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outputs/v2_validation/offline_validation_report.json - synthetic_calibration</a:t>
            </a:r>
          </a:p>
          <a:p xmlns:a="http://schemas.openxmlformats.org/drawingml/2006/main">
            <a:r>
              <a:t>- outputs/client_demo/representative_multibank_analog.csv</a:t>
            </a:r>
          </a:p>
          <a:p xmlns:a="http://schemas.openxmlformats.org/drawingml/2006/main">
            <a:r>
              <a:t>- docs/v2_model_validation.md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model never publishes facts or acts in CRM. Deterministic checks and approval status control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outputs/v2_validation/genai_golden_eval.json</a:t>
            </a:r>
          </a:p>
          <a:p xmlns:a="http://schemas.openxmlformats.org/drawingml/2006/main">
            <a:r>
              <a:t>- src/wallet_twin_v2/genai_gateway.py</a:t>
            </a:r>
          </a:p>
          <a:p xmlns:a="http://schemas.openxmlformats.org/drawingml/2006/main">
            <a:r>
              <a:t>- src/wallet_twin_v2/genai_eval.py</a:t>
            </a:r>
          </a:p>
          <a:p xmlns:a="http://schemas.openxmlformats.org/drawingml/2006/main">
            <a:r>
              <a:t>- prompts/evidence_extraction.txt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controlled pilot. The system is a strong, transparent hackathon solution now; bank production requires the external gates already documented.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docs/client_demo_release.md</a:t>
            </a:r>
          </a:p>
          <a:p xmlns:a="http://schemas.openxmlformats.org/drawingml/2006/main">
            <a:r>
              <a:t>- docs/v2_pilot_protocol.md</a:t>
            </a:r>
          </a:p>
          <a:p xmlns:a="http://schemas.openxmlformats.org/drawingml/2006/main">
            <a:r>
              <a:t>- docs/production_deployment_runbook.md</a:t>
            </a:r>
          </a:p>
          <a:p xmlns:a="http://schemas.openxmlformats.org/drawingml/2006/main">
            <a:r>
              <a:t>- output/pdf/Corporate-Wallet-Digital-Twin-One-Pager.pdf</a:t>
            </a:r>
          </a:p>
          <a:p xmlns:a="http://schemas.openxmlformats.org/drawingml/2006/main">
            <a:r>
              <a:t>- notebooks/01_wallet_twin_demo.ipynb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20da1a899d4e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62079f7f2d4581" /><Relationship Type="http://schemas.openxmlformats.org/officeDocument/2006/relationships/slideLayout" Target="/ppt/slideLayouts/slideLayout1.xml" Id="R65316b039b254f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316b039b254f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9eb299145445e" /><Relationship Type="http://schemas.openxmlformats.org/officeDocument/2006/relationships/image" Target="/ppt/media/image.png" Id="R6f2deb8d61184278" /><Relationship Type="http://schemas.openxmlformats.org/officeDocument/2006/relationships/notesSlide" Target="/ppt/notesSlides/notesSlide1.xml" Id="Rb4b75001442a46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d8d1ffd40457a" /><Relationship Type="http://schemas.openxmlformats.org/officeDocument/2006/relationships/notesSlide" Target="/ppt/notesSlides/notesSlide2.xml" Id="R03d7b2446f494e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e4c863cba4836" /><Relationship Type="http://schemas.openxmlformats.org/officeDocument/2006/relationships/notesSlide" Target="/ppt/notesSlides/notesSlide3.xml" Id="Rc5b3e604ca2b4e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855b41c614adc" /><Relationship Type="http://schemas.openxmlformats.org/officeDocument/2006/relationships/chart" Target="/ppt/slides/charts/chart1.xml" Id="R3303ffc3e7444dbf" /><Relationship Type="http://schemas.openxmlformats.org/officeDocument/2006/relationships/notesSlide" Target="/ppt/notesSlides/notesSlide4.xml" Id="R4ae0da32c68d42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4c2a279e24f7d" /><Relationship Type="http://schemas.openxmlformats.org/officeDocument/2006/relationships/notesSlide" Target="/ppt/notesSlides/notesSlide5.xml" Id="R3c8e0815bdc841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bfe11e55240b5" /><Relationship Type="http://schemas.openxmlformats.org/officeDocument/2006/relationships/notesSlide" Target="/ppt/notesSlides/notesSlide6.xml" Id="R487c1fdd349848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b501e841f4755" /><Relationship Type="http://schemas.openxmlformats.org/officeDocument/2006/relationships/notesSlide" Target="/ppt/notesSlides/notesSlide7.xml" Id="R41acb006d5e548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afe31d84a4afd" /><Relationship Type="http://schemas.openxmlformats.org/officeDocument/2006/relationships/notesSlide" Target="/ppt/notesSlides/notesSlide8.xml" Id="R212cdd86a02e4c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9a098248c4319" /><Relationship Type="http://schemas.openxmlformats.org/officeDocument/2006/relationships/notesSlide" Target="/ppt/notesSlides/notesSlide9.xml" Id="Rac4da9da5f7641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4fb410c3b4d3a" /><Relationship Type="http://schemas.openxmlformats.org/officeDocument/2006/relationships/notesSlide" Target="/ppt/notesSlides/notesSlide10.xml" Id="R3fd31703cb4d4ca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Scenario gap (R m)</c:v>
          </c:tx>
          <c:spPr>
            <a:solidFill xmlns:a="http://schemas.openxmlformats.org/drawingml/2006/main">
              <a:srgbClr val="0B63E5"/>
            </a:solidFill>
          </c:spPr>
          <c:cat>
            <c:strLit>
              <c:ptCount val="5"/>
              <c:pt idx="0">
                <c:v>Glencore - Trade finance</c:v>
              </c:pt>
              <c:pt idx="1">
                <c:v>Glencore - Collections</c:v>
              </c:pt>
              <c:pt idx="2">
                <c:v>Glencore - Cross-border FX</c:v>
              </c:pt>
              <c:pt idx="3">
                <c:v>Glencore - Payments</c:v>
              </c:pt>
              <c:pt idx="4">
                <c:v>BHP Group - Cross-border FX</c:v>
              </c:pt>
            </c:strLit>
          </c:cat>
          <c:val>
            <c:numLit>
              <c:formatCode>General</c:formatCode>
              <c:ptCount val="5"/>
              <c:pt idx="0">
                <c:v>146.6</c:v>
              </c:pt>
              <c:pt idx="1">
                <c:v>82.3</c:v>
              </c:pt>
              <c:pt idx="2">
                <c:v>62.8</c:v>
              </c:pt>
              <c:pt idx="3">
                <c:v>50.4</c:v>
              </c:pt>
              <c:pt idx="4">
                <c:v>45.4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Median scenario contribution gap (R million)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deb8d6118427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field">
            <a:extLst xmlns:a="http://schemas.openxmlformats.org/drawingml/2006/main">
              <a:ext uri="{FF2B5EF4-FFF2-40B4-BE49-F238E27FC236}">
                <a16:creationId xmlns:a16="http://schemas.microsoft.com/office/drawing/2014/main" id="{68C8AA9C-AEB7-4971-B74F-C200797A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482CACE-AFF8-4494-B6B3-1A297802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STANDARD BANK HACKATHON 2026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F267839-2091-4047-8C68-12657E06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5334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Corporate Wallet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Digital Twin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4BDC36F-6AF3-4A72-91B7-07252A28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C7D5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7D5E8"/>
                </a:solidFill>
                <a:latin typeface="Arial"/>
                <a:ea typeface="Arial"/>
                <a:cs typeface="Arial"/>
              </a:rPr>
              <a:t>See the wallet. Size the gap.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C7D5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7D5E8"/>
                </a:solidFill>
                <a:latin typeface="Arial"/>
                <a:ea typeface="Arial"/>
                <a:cs typeface="Arial"/>
              </a:rPr>
              <a:t>Choose the moment.</a:t>
            </a:r>
          </a:p>
        </p:txBody>
      </p:sp>
      <p:cxnSp>
        <p:nvCxnSpPr>
          <p:cNvPr id="30" name="cover-rule"/>
          <p:cNvCxnSpPr/>
          <p:nvPr/>
        </p:nvCxnSpPr>
        <p:spPr>
          <a:xfrm xmlns:a="http://schemas.openxmlformats.org/drawingml/2006/main">
            <a:off x="609600" y="462915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D4C6D"/>
            </a:solidFill>
            <a:prstDash val="solid"/>
          </a:ln>
        </p:spPr>
      </p:cxnSp>
      <p:sp>
        <p:nvSpPr>
          <p:cNvPr id="7" name="cover-proof">
            <a:extLst xmlns:a="http://schemas.openxmlformats.org/drawingml/2006/main">
              <a:ext uri="{FF2B5EF4-FFF2-40B4-BE49-F238E27FC236}">
                <a16:creationId xmlns:a16="http://schemas.microsoft.com/office/drawing/2014/main" id="{1F20B026-FBCA-419F-9DA6-E4DE130F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Evidence-first opportunity intelligence for corporate relationship teams</a:t>
            </a:r>
          </a:p>
        </p:txBody>
      </p:sp>
      <p:sp>
        <p:nvSpPr>
          <p:cNvPr id="8" name="cover-team">
            <a:extLst xmlns:a="http://schemas.openxmlformats.org/drawingml/2006/main">
              <a:ext uri="{FF2B5EF4-FFF2-40B4-BE49-F238E27FC236}">
                <a16:creationId xmlns:a16="http://schemas.microsoft.com/office/drawing/2014/main" id="{781DA9D0-B4FF-42F0-B2AF-FD855C1D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TEAM: Corporate Wallet Digital Twin</a:t>
            </a:r>
          </a:p>
        </p:txBody>
      </p:sp>
      <p:sp>
        <p:nvSpPr>
          <p:cNvPr id="9" name="cover-member">
            <a:extLst xmlns:a="http://schemas.openxmlformats.org/drawingml/2006/main">
              <a:ext uri="{FF2B5EF4-FFF2-40B4-BE49-F238E27FC236}">
                <a16:creationId xmlns:a16="http://schemas.microsoft.com/office/drawing/2014/main" id="{8DA43589-A7B1-44F5-8519-473675CB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B9C8D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9C8D9"/>
                </a:solidFill>
                <a:latin typeface="Arial"/>
                <a:ea typeface="Arial"/>
                <a:cs typeface="Arial"/>
              </a:rPr>
              <a:t>MEMBER: Christopher Koen</a:t>
            </a:r>
          </a:p>
        </p:txBody>
      </p:sp>
      <p:sp>
        <p:nvSpPr>
          <p:cNvPr id="10" name="cover-version">
            <a:extLst xmlns:a="http://schemas.openxmlformats.org/drawingml/2006/main">
              <a:ext uri="{FF2B5EF4-FFF2-40B4-BE49-F238E27FC236}">
                <a16:creationId xmlns:a16="http://schemas.microsoft.com/office/drawing/2014/main" id="{67B73F45-8DD8-46B1-85E0-CD0EBE29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FA5B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A5BD"/>
                </a:solidFill>
                <a:latin typeface="Arial"/>
                <a:ea typeface="Arial"/>
                <a:cs typeface="Arial"/>
              </a:rPr>
              <a:t>V2.1 | AS OF 9 AUGUST 2026 | SYN BANK SIMULATION + PUBLIC E1</a:t>
            </a:r>
          </a:p>
        </p:txBody>
      </p:sp>
    </p:spTree>
    <p:extLst>
      <p:ext uri="{BB962C8B-B14F-4D97-AF65-F5344CB8AC3E}">
        <p14:creationId xmlns:p14="http://schemas.microsoft.com/office/powerpoint/2010/main" val="2771065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-2">
            <a:extLst xmlns:a="http://schemas.openxmlformats.org/drawingml/2006/main">
              <a:ext uri="{FF2B5EF4-FFF2-40B4-BE49-F238E27FC236}">
                <a16:creationId xmlns:a16="http://schemas.microsoft.com/office/drawing/2014/main" id="{59EB8F26-C843-4F13-BC46-7AEAE8DC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THE DECISION 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3F67D3C-33A0-4E57-966F-A952522B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One observed number cannot identify the full wallet</a:t>
            </a:r>
          </a:p>
        </p:txBody>
      </p:sp>
      <p:cxnSp>
        <p:nvCxnSpPr>
          <p:cNvPr id="97" name="title-rule-2"/>
          <p:cNvCxnSpPr/>
          <p:nvPr/>
        </p:nvCxn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</a:ln>
        </p:spPr>
      </p:cxnSp>
      <p:sp>
        <p:nvSpPr>
          <p:cNvPr id="4" name="footer-team-2">
            <a:extLst xmlns:a="http://schemas.openxmlformats.org/drawingml/2006/main">
              <a:ext uri="{FF2B5EF4-FFF2-40B4-BE49-F238E27FC236}">
                <a16:creationId xmlns:a16="http://schemas.microsoft.com/office/drawing/2014/main" id="{C0DFBA77-A1D3-4A65-A2A5-E8593B96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TEAM: Corporate Wallet Digital Twin | Christopher Koen | V2.1</a:t>
            </a:r>
          </a:p>
        </p:txBody>
      </p:sp>
      <p:sp>
        <p:nvSpPr>
          <p:cNvPr id="5" name="footer-data-2">
            <a:extLst xmlns:a="http://schemas.openxmlformats.org/drawingml/2006/main">
              <a:ext uri="{FF2B5EF4-FFF2-40B4-BE49-F238E27FC236}">
                <a16:creationId xmlns:a16="http://schemas.microsoft.com/office/drawing/2014/main" id="{E393BC11-AC05-492C-B803-F7887510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SYN BANK SIMULATION + PUBLIC E1 + REPRESENTATIVE BENCHMARKS</a:t>
            </a:r>
          </a:p>
        </p:txBody>
      </p:sp>
      <p:sp>
        <p:nvSpPr>
          <p:cNvPr id="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A07A547B-4E8C-44EF-AE09-2FFE72F9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s2-thesis">
            <a:extLst xmlns:a="http://schemas.openxmlformats.org/drawingml/2006/main">
              <a:ext uri="{FF2B5EF4-FFF2-40B4-BE49-F238E27FC236}">
                <a16:creationId xmlns:a16="http://schemas.microsoft.com/office/drawing/2014/main" id="{47D43FC0-08B4-40E1-888D-855DA2F4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4619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C1728"/>
                </a:solidFill>
                <a:latin typeface="Arial"/>
                <a:ea typeface="Arial"/>
                <a:cs typeface="Arial"/>
              </a:rPr>
              <a:t>Syn Bank observes product activity. It does not observe total client wallet or competitor share. A single point estimate would hide that identification problem.</a:t>
            </a:r>
          </a:p>
        </p:txBody>
      </p:sp>
      <p:sp>
        <p:nvSpPr>
          <p:cNvPr id="8" name="s2-equation">
            <a:extLst xmlns:a="http://schemas.openxmlformats.org/drawingml/2006/main">
              <a:ext uri="{FF2B5EF4-FFF2-40B4-BE49-F238E27FC236}">
                <a16:creationId xmlns:a16="http://schemas.microsoft.com/office/drawing/2014/main" id="{6F9F0706-B21E-4CDA-A239-1EE444A0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76400"/>
            <a:ext cx="5791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-A">
            <a:extLst xmlns:a="http://schemas.openxmlformats.org/drawingml/2006/main">
              <a:ext uri="{FF2B5EF4-FFF2-40B4-BE49-F238E27FC236}">
                <a16:creationId xmlns:a16="http://schemas.microsoft.com/office/drawing/2014/main" id="{38359821-6270-4872-8540-AA4F2549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s2-eq">
            <a:extLst xmlns:a="http://schemas.openxmlformats.org/drawingml/2006/main">
              <a:ext uri="{FF2B5EF4-FFF2-40B4-BE49-F238E27FC236}">
                <a16:creationId xmlns:a16="http://schemas.microsoft.com/office/drawing/2014/main" id="{D8AC3B78-AEA0-419D-A794-BC4D82DC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098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1" name="s2-q">
            <a:extLst xmlns:a="http://schemas.openxmlformats.org/drawingml/2006/main">
              <a:ext uri="{FF2B5EF4-FFF2-40B4-BE49-F238E27FC236}">
                <a16:creationId xmlns:a16="http://schemas.microsoft.com/office/drawing/2014/main" id="{F13A2AFA-BCB8-42AF-9106-2F3003D7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764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2" name="s2-x">
            <a:extLst xmlns:a="http://schemas.openxmlformats.org/drawingml/2006/main">
              <a:ext uri="{FF2B5EF4-FFF2-40B4-BE49-F238E27FC236}">
                <a16:creationId xmlns:a16="http://schemas.microsoft.com/office/drawing/2014/main" id="{518F35E6-C754-4786-9DE4-B5DEF875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098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3" name="s2-T">
            <a:extLst xmlns:a="http://schemas.openxmlformats.org/drawingml/2006/main">
              <a:ext uri="{FF2B5EF4-FFF2-40B4-BE49-F238E27FC236}">
                <a16:creationId xmlns:a16="http://schemas.microsoft.com/office/drawing/2014/main" id="{46CFB887-2BCF-48E6-8A42-B5FF97D7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764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4" name="s2-label-A">
            <a:extLst xmlns:a="http://schemas.openxmlformats.org/drawingml/2006/main">
              <a:ext uri="{FF2B5EF4-FFF2-40B4-BE49-F238E27FC236}">
                <a16:creationId xmlns:a16="http://schemas.microsoft.com/office/drawing/2014/main" id="{9AA4D1F1-D043-4100-9C7F-35BF93A3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622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FC0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0D4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15" name="s2-label-q">
            <a:extLst xmlns:a="http://schemas.openxmlformats.org/drawingml/2006/main">
              <a:ext uri="{FF2B5EF4-FFF2-40B4-BE49-F238E27FC236}">
                <a16:creationId xmlns:a16="http://schemas.microsoft.com/office/drawing/2014/main" id="{03FB0707-1E0F-4600-AE77-A57526FD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622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FC0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0D4"/>
                </a:solidFill>
                <a:latin typeface="Arial"/>
                <a:ea typeface="Arial"/>
                <a:cs typeface="Arial"/>
              </a:rPr>
              <a:t>bank share</a:t>
            </a:r>
          </a:p>
        </p:txBody>
      </p:sp>
      <p:sp>
        <p:nvSpPr>
          <p:cNvPr id="16" name="s2-label-T">
            <a:extLst xmlns:a="http://schemas.openxmlformats.org/drawingml/2006/main">
              <a:ext uri="{FF2B5EF4-FFF2-40B4-BE49-F238E27FC236}">
                <a16:creationId xmlns:a16="http://schemas.microsoft.com/office/drawing/2014/main" id="{99AC1A7C-0579-47AC-8EA2-60DE164E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622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FC0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0D4"/>
                </a:solidFill>
                <a:latin typeface="Arial"/>
                <a:ea typeface="Arial"/>
                <a:cs typeface="Arial"/>
              </a:rPr>
              <a:t>total wallet</a:t>
            </a:r>
          </a:p>
        </p:txBody>
      </p:sp>
      <p:sp>
        <p:nvSpPr>
          <p:cNvPr id="17" name="s2-answer">
            <a:extLst xmlns:a="http://schemas.openxmlformats.org/drawingml/2006/main">
              <a:ext uri="{FF2B5EF4-FFF2-40B4-BE49-F238E27FC236}">
                <a16:creationId xmlns:a16="http://schemas.microsoft.com/office/drawing/2014/main" id="{ABFE57E7-66ED-4A3B-A8D3-E848F263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276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Our answer is a claim ladder, not false precision</a:t>
            </a:r>
          </a:p>
        </p:txBody>
      </p:sp>
      <p:cxnSp>
        <p:nvCxnSpPr>
          <p:cNvPr id="112" name="s2-claim-rule-0"/>
          <p:cNvCxnSpPr/>
          <p:nvPr/>
        </p:nvCxnSpPr>
        <p:spPr>
          <a:xfrm xmlns:a="http://schemas.openxmlformats.org/drawingml/2006/main">
            <a:off x="609600" y="44577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B83"/>
            </a:solidFill>
            <a:prstDash val="solid"/>
          </a:ln>
        </p:spPr>
      </p:cxnSp>
      <p:sp>
        <p:nvSpPr>
          <p:cNvPr id="19" name="s2-claim-0">
            <a:extLst xmlns:a="http://schemas.openxmlformats.org/drawingml/2006/main">
              <a:ext uri="{FF2B5EF4-FFF2-40B4-BE49-F238E27FC236}">
                <a16:creationId xmlns:a16="http://schemas.microsoft.com/office/drawing/2014/main" id="{CFBB6198-18CB-432E-A0C6-8CDE8095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B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B83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20" name="s2-claim-copy-0">
            <a:extLst xmlns:a="http://schemas.openxmlformats.org/drawingml/2006/main">
              <a:ext uri="{FF2B5EF4-FFF2-40B4-BE49-F238E27FC236}">
                <a16:creationId xmlns:a16="http://schemas.microsoft.com/office/drawing/2014/main" id="{4E0EF1F7-780E-4EDA-82FD-9CA53E0A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Syn Bank activity</a:t>
            </a:r>
          </a:p>
        </p:txBody>
      </p:sp>
      <p:cxnSp>
        <p:nvCxnSpPr>
          <p:cNvPr id="115" name="s2-claim-rule-1"/>
          <p:cNvCxnSpPr/>
          <p:nvPr/>
        </p:nvCxnSpPr>
        <p:spPr>
          <a:xfrm xmlns:a="http://schemas.openxmlformats.org/drawingml/2006/main">
            <a:off x="2800350" y="44577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63E5"/>
            </a:solidFill>
            <a:prstDash val="solid"/>
          </a:ln>
        </p:spPr>
      </p:cxnSp>
      <p:sp>
        <p:nvSpPr>
          <p:cNvPr id="22" name="s2-claim-1">
            <a:extLst xmlns:a="http://schemas.openxmlformats.org/drawingml/2006/main">
              <a:ext uri="{FF2B5EF4-FFF2-40B4-BE49-F238E27FC236}">
                <a16:creationId xmlns:a16="http://schemas.microsoft.com/office/drawing/2014/main" id="{5477DAEB-1D1D-43B8-BD64-B21B8BCC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67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BOUND</a:t>
            </a:r>
          </a:p>
        </p:txBody>
      </p:sp>
      <p:sp>
        <p:nvSpPr>
          <p:cNvPr id="23" name="s2-claim-copy-1">
            <a:extLst xmlns:a="http://schemas.openxmlformats.org/drawingml/2006/main">
              <a:ext uri="{FF2B5EF4-FFF2-40B4-BE49-F238E27FC236}">
                <a16:creationId xmlns:a16="http://schemas.microsoft.com/office/drawing/2014/main" id="{97728A2D-6367-4E87-9EBA-AC505CD4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101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Assumption-light interval</a:t>
            </a:r>
          </a:p>
        </p:txBody>
      </p:sp>
      <p:cxnSp>
        <p:nvCxnSpPr>
          <p:cNvPr id="118" name="s2-claim-rule-2"/>
          <p:cNvCxnSpPr/>
          <p:nvPr/>
        </p:nvCxnSpPr>
        <p:spPr>
          <a:xfrm xmlns:a="http://schemas.openxmlformats.org/drawingml/2006/main">
            <a:off x="4991100" y="44577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658D6"/>
            </a:solidFill>
            <a:prstDash val="solid"/>
          </a:ln>
        </p:spPr>
      </p:cxnSp>
      <p:sp>
        <p:nvSpPr>
          <p:cNvPr id="25" name="s2-claim-2">
            <a:extLst xmlns:a="http://schemas.openxmlformats.org/drawingml/2006/main">
              <a:ext uri="{FF2B5EF4-FFF2-40B4-BE49-F238E27FC236}">
                <a16:creationId xmlns:a16="http://schemas.microsoft.com/office/drawing/2014/main" id="{29BB9235-B4DB-4989-82C0-33C3C9BD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67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658D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658D6"/>
                </a:solidFill>
                <a:latin typeface="Arial"/>
                <a:ea typeface="Arial"/>
                <a:cs typeface="Arial"/>
              </a:rPr>
              <a:t>POSTERIOR</a:t>
            </a:r>
          </a:p>
        </p:txBody>
      </p:sp>
      <p:sp>
        <p:nvSpPr>
          <p:cNvPr id="26" name="s2-claim-copy-2">
            <a:extLst xmlns:a="http://schemas.openxmlformats.org/drawingml/2006/main">
              <a:ext uri="{FF2B5EF4-FFF2-40B4-BE49-F238E27FC236}">
                <a16:creationId xmlns:a16="http://schemas.microsoft.com/office/drawing/2014/main" id="{0E4F71E8-86F8-4651-A01C-FF745058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101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Prior + evidence</a:t>
            </a:r>
          </a:p>
        </p:txBody>
      </p:sp>
      <p:cxnSp>
        <p:nvCxnSpPr>
          <p:cNvPr id="121" name="s2-claim-rule-3"/>
          <p:cNvCxnSpPr/>
          <p:nvPr/>
        </p:nvCxnSpPr>
        <p:spPr>
          <a:xfrm xmlns:a="http://schemas.openxmlformats.org/drawingml/2006/main">
            <a:off x="7181850" y="44577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2951C"/>
            </a:solidFill>
            <a:prstDash val="solid"/>
          </a:ln>
        </p:spPr>
      </p:cxnSp>
      <p:sp>
        <p:nvSpPr>
          <p:cNvPr id="28" name="s2-claim-3">
            <a:extLst xmlns:a="http://schemas.openxmlformats.org/drawingml/2006/main">
              <a:ext uri="{FF2B5EF4-FFF2-40B4-BE49-F238E27FC236}">
                <a16:creationId xmlns:a16="http://schemas.microsoft.com/office/drawing/2014/main" id="{2BB61529-5E21-40F7-960E-75551A84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67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295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2951C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29" name="s2-claim-copy-3">
            <a:extLst xmlns:a="http://schemas.openxmlformats.org/drawingml/2006/main">
              <a:ext uri="{FF2B5EF4-FFF2-40B4-BE49-F238E27FC236}">
                <a16:creationId xmlns:a16="http://schemas.microsoft.com/office/drawing/2014/main" id="{B9AFB1A5-90F1-470A-9955-8A626CE5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101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Contestable economics</a:t>
            </a:r>
          </a:p>
        </p:txBody>
      </p:sp>
      <p:cxnSp>
        <p:nvCxnSpPr>
          <p:cNvPr id="124" name="s2-claim-rule-4"/>
          <p:cNvCxnSpPr/>
          <p:nvPr/>
        </p:nvCxnSpPr>
        <p:spPr>
          <a:xfrm xmlns:a="http://schemas.openxmlformats.org/drawingml/2006/main">
            <a:off x="9372600" y="44577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C1728"/>
            </a:solidFill>
            <a:prstDash val="solid"/>
          </a:ln>
        </p:spPr>
      </p:cxnSp>
      <p:sp>
        <p:nvSpPr>
          <p:cNvPr id="31" name="s2-claim-4">
            <a:extLst xmlns:a="http://schemas.openxmlformats.org/drawingml/2006/main">
              <a:ext uri="{FF2B5EF4-FFF2-40B4-BE49-F238E27FC236}">
                <a16:creationId xmlns:a16="http://schemas.microsoft.com/office/drawing/2014/main" id="{82F0A2BD-E78C-4ADD-A11E-34E8838B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67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CAUSAL</a:t>
            </a:r>
          </a:p>
        </p:txBody>
      </p:sp>
      <p:sp>
        <p:nvSpPr>
          <p:cNvPr id="32" name="s2-claim-copy-4">
            <a:extLst xmlns:a="http://schemas.openxmlformats.org/drawingml/2006/main">
              <a:ext uri="{FF2B5EF4-FFF2-40B4-BE49-F238E27FC236}">
                <a16:creationId xmlns:a16="http://schemas.microsoft.com/office/drawing/2014/main" id="{7FD44F59-515D-41A5-86B0-211979F2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101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Only after a trial</a:t>
            </a:r>
          </a:p>
        </p:txBody>
      </p:sp>
      <p:sp>
        <p:nvSpPr>
          <p:cNvPr id="33" name="s2-proof">
            <a:extLst xmlns:a="http://schemas.openxmlformats.org/drawingml/2006/main">
              <a:ext uri="{FF2B5EF4-FFF2-40B4-BE49-F238E27FC236}">
                <a16:creationId xmlns:a16="http://schemas.microsoft.com/office/drawing/2014/main" id="{DD7DAA93-F096-44E8-86AE-03B53DA6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2-proof-text">
            <a:extLst xmlns:a="http://schemas.openxmlformats.org/drawingml/2006/main">
              <a:ext uri="{FF2B5EF4-FFF2-40B4-BE49-F238E27FC236}">
                <a16:creationId xmlns:a16="http://schemas.microsoft.com/office/drawing/2014/main" id="{95C5FA8B-5202-408D-8E17-616AD8A8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95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Every ranked value retains evidence tier, as-of time, interval, model version and commercial-input version.</a:t>
            </a:r>
          </a:p>
        </p:txBody>
      </p:sp>
    </p:spTree>
    <p:extLst>
      <p:ext uri="{BB962C8B-B14F-4D97-AF65-F5344CB8AC3E}">
        <p14:creationId xmlns:p14="http://schemas.microsoft.com/office/powerpoint/2010/main" val="660602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4">
            <a:extLst xmlns:a="http://schemas.openxmlformats.org/drawingml/2006/main">
              <a:ext uri="{FF2B5EF4-FFF2-40B4-BE49-F238E27FC236}">
                <a16:creationId xmlns:a16="http://schemas.microsoft.com/office/drawing/2014/main" id="{64B46C33-7E2D-4B8B-A4D3-B62F8571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AUDITABLE CLIENT WALKTHROUGH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98F7544-F60F-4A45-A9C7-0AF14E4C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BHP evidence materially narrows the FX interval</a:t>
            </a:r>
          </a:p>
        </p:txBody>
      </p:sp>
      <p:cxnSp>
        <p:nvCxnSpPr>
          <p:cNvPr id="66" name="title-rule-4"/>
          <p:cNvCxnSpPr/>
          <p:nvPr/>
        </p:nvCxn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</a:ln>
        </p:spPr>
      </p:cxnSp>
      <p:sp>
        <p:nvSpPr>
          <p:cNvPr id="4" name="footer-team-4">
            <a:extLst xmlns:a="http://schemas.openxmlformats.org/drawingml/2006/main">
              <a:ext uri="{FF2B5EF4-FFF2-40B4-BE49-F238E27FC236}">
                <a16:creationId xmlns:a16="http://schemas.microsoft.com/office/drawing/2014/main" id="{77881365-1622-46A1-A7E3-12C10148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TEAM: Corporate Wallet Digital Twin | Christopher Koen | V2.1</a:t>
            </a:r>
          </a:p>
        </p:txBody>
      </p:sp>
      <p:sp>
        <p:nvSpPr>
          <p:cNvPr id="5" name="footer-data-4">
            <a:extLst xmlns:a="http://schemas.openxmlformats.org/drawingml/2006/main">
              <a:ext uri="{FF2B5EF4-FFF2-40B4-BE49-F238E27FC236}">
                <a16:creationId xmlns:a16="http://schemas.microsoft.com/office/drawing/2014/main" id="{7A6A9EC5-91AC-45CF-BAD2-F226210E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SYN BANK SIMULATION + PUBLIC E1 + REPRESENTATIVE BENCHMARKS</a:t>
            </a:r>
          </a:p>
        </p:txBody>
      </p:sp>
      <p:sp>
        <p:nvSpPr>
          <p:cNvPr id="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047AFC96-2F0A-489E-BB29-BCE6C949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70" name="s4-metric-0-rule"/>
          <p:cNvCxnSpPr/>
          <p:nvPr/>
        </p:nvCxnSpPr>
        <p:spPr>
          <a:xfrm xmlns:a="http://schemas.openxmlformats.org/drawingml/2006/main">
            <a:off x="609600" y="169545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B83"/>
            </a:solidFill>
            <a:prstDash val="solid"/>
          </a:ln>
        </p:spPr>
      </p:cxnSp>
      <p:sp>
        <p:nvSpPr>
          <p:cNvPr id="8" name="s4-metric-0-value">
            <a:extLst xmlns:a="http://schemas.openxmlformats.org/drawingml/2006/main">
              <a:ext uri="{FF2B5EF4-FFF2-40B4-BE49-F238E27FC236}">
                <a16:creationId xmlns:a16="http://schemas.microsoft.com/office/drawing/2014/main" id="{471D7B80-2BE0-4A9C-9653-CB9FEA94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R2.1bn</a:t>
            </a:r>
          </a:p>
        </p:txBody>
      </p:sp>
      <p:sp>
        <p:nvSpPr>
          <p:cNvPr id="9" name="s4-metric-0-label">
            <a:extLst xmlns:a="http://schemas.openxmlformats.org/drawingml/2006/main">
              <a:ext uri="{FF2B5EF4-FFF2-40B4-BE49-F238E27FC236}">
                <a16:creationId xmlns:a16="http://schemas.microsoft.com/office/drawing/2014/main" id="{5B267600-FF00-46AF-82C3-28DB5BE7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observed FX activity</a:t>
            </a:r>
          </a:p>
        </p:txBody>
      </p:sp>
      <p:cxnSp>
        <p:nvCxnSpPr>
          <p:cNvPr id="73" name="s4-metric-1-rule"/>
          <p:cNvCxnSpPr/>
          <p:nvPr/>
        </p:nvCxnSpPr>
        <p:spPr>
          <a:xfrm xmlns:a="http://schemas.openxmlformats.org/drawingml/2006/main">
            <a:off x="3333750" y="169545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658D6"/>
            </a:solidFill>
            <a:prstDash val="solid"/>
          </a:ln>
        </p:spPr>
      </p:cxnSp>
      <p:sp>
        <p:nvSpPr>
          <p:cNvPr id="11" name="s4-metric-1-value">
            <a:extLst xmlns:a="http://schemas.openxmlformats.org/drawingml/2006/main">
              <a:ext uri="{FF2B5EF4-FFF2-40B4-BE49-F238E27FC236}">
                <a16:creationId xmlns:a16="http://schemas.microsoft.com/office/drawing/2014/main" id="{55AD5B8C-D57D-4A27-82FF-44CACD05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669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1.7%</a:t>
            </a:r>
          </a:p>
        </p:txBody>
      </p:sp>
      <p:sp>
        <p:nvSpPr>
          <p:cNvPr id="12" name="s4-metric-1-label">
            <a:extLst xmlns:a="http://schemas.openxmlformats.org/drawingml/2006/main">
              <a:ext uri="{FF2B5EF4-FFF2-40B4-BE49-F238E27FC236}">
                <a16:creationId xmlns:a16="http://schemas.microsoft.com/office/drawing/2014/main" id="{D301783A-C462-4C6E-B904-CE81FDA0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posterior share median</a:t>
            </a:r>
          </a:p>
        </p:txBody>
      </p:sp>
      <p:cxnSp>
        <p:nvCxnSpPr>
          <p:cNvPr id="76" name="s4-metric-2-rule"/>
          <p:cNvCxnSpPr/>
          <p:nvPr/>
        </p:nvCxnSpPr>
        <p:spPr>
          <a:xfrm xmlns:a="http://schemas.openxmlformats.org/drawingml/2006/main">
            <a:off x="6057900" y="169545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63E5"/>
            </a:solidFill>
            <a:prstDash val="solid"/>
          </a:ln>
        </p:spPr>
      </p:cxnSp>
      <p:sp>
        <p:nvSpPr>
          <p:cNvPr id="14" name="s4-metric-2-value">
            <a:extLst xmlns:a="http://schemas.openxmlformats.org/drawingml/2006/main">
              <a:ext uri="{FF2B5EF4-FFF2-40B4-BE49-F238E27FC236}">
                <a16:creationId xmlns:a16="http://schemas.microsoft.com/office/drawing/2014/main" id="{54DA09E9-056B-45AC-9E49-012471EC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669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R119.5bn</a:t>
            </a:r>
          </a:p>
        </p:txBody>
      </p:sp>
      <p:sp>
        <p:nvSpPr>
          <p:cNvPr id="15" name="s4-metric-2-label">
            <a:extLst xmlns:a="http://schemas.openxmlformats.org/drawingml/2006/main">
              <a:ext uri="{FF2B5EF4-FFF2-40B4-BE49-F238E27FC236}">
                <a16:creationId xmlns:a16="http://schemas.microsoft.com/office/drawing/2014/main" id="{B0A49545-6433-474C-A7D4-5895E9E0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0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wallet median</a:t>
            </a:r>
          </a:p>
        </p:txBody>
      </p:sp>
      <p:cxnSp>
        <p:nvCxnSpPr>
          <p:cNvPr id="79" name="s4-metric-3-rule"/>
          <p:cNvCxnSpPr/>
          <p:nvPr/>
        </p:nvCxnSpPr>
        <p:spPr>
          <a:xfrm xmlns:a="http://schemas.openxmlformats.org/drawingml/2006/main">
            <a:off x="8991600" y="1695450"/>
            <a:ext cx="20764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2951C"/>
            </a:solidFill>
            <a:prstDash val="solid"/>
          </a:ln>
        </p:spPr>
      </p:cxnSp>
      <p:sp>
        <p:nvSpPr>
          <p:cNvPr id="17" name="s4-metric-3-value">
            <a:extLst xmlns:a="http://schemas.openxmlformats.org/drawingml/2006/main">
              <a:ext uri="{FF2B5EF4-FFF2-40B4-BE49-F238E27FC236}">
                <a16:creationId xmlns:a16="http://schemas.microsoft.com/office/drawing/2014/main" id="{17D333A7-8BB8-4EB8-A37A-A9C6852D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669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R45.4m</a:t>
            </a:r>
          </a:p>
        </p:txBody>
      </p:sp>
      <p:sp>
        <p:nvSpPr>
          <p:cNvPr id="18" name="s4-metric-3-label">
            <a:extLst xmlns:a="http://schemas.openxmlformats.org/drawingml/2006/main">
              <a:ext uri="{FF2B5EF4-FFF2-40B4-BE49-F238E27FC236}">
                <a16:creationId xmlns:a16="http://schemas.microsoft.com/office/drawing/2014/main" id="{973AA499-4B1A-4371-90AF-61ED6BE3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03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scenario gap median</a:t>
            </a:r>
          </a:p>
        </p:txBody>
      </p:sp>
      <p:sp>
        <p:nvSpPr>
          <p:cNvPr id="19" name="s4-width-title">
            <a:extLst xmlns:a="http://schemas.openxmlformats.org/drawingml/2006/main">
              <a:ext uri="{FF2B5EF4-FFF2-40B4-BE49-F238E27FC236}">
                <a16:creationId xmlns:a16="http://schemas.microsoft.com/office/drawing/2014/main" id="{462CD5B9-592C-43E0-900D-5E1A9EDC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Relative wallet interval width</a:t>
            </a:r>
          </a:p>
        </p:txBody>
      </p:sp>
      <p:sp>
        <p:nvSpPr>
          <p:cNvPr id="20" name="s4-prior-label">
            <a:extLst xmlns:a="http://schemas.openxmlformats.org/drawingml/2006/main">
              <a:ext uri="{FF2B5EF4-FFF2-40B4-BE49-F238E27FC236}">
                <a16:creationId xmlns:a16="http://schemas.microsoft.com/office/drawing/2014/main" id="{729454E5-2EFA-4501-8514-C2DAD97B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Prior-led</a:t>
            </a:r>
          </a:p>
        </p:txBody>
      </p:sp>
      <p:sp>
        <p:nvSpPr>
          <p:cNvPr id="21" name="s4-prior-bar">
            <a:extLst xmlns:a="http://schemas.openxmlformats.org/drawingml/2006/main">
              <a:ext uri="{FF2B5EF4-FFF2-40B4-BE49-F238E27FC236}">
                <a16:creationId xmlns:a16="http://schemas.microsoft.com/office/drawing/2014/main" id="{BFF89913-DF3A-444E-B3A3-3A012D25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95725"/>
            <a:ext cx="400823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4-prior-value">
            <a:extLst xmlns:a="http://schemas.openxmlformats.org/drawingml/2006/main">
              <a:ext uri="{FF2B5EF4-FFF2-40B4-BE49-F238E27FC236}">
                <a16:creationId xmlns:a16="http://schemas.microsoft.com/office/drawing/2014/main" id="{86C2AA56-5139-4B01-929B-A847922C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0885" y="39147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1.08</a:t>
            </a:r>
          </a:p>
        </p:txBody>
      </p:sp>
      <p:sp>
        <p:nvSpPr>
          <p:cNvPr id="23" name="s4-anchor-label">
            <a:extLst xmlns:a="http://schemas.openxmlformats.org/drawingml/2006/main">
              <a:ext uri="{FF2B5EF4-FFF2-40B4-BE49-F238E27FC236}">
                <a16:creationId xmlns:a16="http://schemas.microsoft.com/office/drawing/2014/main" id="{D367DBF4-489C-47CC-A0E1-E1CFDFED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With FX anchor</a:t>
            </a:r>
          </a:p>
        </p:txBody>
      </p:sp>
      <p:sp>
        <p:nvSpPr>
          <p:cNvPr id="24" name="s4-anchor-bar">
            <a:extLst xmlns:a="http://schemas.openxmlformats.org/drawingml/2006/main">
              <a:ext uri="{FF2B5EF4-FFF2-40B4-BE49-F238E27FC236}">
                <a16:creationId xmlns:a16="http://schemas.microsoft.com/office/drawing/2014/main" id="{A79DB92D-BA24-4330-BF70-69C2A6C2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00550"/>
            <a:ext cx="2357411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4-anchor-value">
            <a:extLst xmlns:a="http://schemas.openxmlformats.org/drawingml/2006/main">
              <a:ext uri="{FF2B5EF4-FFF2-40B4-BE49-F238E27FC236}">
                <a16:creationId xmlns:a16="http://schemas.microsoft.com/office/drawing/2014/main" id="{F904B4D9-50BC-43B4-BDB2-8306BFAC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61" y="44196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0.63</a:t>
            </a:r>
          </a:p>
        </p:txBody>
      </p:sp>
      <p:sp>
        <p:nvSpPr>
          <p:cNvPr id="26" name="s4-reduction">
            <a:extLst xmlns:a="http://schemas.openxmlformats.org/drawingml/2006/main">
              <a:ext uri="{FF2B5EF4-FFF2-40B4-BE49-F238E27FC236}">
                <a16:creationId xmlns:a16="http://schemas.microsoft.com/office/drawing/2014/main" id="{B1FA3B63-F0ED-45C0-850E-8F885B6A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8B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B83"/>
                </a:solidFill>
                <a:latin typeface="Arial"/>
                <a:ea typeface="Arial"/>
                <a:cs typeface="Arial"/>
              </a:rPr>
              <a:t>-41% width</a:t>
            </a:r>
          </a:p>
        </p:txBody>
      </p:sp>
      <p:sp>
        <p:nvSpPr>
          <p:cNvPr id="27" name="s4-confidence">
            <a:extLst xmlns:a="http://schemas.openxmlformats.org/drawingml/2006/main">
              <a:ext uri="{FF2B5EF4-FFF2-40B4-BE49-F238E27FC236}">
                <a16:creationId xmlns:a16="http://schemas.microsoft.com/office/drawing/2014/main" id="{AD71BB58-5451-415C-A65B-7E2B3B63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96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+26% confidence</a:t>
            </a:r>
          </a:p>
        </p:txBody>
      </p:sp>
      <p:sp>
        <p:nvSpPr>
          <p:cNvPr id="28" name="s4-source">
            <a:extLst xmlns:a="http://schemas.openxmlformats.org/drawingml/2006/main">
              <a:ext uri="{FF2B5EF4-FFF2-40B4-BE49-F238E27FC236}">
                <a16:creationId xmlns:a16="http://schemas.microsoft.com/office/drawing/2014/main" id="{D55FD589-17F0-44D3-814C-C5BAB73B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81375"/>
            <a:ext cx="4210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4-source-label">
            <a:extLst xmlns:a="http://schemas.openxmlformats.org/drawingml/2006/main">
              <a:ext uri="{FF2B5EF4-FFF2-40B4-BE49-F238E27FC236}">
                <a16:creationId xmlns:a16="http://schemas.microsoft.com/office/drawing/2014/main" id="{217A931D-007D-4A0C-95F0-73CED7F3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576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POINT-IN-TIME ANCHOR</a:t>
            </a:r>
          </a:p>
        </p:txBody>
      </p:sp>
      <p:sp>
        <p:nvSpPr>
          <p:cNvPr id="30" name="s4-source-title">
            <a:extLst xmlns:a="http://schemas.openxmlformats.org/drawingml/2006/main">
              <a:ext uri="{FF2B5EF4-FFF2-40B4-BE49-F238E27FC236}">
                <a16:creationId xmlns:a16="http://schemas.microsoft.com/office/drawing/2014/main" id="{717E2732-ABDA-4271-828C-FF41065E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576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54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Audited multi-currency revenue</a:t>
            </a:r>
          </a:p>
        </p:txBody>
      </p:sp>
      <p:sp>
        <p:nvSpPr>
          <p:cNvPr id="31" name="s4-source-body">
            <a:extLst xmlns:a="http://schemas.openxmlformats.org/drawingml/2006/main">
              <a:ext uri="{FF2B5EF4-FFF2-40B4-BE49-F238E27FC236}">
                <a16:creationId xmlns:a16="http://schemas.microsoft.com/office/drawing/2014/main" id="{03CA8EDD-6632-477C-9108-94487E5C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24400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BHP Annual Report 2025 p.160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Period end: 30 June 2025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Available: 19 August 2025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Currency, unit and FX policy retained</a:t>
            </a:r>
          </a:p>
        </p:txBody>
      </p:sp>
    </p:spTree>
    <p:extLst>
      <p:ext uri="{BB962C8B-B14F-4D97-AF65-F5344CB8AC3E}">
        <p14:creationId xmlns:p14="http://schemas.microsoft.com/office/powerpoint/2010/main" val="3063253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3">
            <a:extLst xmlns:a="http://schemas.openxmlformats.org/drawingml/2006/main">
              <a:ext uri="{FF2B5EF4-FFF2-40B4-BE49-F238E27FC236}">
                <a16:creationId xmlns:a16="http://schemas.microsoft.com/office/drawing/2014/main" id="{DB96CD3A-1E7F-4E39-8563-2A8FCC81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PORTFOLIO ACTION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9E2380B-3F18-4D04-8779-0746FA66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The first call is Glencore Trade Finance</a:t>
            </a:r>
          </a:p>
        </p:txBody>
      </p:sp>
      <p:cxnSp>
        <p:nvCxnSpPr>
          <p:cNvPr id="29" name="title-rule-3"/>
          <p:cNvCxnSpPr/>
          <p:nvPr/>
        </p:nvCxn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</a:ln>
        </p:spPr>
      </p:cxnSp>
      <p:sp>
        <p:nvSpPr>
          <p:cNvPr id="4" name="footer-team-3">
            <a:extLst xmlns:a="http://schemas.openxmlformats.org/drawingml/2006/main">
              <a:ext uri="{FF2B5EF4-FFF2-40B4-BE49-F238E27FC236}">
                <a16:creationId xmlns:a16="http://schemas.microsoft.com/office/drawing/2014/main" id="{FB76B7B5-7A94-4AF1-AC18-2035EA55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TEAM: Corporate Wallet Digital Twin | Christopher Koen | V2.1</a:t>
            </a:r>
          </a:p>
        </p:txBody>
      </p:sp>
      <p:sp>
        <p:nvSpPr>
          <p:cNvPr id="5" name="footer-data-3">
            <a:extLst xmlns:a="http://schemas.openxmlformats.org/drawingml/2006/main">
              <a:ext uri="{FF2B5EF4-FFF2-40B4-BE49-F238E27FC236}">
                <a16:creationId xmlns:a16="http://schemas.microsoft.com/office/drawing/2014/main" id="{47F0181D-B66B-42CD-886C-F10642F3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SYN BANK SIMULATION + PUBLIC E1 + REPRESENTATIVE BENCHMARKS</a:t>
            </a:r>
          </a:p>
        </p:txBody>
      </p:sp>
      <p:sp>
        <p:nvSpPr>
          <p:cNvPr id="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3755CAB3-69BB-4DDC-B760-2B277FFC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s3-callout">
            <a:extLst xmlns:a="http://schemas.openxmlformats.org/drawingml/2006/main">
              <a:ext uri="{FF2B5EF4-FFF2-40B4-BE49-F238E27FC236}">
                <a16:creationId xmlns:a16="http://schemas.microsoft.com/office/drawing/2014/main" id="{2F6A0AD1-A0C7-4888-BC49-5191B713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37338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call-label">
            <a:extLst xmlns:a="http://schemas.openxmlformats.org/drawingml/2006/main">
              <a:ext uri="{FF2B5EF4-FFF2-40B4-BE49-F238E27FC236}">
                <a16:creationId xmlns:a16="http://schemas.microsoft.com/office/drawing/2014/main" id="{BA89A36E-DEBD-4EBC-BA47-B6F0F9B0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NEXT CONVERSATION</a:t>
            </a:r>
          </a:p>
        </p:txBody>
      </p:sp>
      <p:sp>
        <p:nvSpPr>
          <p:cNvPr id="9" name="s3-call-client">
            <a:extLst xmlns:a="http://schemas.openxmlformats.org/drawingml/2006/main">
              <a:ext uri="{FF2B5EF4-FFF2-40B4-BE49-F238E27FC236}">
                <a16:creationId xmlns:a16="http://schemas.microsoft.com/office/drawing/2014/main" id="{9BCCEBC6-96B5-4B48-AE4B-F50A18AB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Glencore</a:t>
            </a:r>
          </a:p>
        </p:txBody>
      </p:sp>
      <p:sp>
        <p:nvSpPr>
          <p:cNvPr id="10" name="s3-call-product">
            <a:extLst xmlns:a="http://schemas.openxmlformats.org/drawingml/2006/main">
              <a:ext uri="{FF2B5EF4-FFF2-40B4-BE49-F238E27FC236}">
                <a16:creationId xmlns:a16="http://schemas.microsoft.com/office/drawing/2014/main" id="{EA04A63B-AEAF-41AB-8A77-755C38A3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Trade Finance</a:t>
            </a:r>
          </a:p>
        </p:txBody>
      </p:sp>
      <p:sp>
        <p:nvSpPr>
          <p:cNvPr id="11" name="s3-call-gap">
            <a:extLst xmlns:a="http://schemas.openxmlformats.org/drawingml/2006/main">
              <a:ext uri="{FF2B5EF4-FFF2-40B4-BE49-F238E27FC236}">
                <a16:creationId xmlns:a16="http://schemas.microsoft.com/office/drawing/2014/main" id="{AAE8C7D2-DDA2-48AA-9905-B1AAEF93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E2951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2951C"/>
                </a:solidFill>
                <a:latin typeface="Arial"/>
                <a:ea typeface="Arial"/>
                <a:cs typeface="Arial"/>
              </a:rPr>
              <a:t>R146.6m</a:t>
            </a:r>
          </a:p>
        </p:txBody>
      </p:sp>
      <p:sp>
        <p:nvSpPr>
          <p:cNvPr id="12" name="s3-call-gap-label">
            <a:extLst xmlns:a="http://schemas.openxmlformats.org/drawingml/2006/main">
              <a:ext uri="{FF2B5EF4-FFF2-40B4-BE49-F238E27FC236}">
                <a16:creationId xmlns:a16="http://schemas.microsoft.com/office/drawing/2014/main" id="{037CDF15-CF86-445E-B3F4-0D4388E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767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8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8D9"/>
                </a:solidFill>
                <a:latin typeface="Arial"/>
                <a:ea typeface="Arial"/>
                <a:cs typeface="Arial"/>
              </a:rPr>
              <a:t>median scenario contribution gap</a:t>
            </a:r>
          </a:p>
        </p:txBody>
      </p:sp>
      <p:sp>
        <p:nvSpPr>
          <p:cNvPr id="13" name="s3-call-confidence">
            <a:extLst xmlns:a="http://schemas.openxmlformats.org/drawingml/2006/main">
              <a:ext uri="{FF2B5EF4-FFF2-40B4-BE49-F238E27FC236}">
                <a16:creationId xmlns:a16="http://schemas.microsoft.com/office/drawing/2014/main" id="{1CE0D2C4-F31E-4632-A74F-E18D5CA1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910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8B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B83"/>
                </a:solidFill>
                <a:latin typeface="Arial"/>
                <a:ea typeface="Arial"/>
                <a:cs typeface="Arial"/>
              </a:rPr>
              <a:t>100% P(top 10) | E1 anchor</a:t>
            </a:r>
          </a:p>
        </p:txBody>
      </p:sp>
      <p:sp>
        <p:nvSpPr>
          <p:cNvPr id="14" name="s3-call-action">
            <a:extLst xmlns:a="http://schemas.openxmlformats.org/drawingml/2006/main">
              <a:ext uri="{FF2B5EF4-FFF2-40B4-BE49-F238E27FC236}">
                <a16:creationId xmlns:a16="http://schemas.microsoft.com/office/drawing/2014/main" id="{49769E56-10AC-4313-80BD-0D6231B5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 instrument mix and competitor concentration before meeting the client.</a:t>
            </a:r>
          </a:p>
        </p:txBody>
      </p:sp>
      <p:sp>
        <p:nvSpPr>
          <p:cNvPr id="15" name="s3-chart-title">
            <a:extLst xmlns:a="http://schemas.openxmlformats.org/drawingml/2006/main">
              <a:ext uri="{FF2B5EF4-FFF2-40B4-BE49-F238E27FC236}">
                <a16:creationId xmlns:a16="http://schemas.microsoft.com/office/drawing/2014/main" id="{2FB44F9E-CE69-47D5-911F-7717D3FC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33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Top five uncertainty-adjusted opportunities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4762500" y="2152650"/>
          <a:ext xmlns:a="http://schemas.openxmlformats.org/drawingml/2006/main" cx="6477000" cy="2990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03ffc3e7444dbf"/>
          </a:graphicData>
        </a:graphic>
      </p:graphicFrame>
      <p:sp>
        <p:nvSpPr>
          <p:cNvPr id="17" name="s3-pack">
            <a:extLst xmlns:a="http://schemas.openxmlformats.org/drawingml/2006/main">
              <a:ext uri="{FF2B5EF4-FFF2-40B4-BE49-F238E27FC236}">
                <a16:creationId xmlns:a16="http://schemas.microsoft.com/office/drawing/2014/main" id="{A0BA89EC-03A0-489C-9FAB-3DC2CCCD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81625"/>
            <a:ext cx="647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3-pack-copy">
            <a:extLst xmlns:a="http://schemas.openxmlformats.org/drawingml/2006/main">
              <a:ext uri="{FF2B5EF4-FFF2-40B4-BE49-F238E27FC236}">
                <a16:creationId xmlns:a16="http://schemas.microsoft.com/office/drawing/2014/main" id="{0F79E16E-B685-49A1-995B-FEBBD318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435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33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The recommendation pack supplies who, product, interval, evidence, timing window and the exact assumption to verify.</a:t>
            </a:r>
          </a:p>
        </p:txBody>
      </p:sp>
    </p:spTree>
    <p:extLst>
      <p:ext uri="{BB962C8B-B14F-4D97-AF65-F5344CB8AC3E}">
        <p14:creationId xmlns:p14="http://schemas.microsoft.com/office/powerpoint/2010/main" val="6695934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9">
            <a:extLst xmlns:a="http://schemas.openxmlformats.org/drawingml/2006/main">
              <a:ext uri="{FF2B5EF4-FFF2-40B4-BE49-F238E27FC236}">
                <a16:creationId xmlns:a16="http://schemas.microsoft.com/office/drawing/2014/main" id="{AEA04869-C248-4640-A9DA-040442CB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WHEN TO ACT AND WHAT NOT TO CLAIM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ED2E1053-3615-4884-B6E2-9C37667D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Timing is usable; causal value stays prohibited</a:t>
            </a:r>
          </a:p>
        </p:txBody>
      </p:sp>
      <p:cxnSp>
        <p:nvCxnSpPr>
          <p:cNvPr id="57" name="title-rule-9"/>
          <p:cNvCxnSpPr/>
          <p:nvPr/>
        </p:nvCxn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</a:ln>
        </p:spPr>
      </p:cxnSp>
      <p:sp>
        <p:nvSpPr>
          <p:cNvPr id="4" name="footer-team-9">
            <a:extLst xmlns:a="http://schemas.openxmlformats.org/drawingml/2006/main">
              <a:ext uri="{FF2B5EF4-FFF2-40B4-BE49-F238E27FC236}">
                <a16:creationId xmlns:a16="http://schemas.microsoft.com/office/drawing/2014/main" id="{09B569FE-EC46-4739-A23C-0E8BA5B0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TEAM: Corporate Wallet Digital Twin | Christopher Koen | V2.1</a:t>
            </a:r>
          </a:p>
        </p:txBody>
      </p:sp>
      <p:sp>
        <p:nvSpPr>
          <p:cNvPr id="5" name="footer-data-9">
            <a:extLst xmlns:a="http://schemas.openxmlformats.org/drawingml/2006/main">
              <a:ext uri="{FF2B5EF4-FFF2-40B4-BE49-F238E27FC236}">
                <a16:creationId xmlns:a16="http://schemas.microsoft.com/office/drawing/2014/main" id="{1D9BB471-1373-4910-88AA-D5BFA073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SYN BANK SIMULATION + PUBLIC E1 + REPRESENTATIVE BENCHMARKS</a:t>
            </a:r>
          </a:p>
        </p:txBody>
      </p:sp>
      <p:sp>
        <p:nvSpPr>
          <p:cNvPr id="6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5C2765E7-8EB9-4173-8492-9E0D141D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s9-timing-label">
            <a:extLst xmlns:a="http://schemas.openxmlformats.org/drawingml/2006/main">
              <a:ext uri="{FF2B5EF4-FFF2-40B4-BE49-F238E27FC236}">
                <a16:creationId xmlns:a16="http://schemas.microsoft.com/office/drawing/2014/main" id="{665320DC-9237-4027-AB7A-F67E83C6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TRANSACTION-DERIVED EVENT PROBABILITY</a:t>
            </a:r>
          </a:p>
        </p:txBody>
      </p:sp>
      <p:cxnSp>
        <p:nvCxnSpPr>
          <p:cNvPr id="62" name="s9-h-rule-0"/>
          <p:cNvCxnSpPr/>
          <p:nvPr/>
        </p:nvCxnSpPr>
        <p:spPr>
          <a:xfrm xmlns:a="http://schemas.openxmlformats.org/drawingml/2006/main">
            <a:off x="609600" y="21812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63E5"/>
            </a:solidFill>
            <a:prstDash val="solid"/>
          </a:ln>
        </p:spPr>
      </p:cxnSp>
      <p:sp>
        <p:nvSpPr>
          <p:cNvPr id="9" name="s9-h-value-0">
            <a:extLst xmlns:a="http://schemas.openxmlformats.org/drawingml/2006/main">
              <a:ext uri="{FF2B5EF4-FFF2-40B4-BE49-F238E27FC236}">
                <a16:creationId xmlns:a16="http://schemas.microsoft.com/office/drawing/2014/main" id="{4113595E-E315-4B4B-A0B6-4802DD0C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12.6%</a:t>
            </a:r>
          </a:p>
        </p:txBody>
      </p:sp>
      <p:sp>
        <p:nvSpPr>
          <p:cNvPr id="10" name="s9-h-label-0">
            <a:extLst xmlns:a="http://schemas.openxmlformats.org/drawingml/2006/main">
              <a:ext uri="{FF2B5EF4-FFF2-40B4-BE49-F238E27FC236}">
                <a16:creationId xmlns:a16="http://schemas.microsoft.com/office/drawing/2014/main" id="{8ED26689-4EAE-4337-B424-E5AD434A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30 DAYS</a:t>
            </a:r>
          </a:p>
        </p:txBody>
      </p:sp>
      <p:cxnSp>
        <p:nvCxnSpPr>
          <p:cNvPr id="65" name="s9-h-rule-1"/>
          <p:cNvCxnSpPr/>
          <p:nvPr/>
        </p:nvCxnSpPr>
        <p:spPr>
          <a:xfrm xmlns:a="http://schemas.openxmlformats.org/drawingml/2006/main">
            <a:off x="2743200" y="21812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B83"/>
            </a:solidFill>
            <a:prstDash val="solid"/>
          </a:ln>
        </p:spPr>
      </p:cxnSp>
      <p:sp>
        <p:nvSpPr>
          <p:cNvPr id="12" name="s9-h-value-1">
            <a:extLst xmlns:a="http://schemas.openxmlformats.org/drawingml/2006/main">
              <a:ext uri="{FF2B5EF4-FFF2-40B4-BE49-F238E27FC236}">
                <a16:creationId xmlns:a16="http://schemas.microsoft.com/office/drawing/2014/main" id="{355CD3AB-9BE9-491B-9D3E-DA868F3C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003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13" name="s9-h-label-1">
            <a:extLst xmlns:a="http://schemas.openxmlformats.org/drawingml/2006/main">
              <a:ext uri="{FF2B5EF4-FFF2-40B4-BE49-F238E27FC236}">
                <a16:creationId xmlns:a16="http://schemas.microsoft.com/office/drawing/2014/main" id="{0EB1E1EB-448E-4A8C-BBB4-108BC7A0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43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8B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B83"/>
                </a:solidFill>
                <a:latin typeface="Arial"/>
                <a:ea typeface="Arial"/>
                <a:cs typeface="Arial"/>
              </a:rPr>
              <a:t>60 DAYS</a:t>
            </a:r>
          </a:p>
        </p:txBody>
      </p:sp>
      <p:cxnSp>
        <p:nvCxnSpPr>
          <p:cNvPr id="68" name="s9-h-rule-2"/>
          <p:cNvCxnSpPr/>
          <p:nvPr/>
        </p:nvCxnSpPr>
        <p:spPr>
          <a:xfrm xmlns:a="http://schemas.openxmlformats.org/drawingml/2006/main">
            <a:off x="4876800" y="21812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658D6"/>
            </a:solidFill>
            <a:prstDash val="solid"/>
          </a:ln>
        </p:spPr>
      </p:cxnSp>
      <p:sp>
        <p:nvSpPr>
          <p:cNvPr id="15" name="s9-h-value-2">
            <a:extLst xmlns:a="http://schemas.openxmlformats.org/drawingml/2006/main">
              <a:ext uri="{FF2B5EF4-FFF2-40B4-BE49-F238E27FC236}">
                <a16:creationId xmlns:a16="http://schemas.microsoft.com/office/drawing/2014/main" id="{83D75E51-677F-4C91-8292-646D579A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003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33.1%</a:t>
            </a:r>
          </a:p>
        </p:txBody>
      </p:sp>
      <p:sp>
        <p:nvSpPr>
          <p:cNvPr id="16" name="s9-h-label-2">
            <a:extLst xmlns:a="http://schemas.openxmlformats.org/drawingml/2006/main">
              <a:ext uri="{FF2B5EF4-FFF2-40B4-BE49-F238E27FC236}">
                <a16:creationId xmlns:a16="http://schemas.microsoft.com/office/drawing/2014/main" id="{B46A99CE-8D74-42B7-B68D-EC1F8B8B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43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658D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58D6"/>
                </a:solidFill>
                <a:latin typeface="Arial"/>
                <a:ea typeface="Arial"/>
                <a:cs typeface="Arial"/>
              </a:rPr>
              <a:t>90 DAYS</a:t>
            </a:r>
          </a:p>
        </p:txBody>
      </p:sp>
      <p:sp>
        <p:nvSpPr>
          <p:cNvPr id="17" name="s9-timing-boundary">
            <a:extLst xmlns:a="http://schemas.openxmlformats.org/drawingml/2006/main">
              <a:ext uri="{FF2B5EF4-FFF2-40B4-BE49-F238E27FC236}">
                <a16:creationId xmlns:a16="http://schemas.microsoft.com/office/drawing/2014/main" id="{32B7DD4B-06EA-40FE-BF15-A46B4B09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096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9-timing-title">
            <a:extLst xmlns:a="http://schemas.openxmlformats.org/drawingml/2006/main">
              <a:ext uri="{FF2B5EF4-FFF2-40B4-BE49-F238E27FC236}">
                <a16:creationId xmlns:a16="http://schemas.microsoft.com/office/drawing/2014/main" id="{DE5A29E3-C09B-4769-A0A0-CE7C77C6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3,440 start-stop intervals</a:t>
            </a:r>
          </a:p>
        </p:txBody>
      </p:sp>
      <p:sp>
        <p:nvSpPr>
          <p:cNvPr id="19" name="s9-timing-copy">
            <a:extLst xmlns:a="http://schemas.openxmlformats.org/drawingml/2006/main">
              <a:ext uri="{FF2B5EF4-FFF2-40B4-BE49-F238E27FC236}">
                <a16:creationId xmlns:a16="http://schemas.microsoft.com/office/drawing/2014/main" id="{92E94F2A-4684-4AD6-9F5A-912A1842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0075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Activation, dormancy and volume-uplift events support a transparent seasonal baseline and named 30/60/90-day windows.</a:t>
            </a:r>
          </a:p>
        </p:txBody>
      </p:sp>
      <p:sp>
        <p:nvSpPr>
          <p:cNvPr id="20" name="s9-timing-decision">
            <a:extLst xmlns:a="http://schemas.openxmlformats.org/drawingml/2006/main">
              <a:ext uri="{FF2B5EF4-FFF2-40B4-BE49-F238E27FC236}">
                <a16:creationId xmlns:a16="http://schemas.microsoft.com/office/drawing/2014/main" id="{B4558216-3A90-4FBB-8AE9-6DFFDE61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Decision: retain seasonal baseline</a:t>
            </a:r>
          </a:p>
        </p:txBody>
      </p:sp>
      <p:sp>
        <p:nvSpPr>
          <p:cNvPr id="21" name="s9-causal">
            <a:extLst xmlns:a="http://schemas.openxmlformats.org/drawingml/2006/main">
              <a:ext uri="{FF2B5EF4-FFF2-40B4-BE49-F238E27FC236}">
                <a16:creationId xmlns:a16="http://schemas.microsoft.com/office/drawing/2014/main" id="{DEB653AE-6340-4A85-A7AD-6C6F5848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133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9-causal-label">
            <a:extLst xmlns:a="http://schemas.openxmlformats.org/drawingml/2006/main">
              <a:ext uri="{FF2B5EF4-FFF2-40B4-BE49-F238E27FC236}">
                <a16:creationId xmlns:a16="http://schemas.microsoft.com/office/drawing/2014/main" id="{56CCB79D-2F4C-4071-AA99-A2CAF5C9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97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CAUSAL GATE</a:t>
            </a:r>
          </a:p>
        </p:txBody>
      </p:sp>
      <p:sp>
        <p:nvSpPr>
          <p:cNvPr id="23" name="s9-zero">
            <a:extLst xmlns:a="http://schemas.openxmlformats.org/drawingml/2006/main">
              <a:ext uri="{FF2B5EF4-FFF2-40B4-BE49-F238E27FC236}">
                <a16:creationId xmlns:a16="http://schemas.microsoft.com/office/drawing/2014/main" id="{1BC298F3-8F98-44E8-90B8-57C6524E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28875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29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E2951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2951C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s9-zero-label">
            <a:extLst xmlns:a="http://schemas.openxmlformats.org/drawingml/2006/main">
              <a:ext uri="{FF2B5EF4-FFF2-40B4-BE49-F238E27FC236}">
                <a16:creationId xmlns:a16="http://schemas.microsoft.com/office/drawing/2014/main" id="{015FB61A-4EB2-49A8-A191-3C22BB98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623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qualified RM outcomes</a:t>
            </a:r>
          </a:p>
        </p:txBody>
      </p:sp>
      <p:sp>
        <p:nvSpPr>
          <p:cNvPr id="25" name="s9-trial">
            <a:extLst xmlns:a="http://schemas.openxmlformats.org/drawingml/2006/main">
              <a:ext uri="{FF2B5EF4-FFF2-40B4-BE49-F238E27FC236}">
                <a16:creationId xmlns:a16="http://schemas.microsoft.com/office/drawing/2014/main" id="{3EEF729C-9646-4DF9-9693-A1846778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433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7D5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5E8"/>
                </a:solidFill>
                <a:latin typeface="Arial"/>
                <a:ea typeface="Arial"/>
                <a:cs typeface="Arial"/>
              </a:rPr>
              <a:t>Trial instrumentation rehearsed: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7D5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5E8"/>
                </a:solidFill>
                <a:latin typeface="Arial"/>
                <a:ea typeface="Arial"/>
                <a:cs typeface="Arial"/>
              </a:rPr>
              <a:t>30 clusters | 1,500 eligible opportunities</a:t>
            </a:r>
          </a:p>
        </p:txBody>
      </p:sp>
      <p:sp>
        <p:nvSpPr>
          <p:cNvPr id="26" name="s9-prohibit">
            <a:extLst xmlns:a="http://schemas.openxmlformats.org/drawingml/2006/main">
              <a:ext uri="{FF2B5EF4-FFF2-40B4-BE49-F238E27FC236}">
                <a16:creationId xmlns:a16="http://schemas.microsoft.com/office/drawing/2014/main" id="{4A94FD06-8ED0-40F6-8A16-897B0CC0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10125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uplift, optimal-share or causal incremental-value label is permitted.</a:t>
            </a:r>
          </a:p>
        </p:txBody>
      </p:sp>
    </p:spTree>
    <p:extLst>
      <p:ext uri="{BB962C8B-B14F-4D97-AF65-F5344CB8AC3E}">
        <p14:creationId xmlns:p14="http://schemas.microsoft.com/office/powerpoint/2010/main" val="20822714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-5">
            <a:extLst xmlns:a="http://schemas.openxmlformats.org/drawingml/2006/main">
              <a:ext uri="{FF2B5EF4-FFF2-40B4-BE49-F238E27FC236}">
                <a16:creationId xmlns:a16="http://schemas.microsoft.com/office/drawing/2014/main" id="{DF3A7B03-9B14-4428-9350-9C1DB6E6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EVIDENCE EXPANSION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9D3F8B3-4F30-4E76-B0B2-215D588E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E1 evidence now covers all 20 relationships</a:t>
            </a:r>
          </a:p>
        </p:txBody>
      </p:sp>
      <p:cxnSp>
        <p:nvCxnSpPr>
          <p:cNvPr id="116" name="title-rule-5"/>
          <p:cNvCxnSpPr/>
          <p:nvPr/>
        </p:nvCxn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</a:ln>
        </p:spPr>
      </p:cxnSp>
      <p:sp>
        <p:nvSpPr>
          <p:cNvPr id="4" name="footer-team-5">
            <a:extLst xmlns:a="http://schemas.openxmlformats.org/drawingml/2006/main">
              <a:ext uri="{FF2B5EF4-FFF2-40B4-BE49-F238E27FC236}">
                <a16:creationId xmlns:a16="http://schemas.microsoft.com/office/drawing/2014/main" id="{BCEC2F98-6E60-4FFE-98F2-07141617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TEAM: Corporate Wallet Digital Twin | Christopher Koen | V2.1</a:t>
            </a:r>
          </a:p>
        </p:txBody>
      </p:sp>
      <p:sp>
        <p:nvSpPr>
          <p:cNvPr id="5" name="footer-data-5">
            <a:extLst xmlns:a="http://schemas.openxmlformats.org/drawingml/2006/main">
              <a:ext uri="{FF2B5EF4-FFF2-40B4-BE49-F238E27FC236}">
                <a16:creationId xmlns:a16="http://schemas.microsoft.com/office/drawing/2014/main" id="{836B0C26-7083-4EDE-A008-3361DE47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SYN BANK SIMULATION + PUBLIC E1 + REPRESENTATIVE BENCHMARKS</a:t>
            </a:r>
          </a:p>
        </p:txBody>
      </p:sp>
      <p:sp>
        <p:nvSpPr>
          <p:cNvPr id="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BD1BC014-C19C-42CE-9DD8-683E328C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120" name="s5-facts-rule"/>
          <p:cNvCxnSpPr/>
          <p:nvPr/>
        </p:nvCxnSpPr>
        <p:spPr>
          <a:xfrm xmlns:a="http://schemas.openxmlformats.org/drawingml/2006/main">
            <a:off x="609600" y="171450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63E5"/>
            </a:solidFill>
            <a:prstDash val="solid"/>
          </a:ln>
        </p:spPr>
      </p:cxnSp>
      <p:sp>
        <p:nvSpPr>
          <p:cNvPr id="8" name="s5-facts-value">
            <a:extLst xmlns:a="http://schemas.openxmlformats.org/drawingml/2006/main">
              <a:ext uri="{FF2B5EF4-FFF2-40B4-BE49-F238E27FC236}">
                <a16:creationId xmlns:a16="http://schemas.microsoft.com/office/drawing/2014/main" id="{1A440B25-2EDA-444A-8C58-B106BE90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82</a:t>
            </a:r>
          </a:p>
        </p:txBody>
      </p:sp>
      <p:sp>
        <p:nvSpPr>
          <p:cNvPr id="9" name="s5-facts-label">
            <a:extLst xmlns:a="http://schemas.openxmlformats.org/drawingml/2006/main">
              <a:ext uri="{FF2B5EF4-FFF2-40B4-BE49-F238E27FC236}">
                <a16:creationId xmlns:a16="http://schemas.microsoft.com/office/drawing/2014/main" id="{78172733-3C91-4AFB-8EE5-DCE6F70D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point-in-time E1 facts</a:t>
            </a:r>
          </a:p>
        </p:txBody>
      </p:sp>
      <p:sp>
        <p:nvSpPr>
          <p:cNvPr id="10" name="s5-facts-note">
            <a:extLst xmlns:a="http://schemas.openxmlformats.org/drawingml/2006/main">
              <a:ext uri="{FF2B5EF4-FFF2-40B4-BE49-F238E27FC236}">
                <a16:creationId xmlns:a16="http://schemas.microsoft.com/office/drawing/2014/main" id="{CC8F1502-909F-4564-A440-CE8A3E1B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Page, period, available date and source hash retained</a:t>
            </a:r>
          </a:p>
        </p:txBody>
      </p:sp>
      <p:cxnSp>
        <p:nvCxnSpPr>
          <p:cNvPr id="124" name="s5-clients-rule"/>
          <p:cNvCxnSpPr/>
          <p:nvPr/>
        </p:nvCxnSpPr>
        <p:spPr>
          <a:xfrm xmlns:a="http://schemas.openxmlformats.org/drawingml/2006/main">
            <a:off x="4171950" y="171450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B83"/>
            </a:solidFill>
            <a:prstDash val="solid"/>
          </a:ln>
        </p:spPr>
      </p:cxnSp>
      <p:sp>
        <p:nvSpPr>
          <p:cNvPr id="12" name="s5-clients-value">
            <a:extLst xmlns:a="http://schemas.openxmlformats.org/drawingml/2006/main">
              <a:ext uri="{FF2B5EF4-FFF2-40B4-BE49-F238E27FC236}">
                <a16:creationId xmlns:a16="http://schemas.microsoft.com/office/drawing/2014/main" id="{03758179-E242-4EFB-8760-B7A11BC1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20 / 20</a:t>
            </a:r>
          </a:p>
        </p:txBody>
      </p:sp>
      <p:sp>
        <p:nvSpPr>
          <p:cNvPr id="13" name="s5-clients-label">
            <a:extLst xmlns:a="http://schemas.openxmlformats.org/drawingml/2006/main">
              <a:ext uri="{FF2B5EF4-FFF2-40B4-BE49-F238E27FC236}">
                <a16:creationId xmlns:a16="http://schemas.microsoft.com/office/drawing/2014/main" id="{67C67AE6-DD5B-4748-BF28-8E0C969E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19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relationships covered</a:t>
            </a:r>
          </a:p>
        </p:txBody>
      </p:sp>
      <p:sp>
        <p:nvSpPr>
          <p:cNvPr id="14" name="s5-clients-note">
            <a:extLst xmlns:a="http://schemas.openxmlformats.org/drawingml/2006/main">
              <a:ext uri="{FF2B5EF4-FFF2-40B4-BE49-F238E27FC236}">
                <a16:creationId xmlns:a16="http://schemas.microsoft.com/office/drawing/2014/main" id="{F5130D4D-27D4-409A-87DC-6A73D0DD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All portfolio clients now have governed public evidence</a:t>
            </a:r>
          </a:p>
        </p:txBody>
      </p:sp>
      <p:cxnSp>
        <p:nvCxnSpPr>
          <p:cNvPr id="128" name="s5-review-rule"/>
          <p:cNvCxnSpPr/>
          <p:nvPr/>
        </p:nvCxnSpPr>
        <p:spPr>
          <a:xfrm xmlns:a="http://schemas.openxmlformats.org/drawingml/2006/main">
            <a:off x="7734300" y="171450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2951C"/>
            </a:solidFill>
            <a:prstDash val="solid"/>
          </a:ln>
        </p:spPr>
      </p:cxnSp>
      <p:sp>
        <p:nvSpPr>
          <p:cNvPr id="16" name="s5-review-value">
            <a:extLst xmlns:a="http://schemas.openxmlformats.org/drawingml/2006/main">
              <a:ext uri="{FF2B5EF4-FFF2-40B4-BE49-F238E27FC236}">
                <a16:creationId xmlns:a16="http://schemas.microsoft.com/office/drawing/2014/main" id="{0B248EA7-D79D-4761-8271-C5F30317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859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17" name="s5-review-label">
            <a:extLst xmlns:a="http://schemas.openxmlformats.org/drawingml/2006/main">
              <a:ext uri="{FF2B5EF4-FFF2-40B4-BE49-F238E27FC236}">
                <a16:creationId xmlns:a16="http://schemas.microsoft.com/office/drawing/2014/main" id="{07185100-F8D8-4E0F-AB36-7B79C7EB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facts pending SME review</a:t>
            </a:r>
          </a:p>
        </p:txBody>
      </p:sp>
      <p:sp>
        <p:nvSpPr>
          <p:cNvPr id="18" name="s5-review-note">
            <a:extLst xmlns:a="http://schemas.openxmlformats.org/drawingml/2006/main">
              <a:ext uri="{FF2B5EF4-FFF2-40B4-BE49-F238E27FC236}">
                <a16:creationId xmlns:a16="http://schemas.microsoft.com/office/drawing/2014/main" id="{00B6A798-BD97-4601-B884-6DD25E98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432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Page-grounded candidates; not relabelled as approved</a:t>
            </a:r>
          </a:p>
        </p:txBody>
      </p:sp>
      <p:sp>
        <p:nvSpPr>
          <p:cNvPr id="19" name="s5-progress-title">
            <a:extLst xmlns:a="http://schemas.openxmlformats.org/drawingml/2006/main">
              <a:ext uri="{FF2B5EF4-FFF2-40B4-BE49-F238E27FC236}">
                <a16:creationId xmlns:a16="http://schemas.microsoft.com/office/drawing/2014/main" id="{16DDC5AC-2B85-4681-B529-4934A5D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Coverage grew without weakening the evidence label</a:t>
            </a:r>
          </a:p>
        </p:txBody>
      </p:sp>
      <p:sp>
        <p:nvSpPr>
          <p:cNvPr id="20" name="s5-original">
            <a:extLst xmlns:a="http://schemas.openxmlformats.org/drawingml/2006/main">
              <a:ext uri="{FF2B5EF4-FFF2-40B4-BE49-F238E27FC236}">
                <a16:creationId xmlns:a16="http://schemas.microsoft.com/office/drawing/2014/main" id="{8B813946-FC51-4C34-837C-F0BE18FD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5-original-text">
            <a:extLst xmlns:a="http://schemas.openxmlformats.org/drawingml/2006/main">
              <a:ext uri="{FF2B5EF4-FFF2-40B4-BE49-F238E27FC236}">
                <a16:creationId xmlns:a16="http://schemas.microsoft.com/office/drawing/2014/main" id="{75EC0A4E-894C-4B92-988A-EA3B25DB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31 seed facts | BHP, Glencore, Shoprite</a:t>
            </a:r>
          </a:p>
        </p:txBody>
      </p:sp>
      <p:sp>
        <p:nvSpPr>
          <p:cNvPr id="22" name="s5-expanded">
            <a:extLst xmlns:a="http://schemas.openxmlformats.org/drawingml/2006/main">
              <a:ext uri="{FF2B5EF4-FFF2-40B4-BE49-F238E27FC236}">
                <a16:creationId xmlns:a16="http://schemas.microsoft.com/office/drawing/2014/main" id="{F42113CF-C951-46B2-91EC-F2081E9C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48150"/>
            <a:ext cx="6153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5-expanded-text">
            <a:extLst xmlns:a="http://schemas.openxmlformats.org/drawingml/2006/main">
              <a:ext uri="{FF2B5EF4-FFF2-40B4-BE49-F238E27FC236}">
                <a16:creationId xmlns:a16="http://schemas.microsoft.com/office/drawing/2014/main" id="{BA3782CE-2570-4C93-B3D6-FFB96F3D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9102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+51 page-grounded facts | remaining 17 relationships</a:t>
            </a:r>
          </a:p>
        </p:txBody>
      </p:sp>
      <p:sp>
        <p:nvSpPr>
          <p:cNvPr id="24" name="s5-total">
            <a:extLst xmlns:a="http://schemas.openxmlformats.org/drawingml/2006/main">
              <a:ext uri="{FF2B5EF4-FFF2-40B4-BE49-F238E27FC236}">
                <a16:creationId xmlns:a16="http://schemas.microsoft.com/office/drawing/2014/main" id="{AFBAE68A-0AFA-4CFB-B476-A65C7E11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3719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47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= 82 E1 facts</a:t>
            </a:r>
          </a:p>
        </p:txBody>
      </p:sp>
      <p:cxnSp>
        <p:nvCxnSpPr>
          <p:cNvPr id="138" name="s5-tier-rule-0"/>
          <p:cNvCxnSpPr/>
          <p:nvPr/>
        </p:nvCxnSpPr>
        <p:spPr>
          <a:xfrm xmlns:a="http://schemas.openxmlformats.org/drawingml/2006/main">
            <a:off x="609600" y="53721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27086"/>
            </a:solidFill>
            <a:prstDash val="solid"/>
          </a:ln>
        </p:spPr>
      </p:cxnSp>
      <p:sp>
        <p:nvSpPr>
          <p:cNvPr id="26" name="s5-tier-0">
            <a:extLst xmlns:a="http://schemas.openxmlformats.org/drawingml/2006/main">
              <a:ext uri="{FF2B5EF4-FFF2-40B4-BE49-F238E27FC236}">
                <a16:creationId xmlns:a16="http://schemas.microsoft.com/office/drawing/2014/main" id="{37C6D24D-AC2B-41EC-9BF6-3296148E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E0</a:t>
            </a:r>
          </a:p>
        </p:txBody>
      </p:sp>
      <p:sp>
        <p:nvSpPr>
          <p:cNvPr id="27" name="s5-tier-copy-0">
            <a:extLst xmlns:a="http://schemas.openxmlformats.org/drawingml/2006/main">
              <a:ext uri="{FF2B5EF4-FFF2-40B4-BE49-F238E27FC236}">
                <a16:creationId xmlns:a16="http://schemas.microsoft.com/office/drawing/2014/main" id="{E16B1B9D-D207-493C-8D15-E63E2D21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governed prior</a:t>
            </a:r>
          </a:p>
        </p:txBody>
      </p:sp>
      <p:cxnSp>
        <p:nvCxnSpPr>
          <p:cNvPr id="141" name="s5-tier-rule-1"/>
          <p:cNvCxnSpPr/>
          <p:nvPr/>
        </p:nvCxnSpPr>
        <p:spPr>
          <a:xfrm xmlns:a="http://schemas.openxmlformats.org/drawingml/2006/main">
            <a:off x="2800350" y="53721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63E5"/>
            </a:solidFill>
            <a:prstDash val="solid"/>
          </a:ln>
        </p:spPr>
      </p:cxnSp>
      <p:sp>
        <p:nvSpPr>
          <p:cNvPr id="29" name="s5-tier-1">
            <a:extLst xmlns:a="http://schemas.openxmlformats.org/drawingml/2006/main">
              <a:ext uri="{FF2B5EF4-FFF2-40B4-BE49-F238E27FC236}">
                <a16:creationId xmlns:a16="http://schemas.microsoft.com/office/drawing/2014/main" id="{0771A1C0-D6D9-4D8C-B8E1-99BBA3E2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543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E1</a:t>
            </a:r>
          </a:p>
        </p:txBody>
      </p:sp>
      <p:sp>
        <p:nvSpPr>
          <p:cNvPr id="30" name="s5-tier-copy-1">
            <a:extLst xmlns:a="http://schemas.openxmlformats.org/drawingml/2006/main">
              <a:ext uri="{FF2B5EF4-FFF2-40B4-BE49-F238E27FC236}">
                <a16:creationId xmlns:a16="http://schemas.microsoft.com/office/drawing/2014/main" id="{CABDCD83-11A1-483E-A2FD-72F112E0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435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audited public</a:t>
            </a:r>
          </a:p>
        </p:txBody>
      </p:sp>
      <p:cxnSp>
        <p:nvCxnSpPr>
          <p:cNvPr id="144" name="s5-tier-rule-2"/>
          <p:cNvCxnSpPr/>
          <p:nvPr/>
        </p:nvCxnSpPr>
        <p:spPr>
          <a:xfrm xmlns:a="http://schemas.openxmlformats.org/drawingml/2006/main">
            <a:off x="4991100" y="53721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658D6"/>
            </a:solidFill>
            <a:prstDash val="solid"/>
          </a:ln>
        </p:spPr>
      </p:cxnSp>
      <p:sp>
        <p:nvSpPr>
          <p:cNvPr id="32" name="s5-tier-2">
            <a:extLst xmlns:a="http://schemas.openxmlformats.org/drawingml/2006/main">
              <a:ext uri="{FF2B5EF4-FFF2-40B4-BE49-F238E27FC236}">
                <a16:creationId xmlns:a16="http://schemas.microsoft.com/office/drawing/2014/main" id="{A7946401-15DC-415C-BB31-92C9D6BF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543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658D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58D6"/>
                </a:solidFill>
                <a:latin typeface="Arial"/>
                <a:ea typeface="Arial"/>
                <a:cs typeface="Arial"/>
              </a:rPr>
              <a:t>E2</a:t>
            </a:r>
          </a:p>
        </p:txBody>
      </p:sp>
      <p:sp>
        <p:nvSpPr>
          <p:cNvPr id="33" name="s5-tier-copy-2">
            <a:extLst xmlns:a="http://schemas.openxmlformats.org/drawingml/2006/main">
              <a:ext uri="{FF2B5EF4-FFF2-40B4-BE49-F238E27FC236}">
                <a16:creationId xmlns:a16="http://schemas.microsoft.com/office/drawing/2014/main" id="{1159FE5E-8D1C-4325-9A28-19CEF77C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5435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client / RM attested</a:t>
            </a:r>
          </a:p>
        </p:txBody>
      </p:sp>
      <p:cxnSp>
        <p:nvCxnSpPr>
          <p:cNvPr id="147" name="s5-tier-rule-3"/>
          <p:cNvCxnSpPr/>
          <p:nvPr/>
        </p:nvCxnSpPr>
        <p:spPr>
          <a:xfrm xmlns:a="http://schemas.openxmlformats.org/drawingml/2006/main">
            <a:off x="7181850" y="53721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B83"/>
            </a:solidFill>
            <a:prstDash val="solid"/>
          </a:ln>
        </p:spPr>
      </p:cxnSp>
      <p:sp>
        <p:nvSpPr>
          <p:cNvPr id="35" name="s5-tier-3">
            <a:extLst xmlns:a="http://schemas.openxmlformats.org/drawingml/2006/main">
              <a:ext uri="{FF2B5EF4-FFF2-40B4-BE49-F238E27FC236}">
                <a16:creationId xmlns:a16="http://schemas.microsoft.com/office/drawing/2014/main" id="{A7292D59-65C4-40BA-A32C-482E75FB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43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8B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B83"/>
                </a:solidFill>
                <a:latin typeface="Arial"/>
                <a:ea typeface="Arial"/>
                <a:cs typeface="Arial"/>
              </a:rPr>
              <a:t>E3</a:t>
            </a:r>
          </a:p>
        </p:txBody>
      </p:sp>
      <p:sp>
        <p:nvSpPr>
          <p:cNvPr id="36" name="s5-tier-copy-3">
            <a:extLst xmlns:a="http://schemas.openxmlformats.org/drawingml/2006/main">
              <a:ext uri="{FF2B5EF4-FFF2-40B4-BE49-F238E27FC236}">
                <a16:creationId xmlns:a16="http://schemas.microsoft.com/office/drawing/2014/main" id="{DFFD95BB-0679-4286-AB12-F578E4B1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435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multibank observed</a:t>
            </a:r>
          </a:p>
        </p:txBody>
      </p:sp>
      <p:cxnSp>
        <p:nvCxnSpPr>
          <p:cNvPr id="150" name="s5-tier-rule-4"/>
          <p:cNvCxnSpPr/>
          <p:nvPr/>
        </p:nvCxnSpPr>
        <p:spPr>
          <a:xfrm xmlns:a="http://schemas.openxmlformats.org/drawingml/2006/main">
            <a:off x="9372600" y="53721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2951C"/>
            </a:solidFill>
            <a:prstDash val="solid"/>
          </a:ln>
        </p:spPr>
      </p:cxnSp>
      <p:sp>
        <p:nvSpPr>
          <p:cNvPr id="38" name="s5-tier-4">
            <a:extLst xmlns:a="http://schemas.openxmlformats.org/drawingml/2006/main">
              <a:ext uri="{FF2B5EF4-FFF2-40B4-BE49-F238E27FC236}">
                <a16:creationId xmlns:a16="http://schemas.microsoft.com/office/drawing/2014/main" id="{85B5E342-87F3-40BA-B68D-531F4640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543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2951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2951C"/>
                </a:solidFill>
                <a:latin typeface="Arial"/>
                <a:ea typeface="Arial"/>
                <a:cs typeface="Arial"/>
              </a:rPr>
              <a:t>E4</a:t>
            </a:r>
          </a:p>
        </p:txBody>
      </p:sp>
      <p:sp>
        <p:nvSpPr>
          <p:cNvPr id="39" name="s5-tier-copy-4">
            <a:extLst xmlns:a="http://schemas.openxmlformats.org/drawingml/2006/main">
              <a:ext uri="{FF2B5EF4-FFF2-40B4-BE49-F238E27FC236}">
                <a16:creationId xmlns:a16="http://schemas.microsoft.com/office/drawing/2014/main" id="{149C9D30-9707-4CC2-9ACD-3E3C99D0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5435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reconciled outcome</a:t>
            </a:r>
          </a:p>
        </p:txBody>
      </p:sp>
    </p:spTree>
    <p:extLst>
      <p:ext uri="{BB962C8B-B14F-4D97-AF65-F5344CB8AC3E}">
        <p14:creationId xmlns:p14="http://schemas.microsoft.com/office/powerpoint/2010/main" val="4436337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eyebrow-7">
            <a:extLst xmlns:a="http://schemas.openxmlformats.org/drawingml/2006/main">
              <a:ext uri="{FF2B5EF4-FFF2-40B4-BE49-F238E27FC236}">
                <a16:creationId xmlns:a16="http://schemas.microsoft.com/office/drawing/2014/main" id="{828CB508-C072-4158-B84B-C4BA6CF6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RATE AND PRIOR SENSITIVITY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FDE8F2CC-6484-402A-B0B0-8240E2AE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Trade Finance wins first rank, not portfolio majority</a:t>
            </a:r>
          </a:p>
        </p:txBody>
      </p:sp>
      <p:cxnSp>
        <p:nvCxnSpPr>
          <p:cNvPr id="142" name="title-rule-7"/>
          <p:cNvCxnSpPr/>
          <p:nvPr/>
        </p:nvCxn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</a:ln>
        </p:spPr>
      </p:cxnSp>
      <p:sp>
        <p:nvSpPr>
          <p:cNvPr id="4" name="footer-team-7">
            <a:extLst xmlns:a="http://schemas.openxmlformats.org/drawingml/2006/main">
              <a:ext uri="{FF2B5EF4-FFF2-40B4-BE49-F238E27FC236}">
                <a16:creationId xmlns:a16="http://schemas.microsoft.com/office/drawing/2014/main" id="{13D82DD6-D20D-469A-8D0F-1A1BF1E1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TEAM: Corporate Wallet Digital Twin | Christopher Koen | V2.1</a:t>
            </a:r>
          </a:p>
        </p:txBody>
      </p:sp>
      <p:sp>
        <p:nvSpPr>
          <p:cNvPr id="5" name="footer-data-7">
            <a:extLst xmlns:a="http://schemas.openxmlformats.org/drawingml/2006/main">
              <a:ext uri="{FF2B5EF4-FFF2-40B4-BE49-F238E27FC236}">
                <a16:creationId xmlns:a16="http://schemas.microsoft.com/office/drawing/2014/main" id="{A667AF92-2941-4E80-A67A-C5A56E4F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SYN BANK SIMULATION + PUBLIC E1 + REPRESENTATIVE BENCHMARKS</a:t>
            </a:r>
          </a:p>
        </p:txBody>
      </p:sp>
      <p:sp>
        <p:nvSpPr>
          <p:cNvPr id="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35D5A9AD-E71B-4151-9C21-2FE5B2DD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s7-left">
            <a:extLst xmlns:a="http://schemas.openxmlformats.org/drawingml/2006/main">
              <a:ext uri="{FF2B5EF4-FFF2-40B4-BE49-F238E27FC236}">
                <a16:creationId xmlns:a16="http://schemas.microsoft.com/office/drawing/2014/main" id="{BD332041-30F7-47AF-8349-4C085AE4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762500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7-left-label">
            <a:extLst xmlns:a="http://schemas.openxmlformats.org/drawingml/2006/main">
              <a:ext uri="{FF2B5EF4-FFF2-40B4-BE49-F238E27FC236}">
                <a16:creationId xmlns:a16="http://schemas.microsoft.com/office/drawing/2014/main" id="{9FDD295D-3D25-44AD-BF98-10093564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907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FROZEN 3 x 3 BENCHMARK</a:t>
            </a:r>
          </a:p>
        </p:txBody>
      </p:sp>
      <p:sp>
        <p:nvSpPr>
          <p:cNvPr id="9" name="s7-left-main">
            <a:extLst xmlns:a="http://schemas.openxmlformats.org/drawingml/2006/main">
              <a:ext uri="{FF2B5EF4-FFF2-40B4-BE49-F238E27FC236}">
                <a16:creationId xmlns:a16="http://schemas.microsoft.com/office/drawing/2014/main" id="{B26B0801-ECFC-4D58-955C-51744479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#1 in 9 / 9</a:t>
            </a:r>
          </a:p>
        </p:txBody>
      </p:sp>
      <p:sp>
        <p:nvSpPr>
          <p:cNvPr id="10" name="s7-left-sub">
            <a:extLst xmlns:a="http://schemas.openxmlformats.org/drawingml/2006/main">
              <a:ext uri="{FF2B5EF4-FFF2-40B4-BE49-F238E27FC236}">
                <a16:creationId xmlns:a16="http://schemas.microsoft.com/office/drawing/2014/main" id="{B162CD34-9A14-4A07-BBF4-CC4CB386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7D5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7D5E8"/>
                </a:solidFill>
                <a:latin typeface="Arial"/>
                <a:ea typeface="Arial"/>
                <a:cs typeface="Arial"/>
              </a:rPr>
              <a:t>Trade Finance is the first-ranked product across low/base/high rate and prior cases.</a:t>
            </a:r>
          </a:p>
        </p:txBody>
      </p:sp>
      <p:sp>
        <p:nvSpPr>
          <p:cNvPr id="11" name="s7-col-0">
            <a:extLst xmlns:a="http://schemas.openxmlformats.org/drawingml/2006/main">
              <a:ext uri="{FF2B5EF4-FFF2-40B4-BE49-F238E27FC236}">
                <a16:creationId xmlns:a16="http://schemas.microsoft.com/office/drawing/2014/main" id="{4D72BA7A-71E6-4888-9C1F-D80DB400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8FA5B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A5BD"/>
                </a:solidFill>
                <a:latin typeface="Arial"/>
                <a:ea typeface="Arial"/>
                <a:cs typeface="Arial"/>
              </a:rPr>
              <a:t>LOW RATE</a:t>
            </a:r>
          </a:p>
        </p:txBody>
      </p:sp>
      <p:sp>
        <p:nvSpPr>
          <p:cNvPr id="12" name="s7-col-1">
            <a:extLst xmlns:a="http://schemas.openxmlformats.org/drawingml/2006/main">
              <a:ext uri="{FF2B5EF4-FFF2-40B4-BE49-F238E27FC236}">
                <a16:creationId xmlns:a16="http://schemas.microsoft.com/office/drawing/2014/main" id="{E784F9CD-637A-42F0-8272-60FFACC2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9624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8FA5B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A5BD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13" name="s7-col-2">
            <a:extLst xmlns:a="http://schemas.openxmlformats.org/drawingml/2006/main">
              <a:ext uri="{FF2B5EF4-FFF2-40B4-BE49-F238E27FC236}">
                <a16:creationId xmlns:a16="http://schemas.microsoft.com/office/drawing/2014/main" id="{8AD4A461-9F2F-4E5C-8A13-19E7FD49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624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8FA5B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A5BD"/>
                </a:solidFill>
                <a:latin typeface="Arial"/>
                <a:ea typeface="Arial"/>
                <a:cs typeface="Arial"/>
              </a:rPr>
              <a:t>HIGH RATE</a:t>
            </a:r>
          </a:p>
        </p:txBody>
      </p:sp>
      <p:sp>
        <p:nvSpPr>
          <p:cNvPr id="14" name="s7-cell-0-0">
            <a:extLst xmlns:a="http://schemas.openxmlformats.org/drawingml/2006/main">
              <a:ext uri="{FF2B5EF4-FFF2-40B4-BE49-F238E27FC236}">
                <a16:creationId xmlns:a16="http://schemas.microsoft.com/office/drawing/2014/main" id="{20A05160-3124-47F9-868A-BF537688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7-cell-text-0-0">
            <a:extLst xmlns:a="http://schemas.openxmlformats.org/drawingml/2006/main">
              <a:ext uri="{FF2B5EF4-FFF2-40B4-BE49-F238E27FC236}">
                <a16:creationId xmlns:a16="http://schemas.microsoft.com/office/drawing/2014/main" id="{E32F9F82-5352-41AB-BE1E-2A9B2E5F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LOW P | TF #1</a:t>
            </a:r>
          </a:p>
        </p:txBody>
      </p:sp>
      <p:sp>
        <p:nvSpPr>
          <p:cNvPr id="16" name="s7-cell-0-1">
            <a:extLst xmlns:a="http://schemas.openxmlformats.org/drawingml/2006/main">
              <a:ext uri="{FF2B5EF4-FFF2-40B4-BE49-F238E27FC236}">
                <a16:creationId xmlns:a16="http://schemas.microsoft.com/office/drawing/2014/main" id="{80C30B4C-AEB7-4830-BE15-35252B50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21005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7-cell-text-0-1">
            <a:extLst xmlns:a="http://schemas.openxmlformats.org/drawingml/2006/main">
              <a:ext uri="{FF2B5EF4-FFF2-40B4-BE49-F238E27FC236}">
                <a16:creationId xmlns:a16="http://schemas.microsoft.com/office/drawing/2014/main" id="{21972F9A-42E2-4E86-AF7C-087FA7CF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3243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TF #1</a:t>
            </a:r>
          </a:p>
        </p:txBody>
      </p:sp>
      <p:sp>
        <p:nvSpPr>
          <p:cNvPr id="18" name="s7-cell-0-2">
            <a:extLst xmlns:a="http://schemas.openxmlformats.org/drawingml/2006/main">
              <a:ext uri="{FF2B5EF4-FFF2-40B4-BE49-F238E27FC236}">
                <a16:creationId xmlns:a16="http://schemas.microsoft.com/office/drawing/2014/main" id="{BF8B429A-05BE-4C8F-99AF-1814CD33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005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7-cell-text-0-2">
            <a:extLst xmlns:a="http://schemas.openxmlformats.org/drawingml/2006/main">
              <a:ext uri="{FF2B5EF4-FFF2-40B4-BE49-F238E27FC236}">
                <a16:creationId xmlns:a16="http://schemas.microsoft.com/office/drawing/2014/main" id="{BDEE9D0E-7353-4427-9E9E-48B63074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243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TF #1</a:t>
            </a:r>
          </a:p>
        </p:txBody>
      </p:sp>
      <p:sp>
        <p:nvSpPr>
          <p:cNvPr id="20" name="s7-cell-1-0">
            <a:extLst xmlns:a="http://schemas.openxmlformats.org/drawingml/2006/main">
              <a:ext uri="{FF2B5EF4-FFF2-40B4-BE49-F238E27FC236}">
                <a16:creationId xmlns:a16="http://schemas.microsoft.com/office/drawing/2014/main" id="{B408B8AA-EBC6-48BD-97F1-2A5EBDB2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7-cell-text-1-0">
            <a:extLst xmlns:a="http://schemas.openxmlformats.org/drawingml/2006/main">
              <a:ext uri="{FF2B5EF4-FFF2-40B4-BE49-F238E27FC236}">
                <a16:creationId xmlns:a16="http://schemas.microsoft.com/office/drawing/2014/main" id="{38DB4768-7713-4A94-A5F8-FBE3807B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 P | TF #1</a:t>
            </a:r>
          </a:p>
        </p:txBody>
      </p:sp>
      <p:sp>
        <p:nvSpPr>
          <p:cNvPr id="22" name="s7-cell-1-1">
            <a:extLst xmlns:a="http://schemas.openxmlformats.org/drawingml/2006/main">
              <a:ext uri="{FF2B5EF4-FFF2-40B4-BE49-F238E27FC236}">
                <a16:creationId xmlns:a16="http://schemas.microsoft.com/office/drawing/2014/main" id="{D9AE079B-8354-4A0A-8BF9-C3047702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68630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7-cell-text-1-1">
            <a:extLst xmlns:a="http://schemas.openxmlformats.org/drawingml/2006/main">
              <a:ext uri="{FF2B5EF4-FFF2-40B4-BE49-F238E27FC236}">
                <a16:creationId xmlns:a16="http://schemas.microsoft.com/office/drawing/2014/main" id="{746528C7-3656-4343-B455-6E0C61ED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006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TF #1</a:t>
            </a:r>
          </a:p>
        </p:txBody>
      </p:sp>
      <p:sp>
        <p:nvSpPr>
          <p:cNvPr id="24" name="s7-cell-1-2">
            <a:extLst xmlns:a="http://schemas.openxmlformats.org/drawingml/2006/main">
              <a:ext uri="{FF2B5EF4-FFF2-40B4-BE49-F238E27FC236}">
                <a16:creationId xmlns:a16="http://schemas.microsoft.com/office/drawing/2014/main" id="{7C4EDF3A-87CA-4F4F-BFF9-C539C3E3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8630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7-cell-text-1-2">
            <a:extLst xmlns:a="http://schemas.openxmlformats.org/drawingml/2006/main">
              <a:ext uri="{FF2B5EF4-FFF2-40B4-BE49-F238E27FC236}">
                <a16:creationId xmlns:a16="http://schemas.microsoft.com/office/drawing/2014/main" id="{CCE9BB30-FEA9-4572-8368-7D3FD69E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006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TF #1</a:t>
            </a:r>
          </a:p>
        </p:txBody>
      </p:sp>
      <p:sp>
        <p:nvSpPr>
          <p:cNvPr id="26" name="s7-cell-2-0">
            <a:extLst xmlns:a="http://schemas.openxmlformats.org/drawingml/2006/main">
              <a:ext uri="{FF2B5EF4-FFF2-40B4-BE49-F238E27FC236}">
                <a16:creationId xmlns:a16="http://schemas.microsoft.com/office/drawing/2014/main" id="{44997F7E-F694-4A79-988F-B80EF742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7-cell-text-2-0">
            <a:extLst xmlns:a="http://schemas.openxmlformats.org/drawingml/2006/main">
              <a:ext uri="{FF2B5EF4-FFF2-40B4-BE49-F238E27FC236}">
                <a16:creationId xmlns:a16="http://schemas.microsoft.com/office/drawing/2014/main" id="{8DD0E37A-9F6F-46A4-A786-31CBF50A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 P | TF #1</a:t>
            </a:r>
          </a:p>
        </p:txBody>
      </p:sp>
      <p:sp>
        <p:nvSpPr>
          <p:cNvPr id="28" name="s7-cell-2-1">
            <a:extLst xmlns:a="http://schemas.openxmlformats.org/drawingml/2006/main">
              <a:ext uri="{FF2B5EF4-FFF2-40B4-BE49-F238E27FC236}">
                <a16:creationId xmlns:a16="http://schemas.microsoft.com/office/drawing/2014/main" id="{F3593081-1F1E-4D6F-A6B7-96F2F8E9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16255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7-cell-text-2-1">
            <a:extLst xmlns:a="http://schemas.openxmlformats.org/drawingml/2006/main">
              <a:ext uri="{FF2B5EF4-FFF2-40B4-BE49-F238E27FC236}">
                <a16:creationId xmlns:a16="http://schemas.microsoft.com/office/drawing/2014/main" id="{34FBB233-F383-4E15-96FA-C03B1C1C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2768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TF #1</a:t>
            </a:r>
          </a:p>
        </p:txBody>
      </p:sp>
      <p:sp>
        <p:nvSpPr>
          <p:cNvPr id="30" name="s7-cell-2-2">
            <a:extLst xmlns:a="http://schemas.openxmlformats.org/drawingml/2006/main">
              <a:ext uri="{FF2B5EF4-FFF2-40B4-BE49-F238E27FC236}">
                <a16:creationId xmlns:a16="http://schemas.microsoft.com/office/drawing/2014/main" id="{7C2E5D13-CFFD-4924-B47D-F8D039D2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7-cell-text-2-2">
            <a:extLst xmlns:a="http://schemas.openxmlformats.org/drawingml/2006/main">
              <a:ext uri="{FF2B5EF4-FFF2-40B4-BE49-F238E27FC236}">
                <a16:creationId xmlns:a16="http://schemas.microsoft.com/office/drawing/2014/main" id="{1F835D1C-1888-4039-861E-C7B8AF0D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TF #1</a:t>
            </a:r>
          </a:p>
        </p:txBody>
      </p:sp>
      <p:sp>
        <p:nvSpPr>
          <p:cNvPr id="32" name="s7-global-label">
            <a:extLst xmlns:a="http://schemas.openxmlformats.org/drawingml/2006/main">
              <a:ext uri="{FF2B5EF4-FFF2-40B4-BE49-F238E27FC236}">
                <a16:creationId xmlns:a16="http://schemas.microsoft.com/office/drawing/2014/main" id="{C2C8EE5E-4332-4989-B140-C66A0D89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09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658D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658D6"/>
                </a:solidFill>
                <a:latin typeface="Arial"/>
                <a:ea typeface="Arial"/>
                <a:cs typeface="Arial"/>
              </a:rPr>
              <a:t>10,000-DRAW GLOBAL SENSITIVITY</a:t>
            </a:r>
          </a:p>
        </p:txBody>
      </p:sp>
      <p:cxnSp>
        <p:nvCxnSpPr>
          <p:cNvPr id="172" name="s7-first-rule"/>
          <p:cNvCxnSpPr/>
          <p:nvPr/>
        </p:nvCxnSpPr>
        <p:spPr>
          <a:xfrm xmlns:a="http://schemas.openxmlformats.org/drawingml/2006/main">
            <a:off x="5829300" y="21907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658D6"/>
            </a:solidFill>
            <a:prstDash val="solid"/>
          </a:ln>
        </p:spPr>
      </p:cxnSp>
      <p:sp>
        <p:nvSpPr>
          <p:cNvPr id="34" name="s7-first-value">
            <a:extLst xmlns:a="http://schemas.openxmlformats.org/drawingml/2006/main">
              <a:ext uri="{FF2B5EF4-FFF2-40B4-BE49-F238E27FC236}">
                <a16:creationId xmlns:a16="http://schemas.microsoft.com/office/drawing/2014/main" id="{5DFBDE0D-BB22-48AE-9127-B9B943EC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62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35" name="s7-first-label">
            <a:extLst xmlns:a="http://schemas.openxmlformats.org/drawingml/2006/main">
              <a:ext uri="{FF2B5EF4-FFF2-40B4-BE49-F238E27FC236}">
                <a16:creationId xmlns:a16="http://schemas.microsoft.com/office/drawing/2014/main" id="{77AEEA6F-9743-421E-8A93-67A47207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95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TF first-rank frequency</a:t>
            </a:r>
          </a:p>
        </p:txBody>
      </p:sp>
      <p:sp>
        <p:nvSpPr>
          <p:cNvPr id="36" name="s7-first-note">
            <a:extLst xmlns:a="http://schemas.openxmlformats.org/drawingml/2006/main">
              <a:ext uri="{FF2B5EF4-FFF2-40B4-BE49-F238E27FC236}">
                <a16:creationId xmlns:a16="http://schemas.microsoft.com/office/drawing/2014/main" id="{D3447E88-3148-4101-BB31-FA0D8ACF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194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Stable single highest-ranked product</a:t>
            </a:r>
          </a:p>
        </p:txBody>
      </p:sp>
      <p:cxnSp>
        <p:nvCxnSpPr>
          <p:cNvPr id="176" name="s7-top10-rule"/>
          <p:cNvCxnSpPr/>
          <p:nvPr/>
        </p:nvCxnSpPr>
        <p:spPr>
          <a:xfrm xmlns:a="http://schemas.openxmlformats.org/drawingml/2006/main">
            <a:off x="8705850" y="21907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2951C"/>
            </a:solidFill>
            <a:prstDash val="solid"/>
          </a:ln>
        </p:spPr>
      </p:cxnSp>
      <p:sp>
        <p:nvSpPr>
          <p:cNvPr id="38" name="s7-top10-value">
            <a:extLst xmlns:a="http://schemas.openxmlformats.org/drawingml/2006/main">
              <a:ext uri="{FF2B5EF4-FFF2-40B4-BE49-F238E27FC236}">
                <a16:creationId xmlns:a16="http://schemas.microsoft.com/office/drawing/2014/main" id="{0C9D1DB5-20D1-440E-A241-7CF31E4A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25.2%</a:t>
            </a:r>
          </a:p>
        </p:txBody>
      </p:sp>
      <p:sp>
        <p:nvSpPr>
          <p:cNvPr id="39" name="s7-top10-label">
            <a:extLst xmlns:a="http://schemas.openxmlformats.org/drawingml/2006/main">
              <a:ext uri="{FF2B5EF4-FFF2-40B4-BE49-F238E27FC236}">
                <a16:creationId xmlns:a16="http://schemas.microsoft.com/office/drawing/2014/main" id="{F9407FAD-6E0A-44B6-A687-5D5874A6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95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TF mean top-10 share</a:t>
            </a:r>
          </a:p>
        </p:txBody>
      </p:sp>
      <p:sp>
        <p:nvSpPr>
          <p:cNvPr id="40" name="s7-top10-note">
            <a:extLst xmlns:a="http://schemas.openxmlformats.org/drawingml/2006/main">
              <a:ext uri="{FF2B5EF4-FFF2-40B4-BE49-F238E27FC236}">
                <a16:creationId xmlns:a16="http://schemas.microsoft.com/office/drawing/2014/main" id="{3BE49421-E8F7-4EC3-AF74-5D7F1E61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194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Important, but not a portfolio majority</a:t>
            </a:r>
          </a:p>
        </p:txBody>
      </p:sp>
      <p:cxnSp>
        <p:nvCxnSpPr>
          <p:cNvPr id="180" name="s7-fx-rule"/>
          <p:cNvCxnSpPr/>
          <p:nvPr/>
        </p:nvCxnSpPr>
        <p:spPr>
          <a:xfrm xmlns:a="http://schemas.openxmlformats.org/drawingml/2006/main">
            <a:off x="5829300" y="396240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63E5"/>
            </a:solidFill>
            <a:prstDash val="solid"/>
          </a:ln>
        </p:spPr>
      </p:cxnSp>
      <p:sp>
        <p:nvSpPr>
          <p:cNvPr id="42" name="s7-fx-value">
            <a:extLst xmlns:a="http://schemas.openxmlformats.org/drawingml/2006/main">
              <a:ext uri="{FF2B5EF4-FFF2-40B4-BE49-F238E27FC236}">
                <a16:creationId xmlns:a16="http://schemas.microsoft.com/office/drawing/2014/main" id="{6BE9C760-BEFA-4672-AD3B-F1AB22DA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33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79.7%</a:t>
            </a:r>
          </a:p>
        </p:txBody>
      </p:sp>
      <p:sp>
        <p:nvSpPr>
          <p:cNvPr id="43" name="s7-fx-label">
            <a:extLst xmlns:a="http://schemas.openxmlformats.org/drawingml/2006/main">
              <a:ext uri="{FF2B5EF4-FFF2-40B4-BE49-F238E27FC236}">
                <a16:creationId xmlns:a16="http://schemas.microsoft.com/office/drawing/2014/main" id="{FD3C6F74-047F-44B6-9358-CE3874C5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67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FX majority frequency</a:t>
            </a:r>
          </a:p>
        </p:txBody>
      </p:sp>
      <p:sp>
        <p:nvSpPr>
          <p:cNvPr id="44" name="s7-fx-note">
            <a:extLst xmlns:a="http://schemas.openxmlformats.org/drawingml/2006/main">
              <a:ext uri="{FF2B5EF4-FFF2-40B4-BE49-F238E27FC236}">
                <a16:creationId xmlns:a16="http://schemas.microsoft.com/office/drawing/2014/main" id="{8CB5B412-DB5B-4A0E-86DB-B9F0C922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91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The wider top 10 concentrates in FX</a:t>
            </a:r>
          </a:p>
        </p:txBody>
      </p:sp>
      <p:cxnSp>
        <p:nvCxnSpPr>
          <p:cNvPr id="184" name="s7-econ-rule"/>
          <p:cNvCxnSpPr/>
          <p:nvPr/>
        </p:nvCxnSpPr>
        <p:spPr>
          <a:xfrm xmlns:a="http://schemas.openxmlformats.org/drawingml/2006/main">
            <a:off x="8705850" y="396240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B83"/>
            </a:solidFill>
            <a:prstDash val="solid"/>
          </a:ln>
        </p:spPr>
      </p:cxnSp>
      <p:sp>
        <p:nvSpPr>
          <p:cNvPr id="46" name="s7-econ-value">
            <a:extLst xmlns:a="http://schemas.openxmlformats.org/drawingml/2006/main">
              <a:ext uri="{FF2B5EF4-FFF2-40B4-BE49-F238E27FC236}">
                <a16:creationId xmlns:a16="http://schemas.microsoft.com/office/drawing/2014/main" id="{F635547D-9720-48A5-BA26-2B12CF5D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33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R53.4m</a:t>
            </a:r>
          </a:p>
        </p:txBody>
      </p:sp>
      <p:sp>
        <p:nvSpPr>
          <p:cNvPr id="47" name="s7-econ-label">
            <a:extLst xmlns:a="http://schemas.openxmlformats.org/drawingml/2006/main">
              <a:ext uri="{FF2B5EF4-FFF2-40B4-BE49-F238E27FC236}">
                <a16:creationId xmlns:a16="http://schemas.microsoft.com/office/drawing/2014/main" id="{F8CFA969-8DD7-4918-8E0F-C6E3F943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67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TF absolute economics</a:t>
            </a:r>
          </a:p>
        </p:txBody>
      </p:sp>
      <p:sp>
        <p:nvSpPr>
          <p:cNvPr id="48" name="s7-econ-note">
            <a:extLst xmlns:a="http://schemas.openxmlformats.org/drawingml/2006/main">
              <a:ext uri="{FF2B5EF4-FFF2-40B4-BE49-F238E27FC236}">
                <a16:creationId xmlns:a16="http://schemas.microsoft.com/office/drawing/2014/main" id="{679B5143-E8B2-42B7-B923-94A70BE4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91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Median across approved-shape scenario distributions</a:t>
            </a:r>
          </a:p>
        </p:txBody>
      </p:sp>
      <p:sp>
        <p:nvSpPr>
          <p:cNvPr id="49" name="s7-conclusion">
            <a:extLst xmlns:a="http://schemas.openxmlformats.org/drawingml/2006/main">
              <a:ext uri="{FF2B5EF4-FFF2-40B4-BE49-F238E27FC236}">
                <a16:creationId xmlns:a16="http://schemas.microsoft.com/office/drawing/2014/main" id="{FC881B4E-551C-4ABA-B943-85403F28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619750"/>
            <a:ext cx="525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Conclusion: start with the Trade Finance conversation; keep portfolio capacity diversified across FX and Liquidity.</a:t>
            </a:r>
          </a:p>
        </p:txBody>
      </p:sp>
    </p:spTree>
    <p:extLst>
      <p:ext uri="{BB962C8B-B14F-4D97-AF65-F5344CB8AC3E}">
        <p14:creationId xmlns:p14="http://schemas.microsoft.com/office/powerpoint/2010/main" val="16383144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-6">
            <a:extLst xmlns:a="http://schemas.openxmlformats.org/drawingml/2006/main">
              <a:ext uri="{FF2B5EF4-FFF2-40B4-BE49-F238E27FC236}">
                <a16:creationId xmlns:a16="http://schemas.microsoft.com/office/drawing/2014/main" id="{89E91E12-CE66-45C3-A120-BC0CCCDB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WALLET-MODEL EVIDENCE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A3E00FF7-9183-418A-806A-FE7CA9FE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Coverage survives the corrected validation design</a:t>
            </a:r>
          </a:p>
        </p:txBody>
      </p:sp>
      <p:cxnSp>
        <p:nvCxnSpPr>
          <p:cNvPr id="65" name="title-rule-6"/>
          <p:cNvCxnSpPr/>
          <p:nvPr/>
        </p:nvCxn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</a:ln>
        </p:spPr>
      </p:cxnSp>
      <p:sp>
        <p:nvSpPr>
          <p:cNvPr id="4" name="footer-team-6">
            <a:extLst xmlns:a="http://schemas.openxmlformats.org/drawingml/2006/main">
              <a:ext uri="{FF2B5EF4-FFF2-40B4-BE49-F238E27FC236}">
                <a16:creationId xmlns:a16="http://schemas.microsoft.com/office/drawing/2014/main" id="{12855A77-AC13-4F57-A20D-7CE78FF9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TEAM: Corporate Wallet Digital Twin | Christopher Koen | V2.1</a:t>
            </a:r>
          </a:p>
        </p:txBody>
      </p:sp>
      <p:sp>
        <p:nvSpPr>
          <p:cNvPr id="5" name="footer-data-6">
            <a:extLst xmlns:a="http://schemas.openxmlformats.org/drawingml/2006/main">
              <a:ext uri="{FF2B5EF4-FFF2-40B4-BE49-F238E27FC236}">
                <a16:creationId xmlns:a16="http://schemas.microsoft.com/office/drawing/2014/main" id="{F9533333-6E7B-4473-9C8C-25780F63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SYN BANK SIMULATION + PUBLIC E1 + REPRESENTATIVE BENCHMARKS</a:t>
            </a:r>
          </a:p>
        </p:txBody>
      </p:sp>
      <p:sp>
        <p:nvSpPr>
          <p:cNvPr id="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55DD1F24-B291-41C2-B201-5EBE8534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69" name="s6-wallet-rule"/>
          <p:cNvCxnSpPr/>
          <p:nvPr/>
        </p:nvCxnSpPr>
        <p:spPr>
          <a:xfrm xmlns:a="http://schemas.openxmlformats.org/drawingml/2006/main">
            <a:off x="609600" y="173355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B83"/>
            </a:solidFill>
            <a:prstDash val="solid"/>
          </a:ln>
        </p:spPr>
      </p:cxnSp>
      <p:sp>
        <p:nvSpPr>
          <p:cNvPr id="8" name="s6-wallet-value">
            <a:extLst xmlns:a="http://schemas.openxmlformats.org/drawingml/2006/main">
              <a:ext uri="{FF2B5EF4-FFF2-40B4-BE49-F238E27FC236}">
                <a16:creationId xmlns:a16="http://schemas.microsoft.com/office/drawing/2014/main" id="{1AE85D63-8C12-468A-A058-88FA88D8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91.3%</a:t>
            </a:r>
          </a:p>
        </p:txBody>
      </p:sp>
      <p:sp>
        <p:nvSpPr>
          <p:cNvPr id="9" name="s6-wallet-label">
            <a:extLst xmlns:a="http://schemas.openxmlformats.org/drawingml/2006/main">
              <a:ext uri="{FF2B5EF4-FFF2-40B4-BE49-F238E27FC236}">
                <a16:creationId xmlns:a16="http://schemas.microsoft.com/office/drawing/2014/main" id="{D27EFF17-7C19-401E-8465-85B3049C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wallet interval coverage</a:t>
            </a:r>
          </a:p>
        </p:txBody>
      </p:sp>
      <p:sp>
        <p:nvSpPr>
          <p:cNvPr id="10" name="s6-wallet-note">
            <a:extLst xmlns:a="http://schemas.openxmlformats.org/drawingml/2006/main">
              <a:ext uri="{FF2B5EF4-FFF2-40B4-BE49-F238E27FC236}">
                <a16:creationId xmlns:a16="http://schemas.microsoft.com/office/drawing/2014/main" id="{7B254F8C-194F-4785-B639-94DC06E0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Nominal 90%; entity-disjoint calibration and evaluation</a:t>
            </a:r>
          </a:p>
        </p:txBody>
      </p:sp>
      <p:cxnSp>
        <p:nvCxnSpPr>
          <p:cNvPr id="73" name="s6-share-rule"/>
          <p:cNvCxnSpPr/>
          <p:nvPr/>
        </p:nvCxnSpPr>
        <p:spPr>
          <a:xfrm xmlns:a="http://schemas.openxmlformats.org/drawingml/2006/main">
            <a:off x="4171950" y="173355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63E5"/>
            </a:solidFill>
            <a:prstDash val="solid"/>
          </a:ln>
        </p:spPr>
      </p:cxnSp>
      <p:sp>
        <p:nvSpPr>
          <p:cNvPr id="12" name="s6-share-value">
            <a:extLst xmlns:a="http://schemas.openxmlformats.org/drawingml/2006/main">
              <a:ext uri="{FF2B5EF4-FFF2-40B4-BE49-F238E27FC236}">
                <a16:creationId xmlns:a16="http://schemas.microsoft.com/office/drawing/2014/main" id="{4B3086FD-423F-47F2-AB5B-4E54DE9E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050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93.5%</a:t>
            </a:r>
          </a:p>
        </p:txBody>
      </p:sp>
      <p:sp>
        <p:nvSpPr>
          <p:cNvPr id="13" name="s6-share-label">
            <a:extLst xmlns:a="http://schemas.openxmlformats.org/drawingml/2006/main">
              <a:ext uri="{FF2B5EF4-FFF2-40B4-BE49-F238E27FC236}">
                <a16:creationId xmlns:a16="http://schemas.microsoft.com/office/drawing/2014/main" id="{8AE78D56-1FD6-4A6E-862F-EC8D0369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384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share interval coverage</a:t>
            </a:r>
          </a:p>
        </p:txBody>
      </p:sp>
      <p:sp>
        <p:nvSpPr>
          <p:cNvPr id="14" name="s6-share-note">
            <a:extLst xmlns:a="http://schemas.openxmlformats.org/drawingml/2006/main">
              <a:ext uri="{FF2B5EF4-FFF2-40B4-BE49-F238E27FC236}">
                <a16:creationId xmlns:a16="http://schemas.microsoft.com/office/drawing/2014/main" id="{D705F613-E75F-4CF2-8AFD-DF7F1EF2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622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Nominal 90%; evaluated across sectors</a:t>
            </a:r>
          </a:p>
        </p:txBody>
      </p:sp>
      <p:cxnSp>
        <p:nvCxnSpPr>
          <p:cNvPr id="77" name="s6-narrow-rule"/>
          <p:cNvCxnSpPr/>
          <p:nvPr/>
        </p:nvCxnSpPr>
        <p:spPr>
          <a:xfrm xmlns:a="http://schemas.openxmlformats.org/drawingml/2006/main">
            <a:off x="7734300" y="173355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658D6"/>
            </a:solidFill>
            <a:prstDash val="solid"/>
          </a:ln>
        </p:spPr>
      </p:cxnSp>
      <p:sp>
        <p:nvSpPr>
          <p:cNvPr id="16" name="s6-narrow-value">
            <a:extLst xmlns:a="http://schemas.openxmlformats.org/drawingml/2006/main">
              <a:ext uri="{FF2B5EF4-FFF2-40B4-BE49-F238E27FC236}">
                <a16:creationId xmlns:a16="http://schemas.microsoft.com/office/drawing/2014/main" id="{54B27390-8478-4190-B397-7E345044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050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44.4%</a:t>
            </a:r>
          </a:p>
        </p:txBody>
      </p:sp>
      <p:sp>
        <p:nvSpPr>
          <p:cNvPr id="17" name="s6-narrow-label">
            <a:extLst xmlns:a="http://schemas.openxmlformats.org/drawingml/2006/main">
              <a:ext uri="{FF2B5EF4-FFF2-40B4-BE49-F238E27FC236}">
                <a16:creationId xmlns:a16="http://schemas.microsoft.com/office/drawing/2014/main" id="{CA6FF6C8-8BA3-4AF2-84F3-3CF7725E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384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median E1 narrowing</a:t>
            </a:r>
          </a:p>
        </p:txBody>
      </p:sp>
      <p:sp>
        <p:nvSpPr>
          <p:cNvPr id="18" name="s6-narrow-note">
            <a:extLst xmlns:a="http://schemas.openxmlformats.org/drawingml/2006/main">
              <a:ext uri="{FF2B5EF4-FFF2-40B4-BE49-F238E27FC236}">
                <a16:creationId xmlns:a16="http://schemas.microsoft.com/office/drawing/2014/main" id="{CF1FE09A-18E6-45F8-A148-97159F3C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622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Coverage retained in the known-truth stress lab</a:t>
            </a:r>
          </a:p>
        </p:txBody>
      </p:sp>
      <p:sp>
        <p:nvSpPr>
          <p:cNvPr id="19" name="s6-design">
            <a:extLst xmlns:a="http://schemas.openxmlformats.org/drawingml/2006/main">
              <a:ext uri="{FF2B5EF4-FFF2-40B4-BE49-F238E27FC236}">
                <a16:creationId xmlns:a16="http://schemas.microsoft.com/office/drawing/2014/main" id="{05957727-0C06-4368-99B5-D111F33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657225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6-design-label">
            <a:extLst xmlns:a="http://schemas.openxmlformats.org/drawingml/2006/main">
              <a:ext uri="{FF2B5EF4-FFF2-40B4-BE49-F238E27FC236}">
                <a16:creationId xmlns:a16="http://schemas.microsoft.com/office/drawing/2014/main" id="{CA532B02-9A0D-4D07-842C-6B95D8A7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CORRECTED DESIGN</a:t>
            </a:r>
          </a:p>
        </p:txBody>
      </p:sp>
      <p:sp>
        <p:nvSpPr>
          <p:cNvPr id="21" name="s6-dot-0">
            <a:extLst xmlns:a="http://schemas.openxmlformats.org/drawingml/2006/main">
              <a:ext uri="{FF2B5EF4-FFF2-40B4-BE49-F238E27FC236}">
                <a16:creationId xmlns:a16="http://schemas.microsoft.com/office/drawing/2014/main" id="{537F89AB-AE82-4A47-9F9F-0FD915B2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6-line-0">
            <a:extLst xmlns:a="http://schemas.openxmlformats.org/drawingml/2006/main">
              <a:ext uri="{FF2B5EF4-FFF2-40B4-BE49-F238E27FC236}">
                <a16:creationId xmlns:a16="http://schemas.microsoft.com/office/drawing/2014/main" id="{2581C3A7-0531-43CF-974C-F3F21A25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C1728"/>
                </a:solidFill>
                <a:latin typeface="Arial"/>
                <a:ea typeface="Arial"/>
                <a:cs typeface="Arial"/>
              </a:rPr>
              <a:t>Client-disjoint model fit, conformal calibration and evaluation</a:t>
            </a:r>
          </a:p>
        </p:txBody>
      </p:sp>
      <p:sp>
        <p:nvSpPr>
          <p:cNvPr id="23" name="s6-dot-1">
            <a:extLst xmlns:a="http://schemas.openxmlformats.org/drawingml/2006/main">
              <a:ext uri="{FF2B5EF4-FFF2-40B4-BE49-F238E27FC236}">
                <a16:creationId xmlns:a16="http://schemas.microsoft.com/office/drawing/2014/main" id="{5221E02D-0ED5-4687-9C3B-B55C79DB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6-line-1">
            <a:extLst xmlns:a="http://schemas.openxmlformats.org/drawingml/2006/main">
              <a:ext uri="{FF2B5EF4-FFF2-40B4-BE49-F238E27FC236}">
                <a16:creationId xmlns:a16="http://schemas.microsoft.com/office/drawing/2014/main" id="{67DA7D36-1D01-4F90-A892-185D0DA3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C1728"/>
                </a:solidFill>
                <a:latin typeface="Arial"/>
                <a:ea typeface="Arial"/>
                <a:cs typeface="Arial"/>
              </a:rPr>
              <a:t>Selection-weighted panel corrects the simulated inclusion mechanism</a:t>
            </a:r>
          </a:p>
        </p:txBody>
      </p:sp>
      <p:sp>
        <p:nvSpPr>
          <p:cNvPr id="25" name="s6-dot-2">
            <a:extLst xmlns:a="http://schemas.openxmlformats.org/drawingml/2006/main">
              <a:ext uri="{FF2B5EF4-FFF2-40B4-BE49-F238E27FC236}">
                <a16:creationId xmlns:a16="http://schemas.microsoft.com/office/drawing/2014/main" id="{FC042356-81D3-4737-B434-7C233A63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6-line-2">
            <a:extLst xmlns:a="http://schemas.openxmlformats.org/drawingml/2006/main">
              <a:ext uri="{FF2B5EF4-FFF2-40B4-BE49-F238E27FC236}">
                <a16:creationId xmlns:a16="http://schemas.microsoft.com/office/drawing/2014/main" id="{980DA0C8-15A2-4C08-81BD-D3C1761C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C1728"/>
                </a:solidFill>
                <a:latin typeface="Arial"/>
                <a:ea typeface="Arial"/>
                <a:cs typeface="Arial"/>
              </a:rPr>
              <a:t>Product and sector coverage reported, not only a portfolio average</a:t>
            </a:r>
          </a:p>
        </p:txBody>
      </p:sp>
      <p:sp>
        <p:nvSpPr>
          <p:cNvPr id="27" name="s6-dot-3">
            <a:extLst xmlns:a="http://schemas.openxmlformats.org/drawingml/2006/main">
              <a:ext uri="{FF2B5EF4-FFF2-40B4-BE49-F238E27FC236}">
                <a16:creationId xmlns:a16="http://schemas.microsoft.com/office/drawing/2014/main" id="{CA00842C-D9A8-40D5-86DF-87BCE6B0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43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6-line-3">
            <a:extLst xmlns:a="http://schemas.openxmlformats.org/drawingml/2006/main">
              <a:ext uri="{FF2B5EF4-FFF2-40B4-BE49-F238E27FC236}">
                <a16:creationId xmlns:a16="http://schemas.microsoft.com/office/drawing/2014/main" id="{D49635A1-4E27-4414-AA52-B8741A12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6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C1728"/>
                </a:solidFill>
                <a:latin typeface="Arial"/>
                <a:ea typeface="Arial"/>
                <a:cs typeface="Arial"/>
              </a:rPr>
              <a:t>Posterior draws, CRPS and interval widths remain reproducible</a:t>
            </a:r>
          </a:p>
        </p:txBody>
      </p:sp>
      <p:sp>
        <p:nvSpPr>
          <p:cNvPr id="29" name="s6-boundary">
            <a:extLst xmlns:a="http://schemas.openxmlformats.org/drawingml/2006/main">
              <a:ext uri="{FF2B5EF4-FFF2-40B4-BE49-F238E27FC236}">
                <a16:creationId xmlns:a16="http://schemas.microsoft.com/office/drawing/2014/main" id="{3AD1566D-AF29-4339-A7D7-83E11884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37719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6-boundary-label">
            <a:extLst xmlns:a="http://schemas.openxmlformats.org/drawingml/2006/main">
              <a:ext uri="{FF2B5EF4-FFF2-40B4-BE49-F238E27FC236}">
                <a16:creationId xmlns:a16="http://schemas.microsoft.com/office/drawing/2014/main" id="{63C41553-A63B-47E9-92FE-3FFB3C02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24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295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2951C"/>
                </a:solidFill>
                <a:latin typeface="Arial"/>
                <a:ea typeface="Arial"/>
                <a:cs typeface="Arial"/>
              </a:rPr>
              <a:t>CLAIM BOUNDARY</a:t>
            </a:r>
          </a:p>
        </p:txBody>
      </p:sp>
      <p:sp>
        <p:nvSpPr>
          <p:cNvPr id="31" name="s6-boundary-title">
            <a:extLst xmlns:a="http://schemas.openxmlformats.org/drawingml/2006/main">
              <a:ext uri="{FF2B5EF4-FFF2-40B4-BE49-F238E27FC236}">
                <a16:creationId xmlns:a16="http://schemas.microsoft.com/office/drawing/2014/main" id="{673C5F22-BFDE-40D5-91A6-FB9E4116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33875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Strong mechanics,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not empirical E3 accuracy</a:t>
            </a:r>
          </a:p>
        </p:txBody>
      </p:sp>
      <p:sp>
        <p:nvSpPr>
          <p:cNvPr id="32" name="s6-boundary-copy">
            <a:extLst xmlns:a="http://schemas.openxmlformats.org/drawingml/2006/main">
              <a:ext uri="{FF2B5EF4-FFF2-40B4-BE49-F238E27FC236}">
                <a16:creationId xmlns:a16="http://schemas.microsoft.com/office/drawing/2014/main" id="{19B5B1A7-8705-4956-9F44-0A179FAA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197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The 1,500-row panel contains known synthetic truth. It cannot establish actual competitor share or bank-production calibration.</a:t>
            </a:r>
          </a:p>
        </p:txBody>
      </p:sp>
    </p:spTree>
    <p:extLst>
      <p:ext uri="{BB962C8B-B14F-4D97-AF65-F5344CB8AC3E}">
        <p14:creationId xmlns:p14="http://schemas.microsoft.com/office/powerpoint/2010/main" val="6398416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eyebrow-8">
            <a:extLst xmlns:a="http://schemas.openxmlformats.org/drawingml/2006/main">
              <a:ext uri="{FF2B5EF4-FFF2-40B4-BE49-F238E27FC236}">
                <a16:creationId xmlns:a16="http://schemas.microsoft.com/office/drawing/2014/main" id="{E3BE7863-3C4B-40B2-924E-533958ED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PRODUCTION-STYLE GENAI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1E78FC11-1660-4D85-A710-4FE57F3E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Controls, not GenAI, decide what publishes</a:t>
            </a:r>
          </a:p>
        </p:txBody>
      </p:sp>
      <p:cxnSp>
        <p:nvCxnSpPr>
          <p:cNvPr id="135" name="title-rule-8"/>
          <p:cNvCxnSpPr/>
          <p:nvPr/>
        </p:nvCxn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</a:ln>
        </p:spPr>
      </p:cxnSp>
      <p:sp>
        <p:nvSpPr>
          <p:cNvPr id="4" name="footer-team-8">
            <a:extLst xmlns:a="http://schemas.openxmlformats.org/drawingml/2006/main">
              <a:ext uri="{FF2B5EF4-FFF2-40B4-BE49-F238E27FC236}">
                <a16:creationId xmlns:a16="http://schemas.microsoft.com/office/drawing/2014/main" id="{BBEA1D29-F9FB-423D-A9B0-AD48D74E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TEAM: Corporate Wallet Digital Twin | Christopher Koen | V2.1</a:t>
            </a:r>
          </a:p>
        </p:txBody>
      </p:sp>
      <p:sp>
        <p:nvSpPr>
          <p:cNvPr id="5" name="footer-data-8">
            <a:extLst xmlns:a="http://schemas.openxmlformats.org/drawingml/2006/main">
              <a:ext uri="{FF2B5EF4-FFF2-40B4-BE49-F238E27FC236}">
                <a16:creationId xmlns:a16="http://schemas.microsoft.com/office/drawing/2014/main" id="{0538EE51-4AB2-4E49-9787-5A672474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SYN BANK SIMULATION + PUBLIC E1 + REPRESENTATIVE BENCHMARKS</a:t>
            </a:r>
          </a:p>
        </p:txBody>
      </p:sp>
      <p:sp>
        <p:nvSpPr>
          <p:cNvPr id="6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00BAC427-4164-4DAB-808C-918E249A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139" name="s8-link-0"/>
          <p:cNvCxnSpPr/>
          <p:nvPr/>
        </p:nvCxnSpPr>
        <p:spPr>
          <a:xfrm xmlns:a="http://schemas.openxmlformats.org/drawingml/2006/main">
            <a:off x="1733550" y="2905125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DEE8"/>
            </a:solidFill>
            <a:prstDash val="solid"/>
          </a:ln>
        </p:spPr>
      </p:cxnSp>
      <p:cxnSp>
        <p:nvCxnSpPr>
          <p:cNvPr id="140" name="s8-link-1"/>
          <p:cNvCxnSpPr/>
          <p:nvPr/>
        </p:nvCxnSpPr>
        <p:spPr>
          <a:xfrm xmlns:a="http://schemas.openxmlformats.org/drawingml/2006/main">
            <a:off x="3876675" y="2905125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DEE8"/>
            </a:solidFill>
            <a:prstDash val="solid"/>
          </a:ln>
        </p:spPr>
      </p:cxnSp>
      <p:cxnSp>
        <p:nvCxnSpPr>
          <p:cNvPr id="141" name="s8-link-2"/>
          <p:cNvCxnSpPr/>
          <p:nvPr/>
        </p:nvCxnSpPr>
        <p:spPr>
          <a:xfrm xmlns:a="http://schemas.openxmlformats.org/drawingml/2006/main">
            <a:off x="6019800" y="2905125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DEE8"/>
            </a:solidFill>
            <a:prstDash val="solid"/>
          </a:ln>
        </p:spPr>
      </p:cxnSp>
      <p:cxnSp>
        <p:nvCxnSpPr>
          <p:cNvPr id="142" name="s8-link-3"/>
          <p:cNvCxnSpPr/>
          <p:nvPr/>
        </p:nvCxnSpPr>
        <p:spPr>
          <a:xfrm xmlns:a="http://schemas.openxmlformats.org/drawingml/2006/main">
            <a:off x="8162925" y="2905125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DEE8"/>
            </a:solidFill>
            <a:prstDash val="solid"/>
          </a:ln>
        </p:spPr>
      </p:cxnSp>
      <p:sp>
        <p:nvSpPr>
          <p:cNvPr id="11" name="s8-stage-0">
            <a:extLst xmlns:a="http://schemas.openxmlformats.org/drawingml/2006/main">
              <a:ext uri="{FF2B5EF4-FFF2-40B4-BE49-F238E27FC236}">
                <a16:creationId xmlns:a16="http://schemas.microsoft.com/office/drawing/2014/main" id="{B416DE64-DD74-44D4-9BC7-CBFD683F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809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s8-num-0">
            <a:extLst xmlns:a="http://schemas.openxmlformats.org/drawingml/2006/main">
              <a:ext uri="{FF2B5EF4-FFF2-40B4-BE49-F238E27FC236}">
                <a16:creationId xmlns:a16="http://schemas.microsoft.com/office/drawing/2014/main" id="{6C194FCB-9502-4B35-B4DF-7A85F277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s8-title-0">
            <a:extLst xmlns:a="http://schemas.openxmlformats.org/drawingml/2006/main">
              <a:ext uri="{FF2B5EF4-FFF2-40B4-BE49-F238E27FC236}">
                <a16:creationId xmlns:a16="http://schemas.microsoft.com/office/drawing/2014/main" id="{3B3A07E6-26DE-4767-A3E8-325CEF16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4" name="s8-copy-0">
            <a:extLst xmlns:a="http://schemas.openxmlformats.org/drawingml/2006/main">
              <a:ext uri="{FF2B5EF4-FFF2-40B4-BE49-F238E27FC236}">
                <a16:creationId xmlns:a16="http://schemas.microsoft.com/office/drawing/2014/main" id="{E3D7BFA8-ACA3-432A-8E07-9A443C06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Structured extraction candidate</a:t>
            </a:r>
          </a:p>
        </p:txBody>
      </p:sp>
      <p:sp>
        <p:nvSpPr>
          <p:cNvPr id="15" name="s8-stage-1">
            <a:extLst xmlns:a="http://schemas.openxmlformats.org/drawingml/2006/main">
              <a:ext uri="{FF2B5EF4-FFF2-40B4-BE49-F238E27FC236}">
                <a16:creationId xmlns:a16="http://schemas.microsoft.com/office/drawing/2014/main" id="{1394FB5E-59E8-4720-88A5-50B852C5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76450"/>
            <a:ext cx="1809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s8-num-1">
            <a:extLst xmlns:a="http://schemas.openxmlformats.org/drawingml/2006/main">
              <a:ext uri="{FF2B5EF4-FFF2-40B4-BE49-F238E27FC236}">
                <a16:creationId xmlns:a16="http://schemas.microsoft.com/office/drawing/2014/main" id="{D4330A39-507A-40B9-AF7F-88F08F9C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669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8B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8B8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s8-title-1">
            <a:extLst xmlns:a="http://schemas.openxmlformats.org/drawingml/2006/main">
              <a:ext uri="{FF2B5EF4-FFF2-40B4-BE49-F238E27FC236}">
                <a16:creationId xmlns:a16="http://schemas.microsoft.com/office/drawing/2014/main" id="{F0D21B9A-AE3B-44BA-A071-B6E957F5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860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8" name="s8-copy-1">
            <a:extLst xmlns:a="http://schemas.openxmlformats.org/drawingml/2006/main">
              <a:ext uri="{FF2B5EF4-FFF2-40B4-BE49-F238E27FC236}">
                <a16:creationId xmlns:a16="http://schemas.microsoft.com/office/drawing/2014/main" id="{32A2414F-1E71-4E74-A760-1EAACAC4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33725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Currency, unit, period, arithmetic</a:t>
            </a:r>
          </a:p>
        </p:txBody>
      </p:sp>
      <p:sp>
        <p:nvSpPr>
          <p:cNvPr id="19" name="s8-stage-2">
            <a:extLst xmlns:a="http://schemas.openxmlformats.org/drawingml/2006/main">
              <a:ext uri="{FF2B5EF4-FFF2-40B4-BE49-F238E27FC236}">
                <a16:creationId xmlns:a16="http://schemas.microsoft.com/office/drawing/2014/main" id="{597A8FA3-2C00-4037-B671-29499997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76450"/>
            <a:ext cx="1809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s8-num-2">
            <a:extLst xmlns:a="http://schemas.openxmlformats.org/drawingml/2006/main">
              <a:ext uri="{FF2B5EF4-FFF2-40B4-BE49-F238E27FC236}">
                <a16:creationId xmlns:a16="http://schemas.microsoft.com/office/drawing/2014/main" id="{00BD6BB1-DA50-458A-923A-3F380FE3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669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295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2951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s8-title-2">
            <a:extLst xmlns:a="http://schemas.openxmlformats.org/drawingml/2006/main">
              <a:ext uri="{FF2B5EF4-FFF2-40B4-BE49-F238E27FC236}">
                <a16:creationId xmlns:a16="http://schemas.microsoft.com/office/drawing/2014/main" id="{6E622450-1947-4807-A1DC-3BC641DF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2" name="s8-copy-2">
            <a:extLst xmlns:a="http://schemas.openxmlformats.org/drawingml/2006/main">
              <a:ext uri="{FF2B5EF4-FFF2-40B4-BE49-F238E27FC236}">
                <a16:creationId xmlns:a16="http://schemas.microsoft.com/office/drawing/2014/main" id="{0BE8D46E-DA8F-4D7B-832F-853B4C75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33725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Four-eyes evidence approval</a:t>
            </a:r>
          </a:p>
        </p:txBody>
      </p:sp>
      <p:sp>
        <p:nvSpPr>
          <p:cNvPr id="23" name="s8-stage-3">
            <a:extLst xmlns:a="http://schemas.openxmlformats.org/drawingml/2006/main">
              <a:ext uri="{FF2B5EF4-FFF2-40B4-BE49-F238E27FC236}">
                <a16:creationId xmlns:a16="http://schemas.microsoft.com/office/drawing/2014/main" id="{B5B82F11-5883-4E3E-BA84-174C42DC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076450"/>
            <a:ext cx="1809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s8-num-3">
            <a:extLst xmlns:a="http://schemas.openxmlformats.org/drawingml/2006/main">
              <a:ext uri="{FF2B5EF4-FFF2-40B4-BE49-F238E27FC236}">
                <a16:creationId xmlns:a16="http://schemas.microsoft.com/office/drawing/2014/main" id="{5187568C-3785-4E47-BB50-F192DE5C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669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658D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658D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s8-title-3">
            <a:extLst xmlns:a="http://schemas.openxmlformats.org/drawingml/2006/main">
              <a:ext uri="{FF2B5EF4-FFF2-40B4-BE49-F238E27FC236}">
                <a16:creationId xmlns:a16="http://schemas.microsoft.com/office/drawing/2014/main" id="{1AAB9F8C-74AA-4DA9-A510-7E96B786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860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Compile</a:t>
            </a:r>
          </a:p>
        </p:txBody>
      </p:sp>
      <p:sp>
        <p:nvSpPr>
          <p:cNvPr id="26" name="s8-copy-3">
            <a:extLst xmlns:a="http://schemas.openxmlformats.org/drawingml/2006/main">
              <a:ext uri="{FF2B5EF4-FFF2-40B4-BE49-F238E27FC236}">
                <a16:creationId xmlns:a16="http://schemas.microsoft.com/office/drawing/2014/main" id="{87B7DC59-F499-4386-ABD9-3F3E6D37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33725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Only approved claims and citations</a:t>
            </a:r>
          </a:p>
        </p:txBody>
      </p:sp>
      <p:sp>
        <p:nvSpPr>
          <p:cNvPr id="27" name="s8-stage-4">
            <a:extLst xmlns:a="http://schemas.openxmlformats.org/drawingml/2006/main">
              <a:ext uri="{FF2B5EF4-FFF2-40B4-BE49-F238E27FC236}">
                <a16:creationId xmlns:a16="http://schemas.microsoft.com/office/drawing/2014/main" id="{9E8D03A3-FE39-45A6-96E7-90958973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76450"/>
            <a:ext cx="1809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8" name="s8-num-4">
            <a:extLst xmlns:a="http://schemas.openxmlformats.org/drawingml/2006/main">
              <a:ext uri="{FF2B5EF4-FFF2-40B4-BE49-F238E27FC236}">
                <a16:creationId xmlns:a16="http://schemas.microsoft.com/office/drawing/2014/main" id="{8FE1E30B-C228-4670-8A6D-79B8CA2A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669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s8-title-4">
            <a:extLst xmlns:a="http://schemas.openxmlformats.org/drawingml/2006/main">
              <a:ext uri="{FF2B5EF4-FFF2-40B4-BE49-F238E27FC236}">
                <a16:creationId xmlns:a16="http://schemas.microsoft.com/office/drawing/2014/main" id="{72D2EE35-B185-4AE3-ABF9-CFBD4D87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Brief</a:t>
            </a:r>
          </a:p>
        </p:txBody>
      </p:sp>
      <p:sp>
        <p:nvSpPr>
          <p:cNvPr id="30" name="s8-copy-4">
            <a:extLst xmlns:a="http://schemas.openxmlformats.org/drawingml/2006/main">
              <a:ext uri="{FF2B5EF4-FFF2-40B4-BE49-F238E27FC236}">
                <a16:creationId xmlns:a16="http://schemas.microsoft.com/office/drawing/2014/main" id="{BB391761-1144-4411-BDA9-0C432035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33725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3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Grounded narrative or fallback</a:t>
            </a:r>
          </a:p>
        </p:txBody>
      </p:sp>
      <p:cxnSp>
        <p:nvCxnSpPr>
          <p:cNvPr id="163" name="s8-checks-rule"/>
          <p:cNvCxnSpPr/>
          <p:nvPr/>
        </p:nvCxnSpPr>
        <p:spPr>
          <a:xfrm xmlns:a="http://schemas.openxmlformats.org/drawingml/2006/main">
            <a:off x="609600" y="44386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63E5"/>
            </a:solidFill>
            <a:prstDash val="solid"/>
          </a:ln>
        </p:spPr>
      </p:cxnSp>
      <p:sp>
        <p:nvSpPr>
          <p:cNvPr id="32" name="s8-checks-value">
            <a:extLst xmlns:a="http://schemas.openxmlformats.org/drawingml/2006/main">
              <a:ext uri="{FF2B5EF4-FFF2-40B4-BE49-F238E27FC236}">
                <a16:creationId xmlns:a16="http://schemas.microsoft.com/office/drawing/2014/main" id="{70E78E76-AAAA-4364-A45E-37627D32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809</a:t>
            </a:r>
          </a:p>
        </p:txBody>
      </p:sp>
      <p:sp>
        <p:nvSpPr>
          <p:cNvPr id="33" name="s8-checks-label">
            <a:extLst xmlns:a="http://schemas.openxmlformats.org/drawingml/2006/main">
              <a:ext uri="{FF2B5EF4-FFF2-40B4-BE49-F238E27FC236}">
                <a16:creationId xmlns:a16="http://schemas.microsoft.com/office/drawing/2014/main" id="{D43164D6-AAC6-4717-AE21-05DF4994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governed checks</a:t>
            </a:r>
          </a:p>
        </p:txBody>
      </p:sp>
      <p:sp>
        <p:nvSpPr>
          <p:cNvPr id="34" name="s8-checks-note">
            <a:extLst xmlns:a="http://schemas.openxmlformats.org/drawingml/2006/main">
              <a:ext uri="{FF2B5EF4-FFF2-40B4-BE49-F238E27FC236}">
                <a16:creationId xmlns:a16="http://schemas.microsoft.com/office/drawing/2014/main" id="{AFE9E91B-2AE2-482D-943B-72FF8090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Schema, evidence, page grounding and stress</a:t>
            </a:r>
          </a:p>
        </p:txBody>
      </p:sp>
      <p:cxnSp>
        <p:nvCxnSpPr>
          <p:cNvPr id="167" name="s8-cases-rule"/>
          <p:cNvCxnSpPr/>
          <p:nvPr/>
        </p:nvCxnSpPr>
        <p:spPr>
          <a:xfrm xmlns:a="http://schemas.openxmlformats.org/drawingml/2006/main">
            <a:off x="3390900" y="44386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658D6"/>
            </a:solidFill>
            <a:prstDash val="solid"/>
          </a:ln>
        </p:spPr>
      </p:cxnSp>
      <p:sp>
        <p:nvSpPr>
          <p:cNvPr id="36" name="s8-cases-value">
            <a:extLst xmlns:a="http://schemas.openxmlformats.org/drawingml/2006/main">
              <a:ext uri="{FF2B5EF4-FFF2-40B4-BE49-F238E27FC236}">
                <a16:creationId xmlns:a16="http://schemas.microsoft.com/office/drawing/2014/main" id="{D8457571-ECA1-4B7D-8CD2-B558FE68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10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7" name="s8-cases-label">
            <a:extLst xmlns:a="http://schemas.openxmlformats.org/drawingml/2006/main">
              <a:ext uri="{FF2B5EF4-FFF2-40B4-BE49-F238E27FC236}">
                <a16:creationId xmlns:a16="http://schemas.microsoft.com/office/drawing/2014/main" id="{748A3F37-FD86-4FA3-9A58-041E12FE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43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golden-set cases</a:t>
            </a:r>
          </a:p>
        </p:txBody>
      </p:sp>
      <p:sp>
        <p:nvSpPr>
          <p:cNvPr id="38" name="s8-cases-note">
            <a:extLst xmlns:a="http://schemas.openxmlformats.org/drawingml/2006/main">
              <a:ext uri="{FF2B5EF4-FFF2-40B4-BE49-F238E27FC236}">
                <a16:creationId xmlns:a16="http://schemas.microsoft.com/office/drawing/2014/main" id="{C2D618FC-F541-4555-B033-A1FCD547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67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Sealed split protocol and adjudication structure</a:t>
            </a:r>
          </a:p>
        </p:txBody>
      </p:sp>
      <p:cxnSp>
        <p:nvCxnSpPr>
          <p:cNvPr id="171" name="s8-stress-rule"/>
          <p:cNvCxnSpPr/>
          <p:nvPr/>
        </p:nvCxnSpPr>
        <p:spPr>
          <a:xfrm xmlns:a="http://schemas.openxmlformats.org/drawingml/2006/main">
            <a:off x="6172200" y="44386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2951C"/>
            </a:solidFill>
            <a:prstDash val="solid"/>
          </a:ln>
        </p:spPr>
      </p:cxnSp>
      <p:sp>
        <p:nvSpPr>
          <p:cNvPr id="40" name="s8-stress-value">
            <a:extLst xmlns:a="http://schemas.openxmlformats.org/drawingml/2006/main">
              <a:ext uri="{FF2B5EF4-FFF2-40B4-BE49-F238E27FC236}">
                <a16:creationId xmlns:a16="http://schemas.microsoft.com/office/drawing/2014/main" id="{79CADD48-F427-48B1-B0B4-49A47835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0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640</a:t>
            </a:r>
          </a:p>
        </p:txBody>
      </p:sp>
      <p:sp>
        <p:nvSpPr>
          <p:cNvPr id="41" name="s8-stress-label">
            <a:extLst xmlns:a="http://schemas.openxmlformats.org/drawingml/2006/main">
              <a:ext uri="{FF2B5EF4-FFF2-40B4-BE49-F238E27FC236}">
                <a16:creationId xmlns:a16="http://schemas.microsoft.com/office/drawing/2014/main" id="{F2D8BF75-70A0-4B1F-9C7B-877980F8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43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stress cases</a:t>
            </a:r>
          </a:p>
        </p:txBody>
      </p:sp>
      <p:sp>
        <p:nvSpPr>
          <p:cNvPr id="42" name="s8-stress-note">
            <a:extLst xmlns:a="http://schemas.openxmlformats.org/drawingml/2006/main">
              <a:ext uri="{FF2B5EF4-FFF2-40B4-BE49-F238E27FC236}">
                <a16:creationId xmlns:a16="http://schemas.microsoft.com/office/drawing/2014/main" id="{36241C21-692C-41D5-85D7-49489827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67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Exact, future, injection and missing evidence</a:t>
            </a:r>
          </a:p>
        </p:txBody>
      </p:sp>
      <p:cxnSp>
        <p:nvCxnSpPr>
          <p:cNvPr id="175" name="s8-fail-rule"/>
          <p:cNvCxnSpPr/>
          <p:nvPr/>
        </p:nvCxnSpPr>
        <p:spPr>
          <a:xfrm xmlns:a="http://schemas.openxmlformats.org/drawingml/2006/main">
            <a:off x="8953500" y="44386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B83"/>
            </a:solidFill>
            <a:prstDash val="solid"/>
          </a:ln>
        </p:spPr>
      </p:cxnSp>
      <p:sp>
        <p:nvSpPr>
          <p:cNvPr id="44" name="s8-fail-value">
            <a:extLst xmlns:a="http://schemas.openxmlformats.org/drawingml/2006/main">
              <a:ext uri="{FF2B5EF4-FFF2-40B4-BE49-F238E27FC236}">
                <a16:creationId xmlns:a16="http://schemas.microsoft.com/office/drawing/2014/main" id="{4305D1F8-1CE9-46D0-B5FE-DC212B5E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10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5" name="s8-fail-label">
            <a:extLst xmlns:a="http://schemas.openxmlformats.org/drawingml/2006/main">
              <a:ext uri="{FF2B5EF4-FFF2-40B4-BE49-F238E27FC236}">
                <a16:creationId xmlns:a16="http://schemas.microsoft.com/office/drawing/2014/main" id="{7848A7C9-8815-41ED-B94B-44CBD55C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43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validator failures</a:t>
            </a:r>
          </a:p>
        </p:txBody>
      </p:sp>
      <p:sp>
        <p:nvSpPr>
          <p:cNvPr id="46" name="s8-fail-note">
            <a:extLst xmlns:a="http://schemas.openxmlformats.org/drawingml/2006/main">
              <a:ext uri="{FF2B5EF4-FFF2-40B4-BE49-F238E27FC236}">
                <a16:creationId xmlns:a16="http://schemas.microsoft.com/office/drawing/2014/main" id="{78AFFBBC-FFA9-4353-81AC-CDAEFADA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67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Deterministic scope; live-provider approval stays separate</a:t>
            </a:r>
          </a:p>
        </p:txBody>
      </p:sp>
    </p:spTree>
    <p:extLst>
      <p:ext uri="{BB962C8B-B14F-4D97-AF65-F5344CB8AC3E}">
        <p14:creationId xmlns:p14="http://schemas.microsoft.com/office/powerpoint/2010/main" val="4131191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10-kicker">
            <a:extLst xmlns:a="http://schemas.openxmlformats.org/drawingml/2006/main">
              <a:ext uri="{FF2B5EF4-FFF2-40B4-BE49-F238E27FC236}">
                <a16:creationId xmlns:a16="http://schemas.microsoft.com/office/drawing/2014/main" id="{71C6F305-F54F-4AD8-BBAD-77DCEDD0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THE DECISION</a:t>
            </a:r>
          </a:p>
        </p:txBody>
      </p:sp>
      <p:sp>
        <p:nvSpPr>
          <p:cNvPr id="2" name="s10-title">
            <a:extLst xmlns:a="http://schemas.openxmlformats.org/drawingml/2006/main">
              <a:ext uri="{FF2B5EF4-FFF2-40B4-BE49-F238E27FC236}">
                <a16:creationId xmlns:a16="http://schemas.microsoft.com/office/drawing/2014/main" id="{7E88C5EB-8E92-4D5E-8985-8FFB8046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 the strongest twins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under controlled evidence</a:t>
            </a:r>
          </a:p>
        </p:txBody>
      </p:sp>
      <p:sp>
        <p:nvSpPr>
          <p:cNvPr id="3" name="s10-subtitle">
            <a:extLst xmlns:a="http://schemas.openxmlformats.org/drawingml/2006/main">
              <a:ext uri="{FF2B5EF4-FFF2-40B4-BE49-F238E27FC236}">
                <a16:creationId xmlns:a16="http://schemas.microsoft.com/office/drawing/2014/main" id="{7EA1814A-A2FC-41B7-9193-3C7C4E8D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C7D5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7D5E8"/>
                </a:solidFill>
                <a:latin typeface="Arial"/>
                <a:ea typeface="Arial"/>
                <a:cs typeface="Arial"/>
              </a:rPr>
              <a:t>The hackathon solution is ready to demonstrate now. The next milestone converts governed scenarios into observed banker actions without overstating production readiness.</a:t>
            </a:r>
          </a:p>
        </p:txBody>
      </p:sp>
      <p:cxnSp>
        <p:nvCxnSpPr>
          <p:cNvPr id="46" name="s10-step-rule-0"/>
          <p:cNvCxnSpPr/>
          <p:nvPr/>
        </p:nvCxnSpPr>
        <p:spPr>
          <a:xfrm xmlns:a="http://schemas.openxmlformats.org/drawingml/2006/main">
            <a:off x="609600" y="4143375"/>
            <a:ext cx="31051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9A7F7"/>
            </a:solidFill>
            <a:prstDash val="solid"/>
          </a:ln>
        </p:spPr>
      </p:cxnSp>
      <p:sp>
        <p:nvSpPr>
          <p:cNvPr id="5" name="s10-step-num-0">
            <a:extLst xmlns:a="http://schemas.openxmlformats.org/drawingml/2006/main">
              <a:ext uri="{FF2B5EF4-FFF2-40B4-BE49-F238E27FC236}">
                <a16:creationId xmlns:a16="http://schemas.microsoft.com/office/drawing/2014/main" id="{238D21C1-DA30-41DA-9400-AF41A46B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10-step-title-0">
            <a:extLst xmlns:a="http://schemas.openxmlformats.org/drawingml/2006/main">
              <a:ext uri="{FF2B5EF4-FFF2-40B4-BE49-F238E27FC236}">
                <a16:creationId xmlns:a16="http://schemas.microsoft.com/office/drawing/2014/main" id="{C0F296F1-97E4-4C17-AD67-E972321D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 with evidence-rich clients</a:t>
            </a:r>
          </a:p>
        </p:txBody>
      </p:sp>
      <p:sp>
        <p:nvSpPr>
          <p:cNvPr id="7" name="s10-step-copy-0">
            <a:extLst xmlns:a="http://schemas.openxmlformats.org/drawingml/2006/main">
              <a:ext uri="{FF2B5EF4-FFF2-40B4-BE49-F238E27FC236}">
                <a16:creationId xmlns:a16="http://schemas.microsoft.com/office/drawing/2014/main" id="{38A49CAF-0448-42A4-A8E9-55790E10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1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1C9"/>
                </a:solidFill>
                <a:latin typeface="Arial"/>
                <a:ea typeface="Arial"/>
                <a:cs typeface="Arial"/>
              </a:rPr>
              <a:t>BHP, Glencore and Shoprite plus the highest-value E1-covered relationships.</a:t>
            </a:r>
          </a:p>
        </p:txBody>
      </p:sp>
      <p:cxnSp>
        <p:nvCxnSpPr>
          <p:cNvPr id="50" name="s10-step-rule-1"/>
          <p:cNvCxnSpPr/>
          <p:nvPr/>
        </p:nvCxnSpPr>
        <p:spPr>
          <a:xfrm xmlns:a="http://schemas.openxmlformats.org/drawingml/2006/main">
            <a:off x="4210050" y="4143375"/>
            <a:ext cx="31051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9A7F7"/>
            </a:solidFill>
            <a:prstDash val="solid"/>
          </a:ln>
        </p:spPr>
      </p:cxnSp>
      <p:sp>
        <p:nvSpPr>
          <p:cNvPr id="9" name="s10-step-num-1">
            <a:extLst xmlns:a="http://schemas.openxmlformats.org/drawingml/2006/main">
              <a:ext uri="{FF2B5EF4-FFF2-40B4-BE49-F238E27FC236}">
                <a16:creationId xmlns:a16="http://schemas.microsoft.com/office/drawing/2014/main" id="{32BBD710-970C-4D52-BBB5-B3163C1D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815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s10-step-title-1">
            <a:extLst xmlns:a="http://schemas.openxmlformats.org/drawingml/2006/main">
              <a:ext uri="{FF2B5EF4-FFF2-40B4-BE49-F238E27FC236}">
                <a16:creationId xmlns:a16="http://schemas.microsoft.com/office/drawing/2014/main" id="{908A8357-7431-4A00-AA58-99BF52E3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33925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 the recommendation</a:t>
            </a:r>
          </a:p>
        </p:txBody>
      </p:sp>
      <p:sp>
        <p:nvSpPr>
          <p:cNvPr id="11" name="s10-step-copy-1">
            <a:extLst xmlns:a="http://schemas.openxmlformats.org/drawingml/2006/main">
              <a:ext uri="{FF2B5EF4-FFF2-40B4-BE49-F238E27FC236}">
                <a16:creationId xmlns:a16="http://schemas.microsoft.com/office/drawing/2014/main" id="{F4604711-2998-4E86-B185-B8DA6E8A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3400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1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1C9"/>
                </a:solidFill>
                <a:latin typeface="Arial"/>
                <a:ea typeface="Arial"/>
                <a:cs typeface="Arial"/>
              </a:rPr>
              <a:t>Eligibility, exposure, evidence verification, RM action and outcome events.</a:t>
            </a:r>
          </a:p>
        </p:txBody>
      </p:sp>
      <p:cxnSp>
        <p:nvCxnSpPr>
          <p:cNvPr id="54" name="s10-step-rule-2"/>
          <p:cNvCxnSpPr/>
          <p:nvPr/>
        </p:nvCxnSpPr>
        <p:spPr>
          <a:xfrm xmlns:a="http://schemas.openxmlformats.org/drawingml/2006/main">
            <a:off x="7810500" y="4143375"/>
            <a:ext cx="31051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2951C"/>
            </a:solidFill>
            <a:prstDash val="solid"/>
          </a:ln>
        </p:spPr>
      </p:cxnSp>
      <p:sp>
        <p:nvSpPr>
          <p:cNvPr id="13" name="s10-step-num-2">
            <a:extLst xmlns:a="http://schemas.openxmlformats.org/drawingml/2006/main">
              <a:ext uri="{FF2B5EF4-FFF2-40B4-BE49-F238E27FC236}">
                <a16:creationId xmlns:a16="http://schemas.microsoft.com/office/drawing/2014/main" id="{74563C8A-6C34-4D43-975D-2FE18893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s10-step-title-2">
            <a:extLst xmlns:a="http://schemas.openxmlformats.org/drawingml/2006/main">
              <a:ext uri="{FF2B5EF4-FFF2-40B4-BE49-F238E27FC236}">
                <a16:creationId xmlns:a16="http://schemas.microsoft.com/office/drawing/2014/main" id="{79B21AD7-B082-4A09-9360-C4401FD3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Promote only after gates pass</a:t>
            </a:r>
          </a:p>
        </p:txBody>
      </p:sp>
      <p:sp>
        <p:nvSpPr>
          <p:cNvPr id="15" name="s10-step-copy-2">
            <a:extLst xmlns:a="http://schemas.openxmlformats.org/drawingml/2006/main">
              <a:ext uri="{FF2B5EF4-FFF2-40B4-BE49-F238E27FC236}">
                <a16:creationId xmlns:a16="http://schemas.microsoft.com/office/drawing/2014/main" id="{1742C1B2-A7D0-458D-B9BC-06BABC4F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1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1C9"/>
                </a:solidFill>
                <a:latin typeface="Arial"/>
                <a:ea typeface="Arial"/>
                <a:cs typeface="Arial"/>
              </a:rPr>
              <a:t>Real E3 calibration, approved economics, identity controls and causal evidence.</a:t>
            </a:r>
          </a:p>
        </p:txBody>
      </p:sp>
      <p:sp>
        <p:nvSpPr>
          <p:cNvPr id="16" name="s10-close">
            <a:extLst xmlns:a="http://schemas.openxmlformats.org/drawingml/2006/main">
              <a:ext uri="{FF2B5EF4-FFF2-40B4-BE49-F238E27FC236}">
                <a16:creationId xmlns:a16="http://schemas.microsoft.com/office/drawing/2014/main" id="{D790BBC6-FEEE-4DE7-8BE3-C35B4E61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transparent commercial hypothesis today. A measurable learning system tomorrow.</a:t>
            </a:r>
          </a:p>
        </p:txBody>
      </p:sp>
      <p:sp>
        <p:nvSpPr>
          <p:cNvPr id="17" name="s10-team">
            <a:extLst xmlns:a="http://schemas.openxmlformats.org/drawingml/2006/main">
              <a:ext uri="{FF2B5EF4-FFF2-40B4-BE49-F238E27FC236}">
                <a16:creationId xmlns:a16="http://schemas.microsoft.com/office/drawing/2014/main" id="{2DFEA64C-B21E-476D-9DB5-823C313B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43650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FA5B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FA5BD"/>
                </a:solidFill>
                <a:latin typeface="Arial"/>
                <a:ea typeface="Arial"/>
                <a:cs typeface="Arial"/>
              </a:rPr>
              <a:t>Corporate Wallet Digital Twin | Christopher Koen | V2.1</a:t>
            </a:r>
          </a:p>
        </p:txBody>
      </p:sp>
      <p:sp>
        <p:nvSpPr>
          <p:cNvPr id="18" name="s10-repository">
            <a:extLst xmlns:a="http://schemas.openxmlformats.org/drawingml/2006/main">
              <a:ext uri="{FF2B5EF4-FFF2-40B4-BE49-F238E27FC236}">
                <a16:creationId xmlns:a16="http://schemas.microsoft.com/office/drawing/2014/main" id="{9A8C3A41-0D53-41F9-943F-CE1F0E07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CODE: https://github.com/ChristopherJohannesKoen/corporate-wallet-digital-twin-hackathon-2026</a:t>
            </a:r>
          </a:p>
        </p:txBody>
      </p:sp>
    </p:spTree>
    <p:extLst>
      <p:ext uri="{BB962C8B-B14F-4D97-AF65-F5344CB8AC3E}">
        <p14:creationId xmlns:p14="http://schemas.microsoft.com/office/powerpoint/2010/main" val="1383894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2026-08-12T18:55:54.7920000Z</dcterms:created>
  <dcterms:modified xsi:type="dcterms:W3CDTF">2026-08-12T18:55:54.7920000Z</dcterms:modified>
</coreProperties>
</file>